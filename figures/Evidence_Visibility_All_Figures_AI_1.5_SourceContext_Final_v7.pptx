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svg" ContentType="image/svg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slides/charts/chart1.xml" ContentType="application/vnd.openxmlformats-officedocument.drawingml.chart+xml"/>
  <Override PartName="/ppt/slides/charts/chart2.xml" ContentType="application/vnd.openxmlformats-officedocument.drawingml.chart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slides/charts/chart3.xml" ContentType="application/vnd.openxmlformats-officedocument.drawingml.chart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280825d26764c95" /><Relationship Type="http://schemas.openxmlformats.org/officeDocument/2006/relationships/extended-properties" Target="/docProps/app.xml" Id="R06521ad0344b41d9" /><Relationship Type="http://schemas.openxmlformats.org/officeDocument/2006/relationships/officeDocument" Target="/ppt/presentation.xml" Id="R7d1a16592df948e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cc5d088ab7642c9"/>
  </p:sldMasterIdLst>
  <p:notesMasterIdLst>
    <p:notesMasterId xmlns:r="http://schemas.openxmlformats.org/officeDocument/2006/relationships" r:id="R821a4a3ce89d48ae"/>
  </p:notesMasterIdLst>
  <p:sldIdLst>
    <p:sldId xmlns:r="http://schemas.openxmlformats.org/officeDocument/2006/relationships" id="256" r:id="Raebc2b9e82b64b3b"/>
    <p:sldId xmlns:r="http://schemas.openxmlformats.org/officeDocument/2006/relationships" id="257" r:id="R633dda190fce46e6"/>
    <p:sldId xmlns:r="http://schemas.openxmlformats.org/officeDocument/2006/relationships" id="258" r:id="Rb58f081e30f24a96"/>
    <p:sldId xmlns:r="http://schemas.openxmlformats.org/officeDocument/2006/relationships" id="259" r:id="Rede5305700f34c09"/>
    <p:sldId xmlns:r="http://schemas.openxmlformats.org/officeDocument/2006/relationships" id="260" r:id="Rdc3bf6cce68845d6"/>
  </p:sldIdLst>
  <p:sldSz cx="12192000" cy="7620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a742ef57425460a" /><Relationship Type="http://schemas.openxmlformats.org/officeDocument/2006/relationships/slideMaster" Target="/ppt/slideMasters/slideMaster1.xml" Id="R4cc5d088ab7642c9" /><Relationship Type="http://schemas.openxmlformats.org/officeDocument/2006/relationships/notesMaster" Target="/ppt/notesMasters/notesMaster1.xml" Id="R821a4a3ce89d48ae" /><Relationship Type="http://schemas.openxmlformats.org/officeDocument/2006/relationships/presProps" Target="/ppt/presProps.xml" Id="R141c2f5627d64e64" /><Relationship Type="http://schemas.openxmlformats.org/officeDocument/2006/relationships/viewProps" Target="/ppt/viewProps.xml" Id="Ra030a382f15c4296" /><Relationship Type="http://schemas.openxmlformats.org/officeDocument/2006/relationships/tableStyles" Target="/ppt/tableStyles.xml" Id="Ra96a31a7e6bb4270" /><Relationship Type="http://schemas.openxmlformats.org/officeDocument/2006/relationships/slide" Target="/ppt/slides/slide1.xml" Id="Raebc2b9e82b64b3b" /><Relationship Type="http://schemas.openxmlformats.org/officeDocument/2006/relationships/slide" Target="/ppt/slides/slide2.xml" Id="R633dda190fce46e6" /><Relationship Type="http://schemas.openxmlformats.org/officeDocument/2006/relationships/slide" Target="/ppt/slides/slide3.xml" Id="Rb58f081e30f24a96" /><Relationship Type="http://schemas.openxmlformats.org/officeDocument/2006/relationships/slide" Target="/ppt/slides/slide4.xml" Id="Rede5305700f34c09" /><Relationship Type="http://schemas.openxmlformats.org/officeDocument/2006/relationships/slide" Target="/ppt/slides/slide5.xml" Id="Rdc3bf6cce68845d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c400a5017a9400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62459d9170b4a4a" /><Relationship Type="http://schemas.openxmlformats.org/officeDocument/2006/relationships/notesMaster" Target="/ppt/notesMasters/notesMaster1.xml" Id="R6422e2460a9147d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e81730c9d474a94" /><Relationship Type="http://schemas.openxmlformats.org/officeDocument/2006/relationships/notesMaster" Target="/ppt/notesMasters/notesMaster1.xml" Id="R821874076690462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d885103f0024e99" /><Relationship Type="http://schemas.openxmlformats.org/officeDocument/2006/relationships/notesMaster" Target="/ppt/notesMasters/notesMaster1.xml" Id="R159eb40f1d78499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8bed8b1f96d4a8f" /><Relationship Type="http://schemas.openxmlformats.org/officeDocument/2006/relationships/notesMaster" Target="/ppt/notesMasters/notesMaster1.xml" Id="Rd99df96749804ba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85690ad513a4950" /><Relationship Type="http://schemas.openxmlformats.org/officeDocument/2006/relationships/notesMaster" Target="/ppt/notesMasters/notesMaster1.xml" Id="R01dcea3ac80f4ed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Layout revision: diagonal cross-stage links replaced with orthogonal source-to-target connectors; all original text and user-adjusted font sizes preserved.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Figure 5. Traceable source-inspection cases. A shows recovery of distant QASPER evidence. B shows a residual SciFact omission. Gold labels remain offline-only.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bad5e4a3894474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bc8235724c74bd8" /><Relationship Type="http://schemas.openxmlformats.org/officeDocument/2006/relationships/slideLayout" Target="/ppt/slideLayouts/slideLayout1.xml" Id="R7f5f64a278ff42b2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f5f64a278ff42b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60d06dc78864e3c" /><Relationship Type="http://schemas.openxmlformats.org/officeDocument/2006/relationships/image" Target="/ppt/media/image.png" Id="R24ad42d02a2a4241" /><Relationship Type="http://schemas.openxmlformats.org/officeDocument/2006/relationships/image" Target="/ppt/media/image.svg" Id="Rbba66d29e5074c18" /><Relationship Type="http://schemas.openxmlformats.org/officeDocument/2006/relationships/image" Target="/ppt/media/image2.png" Id="R514f7cfd15c14c78" /><Relationship Type="http://schemas.openxmlformats.org/officeDocument/2006/relationships/image" Target="/ppt/media/image2.svg" Id="R5e2de42bafa94967" /><Relationship Type="http://schemas.openxmlformats.org/officeDocument/2006/relationships/image" Target="/ppt/media/image3.png" Id="R2ca103f17d234500" /><Relationship Type="http://schemas.openxmlformats.org/officeDocument/2006/relationships/image" Target="/ppt/media/image3.svg" Id="Ra4eb9b6385bd4325" /><Relationship Type="http://schemas.openxmlformats.org/officeDocument/2006/relationships/image" Target="/ppt/media/image4.png" Id="R3bdb394d7ef341ca" /><Relationship Type="http://schemas.openxmlformats.org/officeDocument/2006/relationships/image" Target="/ppt/media/image4.svg" Id="R1322374e039742a2" /><Relationship Type="http://schemas.openxmlformats.org/officeDocument/2006/relationships/image" Target="/ppt/media/image5.png" Id="Rc48b14f7e5124af7" /><Relationship Type="http://schemas.openxmlformats.org/officeDocument/2006/relationships/image" Target="/ppt/media/image5.svg" Id="R277e0dc1804d4c3b" /><Relationship Type="http://schemas.openxmlformats.org/officeDocument/2006/relationships/image" Target="/ppt/media/image6.png" Id="Rb5fd95d0cca747a1" /><Relationship Type="http://schemas.openxmlformats.org/officeDocument/2006/relationships/image" Target="/ppt/media/image6.svg" Id="Re8a303014f63492d" /><Relationship Type="http://schemas.openxmlformats.org/officeDocument/2006/relationships/image" Target="/ppt/media/image7.png" Id="R431c7807767a49c8" /><Relationship Type="http://schemas.openxmlformats.org/officeDocument/2006/relationships/image" Target="/ppt/media/image7.svg" Id="R134afb51f3ea46da" /><Relationship Type="http://schemas.openxmlformats.org/officeDocument/2006/relationships/image" Target="/ppt/media/image8.png" Id="Rbf60afb60ffe4224" /><Relationship Type="http://schemas.openxmlformats.org/officeDocument/2006/relationships/image" Target="/ppt/media/image8.svg" Id="Rd579c376c45f4c77" /><Relationship Type="http://schemas.openxmlformats.org/officeDocument/2006/relationships/image" Target="/ppt/media/image9.png" Id="R817b3f78dbb347eb" /><Relationship Type="http://schemas.openxmlformats.org/officeDocument/2006/relationships/image" Target="/ppt/media/image9.svg" Id="R294350b953fd465e" /><Relationship Type="http://schemas.openxmlformats.org/officeDocument/2006/relationships/image" Target="/ppt/media/image10.png" Id="R03ac005e95084d1e" /><Relationship Type="http://schemas.openxmlformats.org/officeDocument/2006/relationships/image" Target="/ppt/media/image10.svg" Id="R559c951f05a74447" /><Relationship Type="http://schemas.openxmlformats.org/officeDocument/2006/relationships/image" Target="/ppt/media/image11.png" Id="R6c690637bd384ea9" /><Relationship Type="http://schemas.openxmlformats.org/officeDocument/2006/relationships/image" Target="/ppt/media/image11.svg" Id="R1a6faeb1b7a84fa4" /><Relationship Type="http://schemas.openxmlformats.org/officeDocument/2006/relationships/image" Target="/ppt/media/image12.png" Id="R066f60878f7d4e65" /><Relationship Type="http://schemas.openxmlformats.org/officeDocument/2006/relationships/image" Target="/ppt/media/image12.svg" Id="Ra4e8c146c688497a" /><Relationship Type="http://schemas.openxmlformats.org/officeDocument/2006/relationships/image" Target="/ppt/media/image13.png" Id="R10c7ac10a12b484e" /><Relationship Type="http://schemas.openxmlformats.org/officeDocument/2006/relationships/image" Target="/ppt/media/image13.svg" Id="Ref49c6922eb344d6" /><Relationship Type="http://schemas.openxmlformats.org/officeDocument/2006/relationships/image" Target="/ppt/media/image14.png" Id="Rbbda77a8ef664570" /><Relationship Type="http://schemas.openxmlformats.org/officeDocument/2006/relationships/image" Target="/ppt/media/image14.svg" Id="R48090d8ef6a849b2" /><Relationship Type="http://schemas.openxmlformats.org/officeDocument/2006/relationships/image" Target="/ppt/media/image15.png" Id="R45089609852844e8" /><Relationship Type="http://schemas.openxmlformats.org/officeDocument/2006/relationships/image" Target="/ppt/media/image15.svg" Id="R63c9584502044df8" /><Relationship Type="http://schemas.openxmlformats.org/officeDocument/2006/relationships/image" Target="/ppt/media/image16.png" Id="Rd6a76d03210e42cf" /><Relationship Type="http://schemas.openxmlformats.org/officeDocument/2006/relationships/image" Target="/ppt/media/image16.svg" Id="R63bed18404384039" /><Relationship Type="http://schemas.openxmlformats.org/officeDocument/2006/relationships/image" Target="/ppt/media/image17.png" Id="R93b9919ba4c8499e" /><Relationship Type="http://schemas.openxmlformats.org/officeDocument/2006/relationships/image" Target="/ppt/media/image17.svg" Id="Rbea04a9419c74d2d" /><Relationship Type="http://schemas.openxmlformats.org/officeDocument/2006/relationships/image" Target="/ppt/media/image18.png" Id="Rfacbf9fef5bb4d43" /><Relationship Type="http://schemas.openxmlformats.org/officeDocument/2006/relationships/image" Target="/ppt/media/image18.svg" Id="Raf6cbdab3d2941db" /><Relationship Type="http://schemas.openxmlformats.org/officeDocument/2006/relationships/image" Target="/ppt/media/image19.png" Id="R6301af596e334f8a" /><Relationship Type="http://schemas.openxmlformats.org/officeDocument/2006/relationships/image" Target="/ppt/media/image19.svg" Id="R707f8814dbe44c43" /><Relationship Type="http://schemas.openxmlformats.org/officeDocument/2006/relationships/image" Target="/ppt/media/image20.png" Id="R79f91d0e2dfd473e" /><Relationship Type="http://schemas.openxmlformats.org/officeDocument/2006/relationships/image" Target="/ppt/media/image20.svg" Id="Rcd065681ac9c4e97" /><Relationship Type="http://schemas.openxmlformats.org/officeDocument/2006/relationships/image" Target="/ppt/media/image21.png" Id="R19e619ae0e2342ff" /><Relationship Type="http://schemas.openxmlformats.org/officeDocument/2006/relationships/image" Target="/ppt/media/image21.svg" Id="Ra57f9e81203f460c" /><Relationship Type="http://schemas.openxmlformats.org/officeDocument/2006/relationships/notesSlide" Target="/ppt/notesSlides/notesSlide1.xml" Id="Ra88cf40fa528433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68e6ff53d4340cb" /><Relationship Type="http://schemas.openxmlformats.org/officeDocument/2006/relationships/chart" Target="/ppt/slides/charts/chart1.xml" Id="R2dec416115fa4188" /><Relationship Type="http://schemas.openxmlformats.org/officeDocument/2006/relationships/chart" Target="/ppt/slides/charts/chart2.xml" Id="R5244d1e427e5445f" /><Relationship Type="http://schemas.openxmlformats.org/officeDocument/2006/relationships/notesSlide" Target="/ppt/notesSlides/notesSlide2.xml" Id="R85fbb03da9a7455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c58ebe0c7b944bd" /><Relationship Type="http://schemas.openxmlformats.org/officeDocument/2006/relationships/notesSlide" Target="/ppt/notesSlides/notesSlide3.xml" Id="R5621df28139649c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2004decc06047a3" /><Relationship Type="http://schemas.openxmlformats.org/officeDocument/2006/relationships/chart" Target="/ppt/slides/charts/chart3.xml" Id="R32cb9079b08a4e22" /><Relationship Type="http://schemas.openxmlformats.org/officeDocument/2006/relationships/notesSlide" Target="/ppt/notesSlides/notesSlide4.xml" Id="R3e40a64c0c5a42a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96abd5210d94178" /><Relationship Type="http://schemas.openxmlformats.org/officeDocument/2006/relationships/notesSlide" Target="/ppt/notesSlides/notesSlide5.xml" Id="R7aabdf0b84164a15" /></Relationships>
</file>

<file path=ppt/slides/charts/chart1.xml><?xml version="1.0" encoding="utf-8"?>
<c:chartSpace xmlns:mc="http://schemas.openxmlformats.org/markup-compatibility/2006" xmlns:c14="http://schemas.microsoft.com/office/drawing/2007/8/2/chart" xmlns:c="http://schemas.openxmlformats.org/drawingml/2006/chart" mc:Ignorable="c14">
  <c:lang val="en-US"/>
  <c:roundedCorners val="0"/>
  <mc:AlternateContent>
    <mc:Choice Requires="c14">
      <c14:style val="102"/>
    </mc:Choice>
    <mc:Fallback>
      <c:style val="2"/>
    </mc:Fallback>
  </mc:AlternateContent>
  <c:chart>
    <c:autoTitleDeleted val="1"/>
    <c:plotArea>
      <c:barChart>
        <c:barDir val="col"/>
        <c:grouping val="clustered"/>
        <c:varyColors val="0"/>
        <c:ser>
          <c:idx val="0"/>
          <c:order val="0"/>
          <c:tx>
            <c:strRef>
              <c:f>Lead-k</c:f>
              <c:strCache>
                <c:ptCount val="1"/>
                <c:pt idx="0">
                  <c:v>Lead-k</c:v>
                </c:pt>
              </c:strCache>
            </c:strRef>
          </c:tx>
          <c:spPr>
            <a:solidFill xmlns:a="http://schemas.openxmlformats.org/drawingml/2006/main">
              <a:srgbClr val="B9C2C9"/>
            </a:solidFill>
            <a:ln xmlns:a="http://schemas.openxmlformats.org/drawingml/2006/main" w="0">
              <a:solidFill>
                <a:srgbClr val="B9C2C9"/>
              </a:solidFill>
            </a:ln>
          </c:spPr>
          <c:dLbls>
            <c:delete val="1"/>
          </c:dLbls>
          <c:cat>
            <c:strRef>
              <c:f>'Chart Data'!$A$2:$A$3</c:f>
              <c:strCache>
                <c:ptCount val="2"/>
                <c:pt idx="0">
                  <c:v>2 paragraphs</c:v>
                </c:pt>
                <c:pt idx="1">
                  <c:v>4 paragraphs</c:v>
                </c:pt>
              </c:strCache>
            </c:strRef>
          </c:cat>
          <c:val>
            <c:numRef>
              <c:f>'Chart Data'!$B$2:$B$3</c:f>
              <c:numCache>
                <c:formatCode>0.000</c:formatCode>
                <c:ptCount val="2"/>
                <c:pt idx="0">
                  <c:v>0.128438355</c:v>
                </c:pt>
                <c:pt idx="1">
                  <c:v>0.222292014</c:v>
                </c:pt>
              </c:numCache>
            </c:numRef>
          </c:val>
        </c:ser>
        <c:ser>
          <c:idx val="1"/>
          <c:order val="1"/>
          <c:tx>
            <c:strRef>
              <c:f>Lexical</c:f>
              <c:strCache>
                <c:ptCount val="1"/>
                <c:pt idx="0">
                  <c:v>Lexical</c:v>
                </c:pt>
              </c:strCache>
            </c:strRef>
          </c:tx>
          <c:spPr>
            <a:solidFill xmlns:a="http://schemas.openxmlformats.org/drawingml/2006/main">
              <a:srgbClr val="777777"/>
            </a:solidFill>
            <a:ln xmlns:a="http://schemas.openxmlformats.org/drawingml/2006/main" w="0">
              <a:solidFill>
                <a:srgbClr val="777777"/>
              </a:solidFill>
            </a:ln>
          </c:spPr>
          <c:dLbls>
            <c:delete val="1"/>
          </c:dLbls>
          <c:cat>
            <c:strRef>
              <c:f>'Chart Data'!$C$2:$C$3</c:f>
              <c:strCache>
                <c:ptCount val="2"/>
                <c:pt idx="0">
                  <c:v>2 paragraphs</c:v>
                </c:pt>
                <c:pt idx="1">
                  <c:v>4 paragraphs</c:v>
                </c:pt>
              </c:strCache>
            </c:strRef>
          </c:cat>
          <c:val>
            <c:numRef>
              <c:f>'Chart Data'!$D$2:$D$3</c:f>
              <c:numCache>
                <c:formatCode>0.000</c:formatCode>
                <c:ptCount val="2"/>
                <c:pt idx="0">
                  <c:v>0.270007787</c:v>
                </c:pt>
                <c:pt idx="1">
                  <c:v>0.414446134</c:v>
                </c:pt>
              </c:numCache>
            </c:numRef>
          </c:val>
        </c:ser>
        <c:ser>
          <c:idx val="2"/>
          <c:order val="2"/>
          <c:tx>
            <c:strRef>
              <c:f>BM25</c:f>
              <c:strCache>
                <c:ptCount val="1"/>
                <c:pt idx="0">
                  <c:v>BM25</c:v>
                </c:pt>
              </c:strCache>
            </c:strRef>
          </c:tx>
          <c:spPr>
            <a:solidFill xmlns:a="http://schemas.openxmlformats.org/drawingml/2006/main">
              <a:srgbClr val="E69F00"/>
            </a:solidFill>
            <a:ln xmlns:a="http://schemas.openxmlformats.org/drawingml/2006/main" w="0">
              <a:solidFill>
                <a:srgbClr val="E69F00"/>
              </a:solidFill>
            </a:ln>
          </c:spPr>
          <c:dLbls>
            <c:delete val="1"/>
          </c:dLbls>
          <c:cat>
            <c:strRef>
              <c:f>'Chart Data'!$E$2:$E$3</c:f>
              <c:strCache>
                <c:ptCount val="2"/>
                <c:pt idx="0">
                  <c:v>2 paragraphs</c:v>
                </c:pt>
                <c:pt idx="1">
                  <c:v>4 paragraphs</c:v>
                </c:pt>
              </c:strCache>
            </c:strRef>
          </c:cat>
          <c:val>
            <c:numRef>
              <c:f>'Chart Data'!$F$2:$F$3</c:f>
              <c:numCache>
                <c:formatCode>0.000</c:formatCode>
                <c:ptCount val="2"/>
                <c:pt idx="0">
                  <c:v>0.285011587</c:v>
                </c:pt>
                <c:pt idx="1">
                  <c:v>0.39639841</c:v>
                </c:pt>
              </c:numCache>
            </c:numRef>
          </c:val>
        </c:ser>
        <c:ser>
          <c:idx val="3"/>
          <c:order val="3"/>
          <c:tx>
            <c:strRef>
              <c:f>MiniLM</c:f>
              <c:strCache>
                <c:ptCount val="1"/>
                <c:pt idx="0">
                  <c:v>MiniLM</c:v>
                </c:pt>
              </c:strCache>
            </c:strRef>
          </c:tx>
          <c:spPr>
            <a:solidFill xmlns:a="http://schemas.openxmlformats.org/drawingml/2006/main">
              <a:srgbClr val="009E73"/>
            </a:solidFill>
            <a:ln xmlns:a="http://schemas.openxmlformats.org/drawingml/2006/main" w="0">
              <a:solidFill>
                <a:srgbClr val="009E73"/>
              </a:solidFill>
            </a:ln>
          </c:spPr>
          <c:dLbls>
            <c:delete val="1"/>
          </c:dLbls>
          <c:cat>
            <c:strRef>
              <c:f>'Chart Data'!$G$2:$G$3</c:f>
              <c:strCache>
                <c:ptCount val="2"/>
                <c:pt idx="0">
                  <c:v>2 paragraphs</c:v>
                </c:pt>
                <c:pt idx="1">
                  <c:v>4 paragraphs</c:v>
                </c:pt>
              </c:strCache>
            </c:strRef>
          </c:cat>
          <c:val>
            <c:numRef>
              <c:f>'Chart Data'!$H$2:$H$3</c:f>
              <c:numCache>
                <c:formatCode>0.000</c:formatCode>
                <c:ptCount val="2"/>
                <c:pt idx="0">
                  <c:v>0.325987983</c:v>
                </c:pt>
                <c:pt idx="1">
                  <c:v>0.430005852</c:v>
                </c:pt>
              </c:numCache>
            </c:numRef>
          </c:val>
        </c:ser>
        <c:ser>
          <c:idx val="4"/>
          <c:order val="4"/>
          <c:tx>
            <c:strRef>
              <c:f>BGE</c:f>
              <c:strCache>
                <c:ptCount val="1"/>
                <c:pt idx="0">
                  <c:v>BGE</c:v>
                </c:pt>
              </c:strCache>
            </c:strRef>
          </c:tx>
          <c:spPr>
            <a:solidFill xmlns:a="http://schemas.openxmlformats.org/drawingml/2006/main">
              <a:srgbClr val="0072B2"/>
            </a:solidFill>
            <a:ln xmlns:a="http://schemas.openxmlformats.org/drawingml/2006/main" w="0">
              <a:solidFill>
                <a:srgbClr val="0072B2"/>
              </a:solidFill>
            </a:ln>
          </c:spPr>
          <c:dLbls>
            <c:dLbl>
              <c:idx val="0"/>
              <c:spPr>
                <a:noFill xmlns:a="http://schemas.openxmlformats.org/drawingml/2006/main"/>
                <a:ln xmlns:a="http://schemas.openxmlformats.org/drawingml/2006/main">
                  <a:noFill/>
                </a:ln>
              </c:spPr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350" b="0" i="0" u="none">
                      <a:solidFill>
                        <a:srgbClr val="1B2733"/>
                      </a:solidFill>
                      <a:latin typeface="Arial"/>
                      <a:ea typeface="Arial"/>
                      <a:cs typeface="Arial"/>
                    </a:defRPr>
                  </a:pPr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spPr>
                <a:noFill xmlns:a="http://schemas.openxmlformats.org/drawingml/2006/main"/>
                <a:ln xmlns:a="http://schemas.openxmlformats.org/drawingml/2006/main">
                  <a:noFill/>
                </a:ln>
              </c:spPr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350" b="0" i="0" u="none">
                      <a:solidFill>
                        <a:srgbClr val="1B2733"/>
                      </a:solidFill>
                      <a:latin typeface="Arial"/>
                      <a:ea typeface="Arial"/>
                      <a:cs typeface="Arial"/>
                    </a:defRPr>
                  </a:pPr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spPr>
              <a:noFill xmlns:a="http://schemas.openxmlformats.org/drawingml/2006/main"/>
              <a:ln xmlns:a="http://schemas.openxmlformats.org/drawingml/2006/main">
                <a:noFill/>
              </a:ln>
            </c:spPr>
            <c:txPr>
              <a:bodyPr xmlns:a="http://schemas.openxmlformats.org/drawingml/2006/main" anchorCtr="1"/>
              <a:lstStyle xmlns:a="http://schemas.openxmlformats.org/drawingml/2006/main"/>
              <a:p xmlns:a="http://schemas.openxmlformats.org/drawingml/2006/main">
                <a:pPr>
                  <a:defRPr sz="1000" b="0" i="0" u="none">
                    <a:solidFill>
                      <a:schemeClr val="tx1"/>
                    </a:solidFill>
                    <a:latin typeface="+mn-lt"/>
                    <a:ea typeface="+mn-lt"/>
                    <a:cs typeface="+mn-lt"/>
                  </a:defRPr>
                </a:pPr>
              </a:p>
            </c:txPr>
            <c:dLblPos val="outEnd"/>
            <c:showLegendKey val="1"/>
            <c:showVal val="1"/>
            <c:showCatName val="1"/>
            <c:showSerName val="1"/>
            <c:showPercent val="1"/>
            <c:showBubbleSize val="1"/>
            <c:showLeaderLines val="0"/>
          </c:dLbls>
          <c:cat>
            <c:strRef>
              <c:f>'Chart Data'!$I$2:$I$3</c:f>
              <c:strCache>
                <c:ptCount val="2"/>
                <c:pt idx="0">
                  <c:v>2 paragraphs</c:v>
                </c:pt>
                <c:pt idx="1">
                  <c:v>4 paragraphs</c:v>
                </c:pt>
              </c:strCache>
            </c:strRef>
          </c:cat>
          <c:val>
            <c:numRef>
              <c:f>'Chart Data'!$J$2:$J$3</c:f>
              <c:numCache>
                <c:formatCode>0.000</c:formatCode>
                <c:ptCount val="2"/>
                <c:pt idx="0">
                  <c:v>0.440604402</c:v>
                </c:pt>
                <c:pt idx="1">
                  <c:v>0.561697788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90"/>
        <c:overlap val="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xmlns:a="http://schemas.openxmlformats.org/drawingml/2006/main" w="9525">
            <a:solidFill>
              <a:srgbClr val="5B6872"/>
            </a:solidFill>
            <a:prstDash val="solid"/>
          </a:ln>
        </c:spPr>
        <c:txPr>
          <a:bodyPr xmlns:a="http://schemas.openxmlformats.org/drawingml/2006/main" rot="-60000000" spcFirstLastPara="0" vert="horz" wrap="square" anchor="ctr" anchorCtr="1"/>
          <a:lstStyle xmlns:a="http://schemas.openxmlformats.org/drawingml/2006/main"/>
          <a:p xmlns:a="http://schemas.openxmlformats.org/drawingml/2006/main">
            <a:pPr>
              <a:defRPr sz="1500" b="0" i="0" u="none">
                <a:solidFill>
                  <a:srgbClr val="1B2733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  <c:crosses val="autoZero"/>
        <c:lblOffset val="100"/>
      </c:catAx>
      <c:valAx>
        <c:axId val="48672768"/>
        <c:scaling>
          <c:orientation val="minMax"/>
          <c:max val="1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8E0E5"/>
              </a:solidFill>
              <a:prstDash val="solid"/>
            </a:ln>
          </c:spPr>
        </c:majorGridlines>
        <c:numFmt formatCode="0.000" sourceLinked="1"/>
        <c:majorTickMark val="none"/>
        <c:minorTickMark val="none"/>
        <c:tickLblPos val="nextTo"/>
        <c:spPr>
          <a:ln xmlns:a="http://schemas.openxmlformats.org/drawingml/2006/main" w="0">
            <a:noFill/>
            <a:prstDash val="solid"/>
          </a:ln>
        </c:spPr>
        <c:txPr>
          <a:bodyPr xmlns:a="http://schemas.openxmlformats.org/drawingml/2006/main" rot="-60000000" vert="horz" anchor="ctr" anchorCtr="1"/>
          <a:lstStyle xmlns:a="http://schemas.openxmlformats.org/drawingml/2006/main"/>
          <a:p xmlns:a="http://schemas.openxmlformats.org/drawingml/2006/main">
            <a:pPr>
              <a:defRPr sz="1350" b="0" i="0" u="none">
                <a:solidFill>
                  <a:srgbClr val="5B6872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es val="autoZero"/>
        <c:crossBetween val="between"/>
        <c:majorUnit val="0.2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legend>
      <c:legendPos val="b"/>
      <c:overlay val="0"/>
      <c:txPr>
        <a:bodyPr xmlns:a="http://schemas.openxmlformats.org/drawingml/2006/main" rot="0" vert="horz" anchor="ctr" anchorCtr="1"/>
        <a:lstStyle xmlns:a="http://schemas.openxmlformats.org/drawingml/2006/main"/>
        <a:p xmlns:a="http://schemas.openxmlformats.org/drawingml/2006/main">
          <a:pPr>
            <a:defRPr sz="1425" b="0" i="0" u="none">
              <a:solidFill>
                <a:srgbClr val="1B2733"/>
              </a:solidFill>
              <a:latin typeface="Arial"/>
              <a:ea typeface="Arial"/>
              <a:cs typeface="Arial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</c:chartSpace>
</file>

<file path=ppt/slides/charts/chart2.xml><?xml version="1.0" encoding="utf-8"?>
<c:chartSpace xmlns:mc="http://schemas.openxmlformats.org/markup-compatibility/2006" xmlns:c14="http://schemas.microsoft.com/office/drawing/2007/8/2/chart" xmlns:c="http://schemas.openxmlformats.org/drawingml/2006/chart" mc:Ignorable="c14">
  <c:lang val="en-US"/>
  <c:roundedCorners val="0"/>
  <mc:AlternateContent>
    <mc:Choice Requires="c14">
      <c14:style val="102"/>
    </mc:Choice>
    <mc:Fallback>
      <c:style val="2"/>
    </mc:Fallback>
  </mc:AlternateContent>
  <c:chart>
    <c:autoTitleDeleted val="1"/>
    <c:plotArea>
      <c:barChart>
        <c:barDir val="col"/>
        <c:grouping val="clustered"/>
        <c:varyColors val="0"/>
        <c:ser>
          <c:idx val="0"/>
          <c:order val="0"/>
          <c:tx>
            <c:strRef>
              <c:f>Lead-k</c:f>
              <c:strCache>
                <c:ptCount val="1"/>
                <c:pt idx="0">
                  <c:v>Lead-k</c:v>
                </c:pt>
              </c:strCache>
            </c:strRef>
          </c:tx>
          <c:spPr>
            <a:solidFill xmlns:a="http://schemas.openxmlformats.org/drawingml/2006/main">
              <a:srgbClr val="B9C2C9"/>
            </a:solidFill>
            <a:ln xmlns:a="http://schemas.openxmlformats.org/drawingml/2006/main" w="0">
              <a:solidFill>
                <a:srgbClr val="B9C2C9"/>
              </a:solidFill>
            </a:ln>
          </c:spPr>
          <c:dLbls>
            <c:delete val="1"/>
          </c:dLbls>
          <c:cat>
            <c:strRef>
              <c:f>'Chart Data'!$A$2:$A$3</c:f>
              <c:strCache>
                <c:ptCount val="2"/>
                <c:pt idx="0">
                  <c:v>2 sentences</c:v>
                </c:pt>
                <c:pt idx="1">
                  <c:v>4 sentences</c:v>
                </c:pt>
              </c:strCache>
            </c:strRef>
          </c:cat>
          <c:val>
            <c:numRef>
              <c:f>'Chart Data'!$B$2:$B$3</c:f>
              <c:numCache>
                <c:formatCode>0.000</c:formatCode>
                <c:ptCount val="2"/>
                <c:pt idx="0">
                  <c:v>0.0882643</c:v>
                </c:pt>
                <c:pt idx="1">
                  <c:v>0.278599606</c:v>
                </c:pt>
              </c:numCache>
            </c:numRef>
          </c:val>
        </c:ser>
        <c:ser>
          <c:idx val="1"/>
          <c:order val="1"/>
          <c:tx>
            <c:strRef>
              <c:f>Lexical</c:f>
              <c:strCache>
                <c:ptCount val="1"/>
                <c:pt idx="0">
                  <c:v>Lexical</c:v>
                </c:pt>
              </c:strCache>
            </c:strRef>
          </c:tx>
          <c:spPr>
            <a:solidFill xmlns:a="http://schemas.openxmlformats.org/drawingml/2006/main">
              <a:srgbClr val="777777"/>
            </a:solidFill>
            <a:ln xmlns:a="http://schemas.openxmlformats.org/drawingml/2006/main" w="0">
              <a:solidFill>
                <a:srgbClr val="777777"/>
              </a:solidFill>
            </a:ln>
          </c:spPr>
          <c:dLbls>
            <c:delete val="1"/>
          </c:dLbls>
          <c:cat>
            <c:strRef>
              <c:f>'Chart Data'!$C$2:$C$3</c:f>
              <c:strCache>
                <c:ptCount val="2"/>
                <c:pt idx="0">
                  <c:v>2 sentences</c:v>
                </c:pt>
                <c:pt idx="1">
                  <c:v>4 sentences</c:v>
                </c:pt>
              </c:strCache>
            </c:strRef>
          </c:cat>
          <c:val>
            <c:numRef>
              <c:f>'Chart Data'!$D$2:$D$3</c:f>
              <c:numCache>
                <c:formatCode>0.000</c:formatCode>
                <c:ptCount val="2"/>
                <c:pt idx="0">
                  <c:v>0.436883629</c:v>
                </c:pt>
                <c:pt idx="1">
                  <c:v>0.656311637</c:v>
                </c:pt>
              </c:numCache>
            </c:numRef>
          </c:val>
        </c:ser>
        <c:ser>
          <c:idx val="2"/>
          <c:order val="2"/>
          <c:tx>
            <c:strRef>
              <c:f>BM25</c:f>
              <c:strCache>
                <c:ptCount val="1"/>
                <c:pt idx="0">
                  <c:v>BM25</c:v>
                </c:pt>
              </c:strCache>
            </c:strRef>
          </c:tx>
          <c:spPr>
            <a:solidFill xmlns:a="http://schemas.openxmlformats.org/drawingml/2006/main">
              <a:srgbClr val="E69F00"/>
            </a:solidFill>
            <a:ln xmlns:a="http://schemas.openxmlformats.org/drawingml/2006/main" w="0">
              <a:solidFill>
                <a:srgbClr val="E69F00"/>
              </a:solidFill>
            </a:ln>
          </c:spPr>
          <c:dLbls>
            <c:delete val="1"/>
          </c:dLbls>
          <c:cat>
            <c:strRef>
              <c:f>'Chart Data'!$E$2:$E$3</c:f>
              <c:strCache>
                <c:ptCount val="2"/>
                <c:pt idx="0">
                  <c:v>2 sentences</c:v>
                </c:pt>
                <c:pt idx="1">
                  <c:v>4 sentences</c:v>
                </c:pt>
              </c:strCache>
            </c:strRef>
          </c:cat>
          <c:val>
            <c:numRef>
              <c:f>'Chart Data'!$F$2:$F$3</c:f>
              <c:numCache>
                <c:formatCode>0.000</c:formatCode>
                <c:ptCount val="2"/>
                <c:pt idx="0">
                  <c:v>0.460552268</c:v>
                </c:pt>
                <c:pt idx="1">
                  <c:v>0.66321499</c:v>
                </c:pt>
              </c:numCache>
            </c:numRef>
          </c:val>
        </c:ser>
        <c:ser>
          <c:idx val="3"/>
          <c:order val="3"/>
          <c:tx>
            <c:strRef>
              <c:f>MiniLM</c:f>
              <c:strCache>
                <c:ptCount val="1"/>
                <c:pt idx="0">
                  <c:v>MiniLM</c:v>
                </c:pt>
              </c:strCache>
            </c:strRef>
          </c:tx>
          <c:spPr>
            <a:solidFill xmlns:a="http://schemas.openxmlformats.org/drawingml/2006/main">
              <a:srgbClr val="009E73"/>
            </a:solidFill>
            <a:ln xmlns:a="http://schemas.openxmlformats.org/drawingml/2006/main" w="0">
              <a:solidFill>
                <a:srgbClr val="009E73"/>
              </a:solidFill>
            </a:ln>
          </c:spPr>
          <c:dLbls>
            <c:delete val="1"/>
          </c:dLbls>
          <c:cat>
            <c:strRef>
              <c:f>'Chart Data'!$G$2:$G$3</c:f>
              <c:strCache>
                <c:ptCount val="2"/>
                <c:pt idx="0">
                  <c:v>2 sentences</c:v>
                </c:pt>
                <c:pt idx="1">
                  <c:v>4 sentences</c:v>
                </c:pt>
              </c:strCache>
            </c:strRef>
          </c:cat>
          <c:val>
            <c:numRef>
              <c:f>'Chart Data'!$H$2:$H$3</c:f>
              <c:numCache>
                <c:formatCode>0.000</c:formatCode>
                <c:ptCount val="2"/>
                <c:pt idx="0">
                  <c:v>0.480769231</c:v>
                </c:pt>
                <c:pt idx="1">
                  <c:v>0.725345168</c:v>
                </c:pt>
              </c:numCache>
            </c:numRef>
          </c:val>
        </c:ser>
        <c:ser>
          <c:idx val="4"/>
          <c:order val="4"/>
          <c:tx>
            <c:strRef>
              <c:f>BGE</c:f>
              <c:strCache>
                <c:ptCount val="1"/>
                <c:pt idx="0">
                  <c:v>BGE</c:v>
                </c:pt>
              </c:strCache>
            </c:strRef>
          </c:tx>
          <c:spPr>
            <a:solidFill xmlns:a="http://schemas.openxmlformats.org/drawingml/2006/main">
              <a:srgbClr val="0072B2"/>
            </a:solidFill>
            <a:ln xmlns:a="http://schemas.openxmlformats.org/drawingml/2006/main" w="0">
              <a:solidFill>
                <a:srgbClr val="0072B2"/>
              </a:solidFill>
            </a:ln>
          </c:spPr>
          <c:dLbls>
            <c:dLbl>
              <c:idx val="0"/>
              <c:spPr>
                <a:noFill xmlns:a="http://schemas.openxmlformats.org/drawingml/2006/main"/>
                <a:ln xmlns:a="http://schemas.openxmlformats.org/drawingml/2006/main">
                  <a:noFill/>
                </a:ln>
              </c:spPr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350" b="0" i="0" u="none">
                      <a:solidFill>
                        <a:srgbClr val="1B2733"/>
                      </a:solidFill>
                      <a:latin typeface="Arial"/>
                      <a:ea typeface="Arial"/>
                      <a:cs typeface="Arial"/>
                    </a:defRPr>
                  </a:pPr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spPr>
                <a:noFill xmlns:a="http://schemas.openxmlformats.org/drawingml/2006/main"/>
                <a:ln xmlns:a="http://schemas.openxmlformats.org/drawingml/2006/main">
                  <a:noFill/>
                </a:ln>
              </c:spPr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350" b="0" i="0" u="none">
                      <a:solidFill>
                        <a:srgbClr val="1B2733"/>
                      </a:solidFill>
                      <a:latin typeface="Arial"/>
                      <a:ea typeface="Arial"/>
                      <a:cs typeface="Arial"/>
                    </a:defRPr>
                  </a:pPr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spPr>
              <a:noFill xmlns:a="http://schemas.openxmlformats.org/drawingml/2006/main"/>
              <a:ln xmlns:a="http://schemas.openxmlformats.org/drawingml/2006/main">
                <a:noFill/>
              </a:ln>
            </c:spPr>
            <c:txPr>
              <a:bodyPr xmlns:a="http://schemas.openxmlformats.org/drawingml/2006/main" anchorCtr="1"/>
              <a:lstStyle xmlns:a="http://schemas.openxmlformats.org/drawingml/2006/main"/>
              <a:p xmlns:a="http://schemas.openxmlformats.org/drawingml/2006/main">
                <a:pPr>
                  <a:defRPr sz="1000" b="0" i="0" u="none">
                    <a:solidFill>
                      <a:schemeClr val="tx1"/>
                    </a:solidFill>
                    <a:latin typeface="+mn-lt"/>
                    <a:ea typeface="+mn-lt"/>
                    <a:cs typeface="+mn-lt"/>
                  </a:defRPr>
                </a:pPr>
              </a:p>
            </c:txPr>
            <c:dLblPos val="outEnd"/>
            <c:showLegendKey val="1"/>
            <c:showVal val="1"/>
            <c:showCatName val="1"/>
            <c:showSerName val="1"/>
            <c:showPercent val="1"/>
            <c:showBubbleSize val="1"/>
            <c:showLeaderLines val="0"/>
          </c:dLbls>
          <c:cat>
            <c:strRef>
              <c:f>'Chart Data'!$I$2:$I$3</c:f>
              <c:strCache>
                <c:ptCount val="2"/>
                <c:pt idx="0">
                  <c:v>2 sentences</c:v>
                </c:pt>
                <c:pt idx="1">
                  <c:v>4 sentences</c:v>
                </c:pt>
              </c:strCache>
            </c:strRef>
          </c:cat>
          <c:val>
            <c:numRef>
              <c:f>'Chart Data'!$J$2:$J$3</c:f>
              <c:numCache>
                <c:formatCode>0.000</c:formatCode>
                <c:ptCount val="2"/>
                <c:pt idx="0">
                  <c:v>0.562623274</c:v>
                </c:pt>
                <c:pt idx="1">
                  <c:v>0.787968442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90"/>
        <c:overlap val="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xmlns:a="http://schemas.openxmlformats.org/drawingml/2006/main" w="9525">
            <a:solidFill>
              <a:srgbClr val="5B6872"/>
            </a:solidFill>
            <a:prstDash val="solid"/>
          </a:ln>
        </c:spPr>
        <c:txPr>
          <a:bodyPr xmlns:a="http://schemas.openxmlformats.org/drawingml/2006/main" rot="-60000000" spcFirstLastPara="0" vert="horz" wrap="square" anchor="ctr" anchorCtr="1"/>
          <a:lstStyle xmlns:a="http://schemas.openxmlformats.org/drawingml/2006/main"/>
          <a:p xmlns:a="http://schemas.openxmlformats.org/drawingml/2006/main">
            <a:pPr>
              <a:defRPr sz="1500" b="0" i="0" u="none">
                <a:solidFill>
                  <a:srgbClr val="1B2733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  <c:crosses val="autoZero"/>
        <c:lblOffset val="100"/>
      </c:catAx>
      <c:valAx>
        <c:axId val="48672768"/>
        <c:scaling>
          <c:orientation val="minMax"/>
          <c:max val="1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8E0E5"/>
              </a:solidFill>
              <a:prstDash val="solid"/>
            </a:ln>
          </c:spPr>
        </c:majorGridlines>
        <c:numFmt formatCode="0.000" sourceLinked="1"/>
        <c:majorTickMark val="none"/>
        <c:minorTickMark val="none"/>
        <c:tickLblPos val="nextTo"/>
        <c:spPr>
          <a:ln xmlns:a="http://schemas.openxmlformats.org/drawingml/2006/main" w="0">
            <a:noFill/>
            <a:prstDash val="solid"/>
          </a:ln>
        </c:spPr>
        <c:txPr>
          <a:bodyPr xmlns:a="http://schemas.openxmlformats.org/drawingml/2006/main" rot="-60000000" vert="horz" anchor="ctr" anchorCtr="1"/>
          <a:lstStyle xmlns:a="http://schemas.openxmlformats.org/drawingml/2006/main"/>
          <a:p xmlns:a="http://schemas.openxmlformats.org/drawingml/2006/main">
            <a:pPr>
              <a:defRPr sz="1350" b="0" i="0" u="none">
                <a:solidFill>
                  <a:srgbClr val="5B6872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es val="autoZero"/>
        <c:crossBetween val="between"/>
        <c:majorUnit val="0.2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legend>
      <c:legendPos val="b"/>
      <c:overlay val="0"/>
      <c:txPr>
        <a:bodyPr xmlns:a="http://schemas.openxmlformats.org/drawingml/2006/main" rot="0" vert="horz" anchor="ctr" anchorCtr="1"/>
        <a:lstStyle xmlns:a="http://schemas.openxmlformats.org/drawingml/2006/main"/>
        <a:p xmlns:a="http://schemas.openxmlformats.org/drawingml/2006/main">
          <a:pPr>
            <a:defRPr sz="1425" b="0" i="0" u="none">
              <a:solidFill>
                <a:srgbClr val="1B2733"/>
              </a:solidFill>
              <a:latin typeface="Arial"/>
              <a:ea typeface="Arial"/>
              <a:cs typeface="Arial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</c:chartSpace>
</file>

<file path=ppt/slides/charts/chart3.xml><?xml version="1.0" encoding="utf-8"?>
<c:chartSpace xmlns:mc="http://schemas.openxmlformats.org/markup-compatibility/2006" xmlns:c14="http://schemas.microsoft.com/office/drawing/2007/8/2/chart" xmlns:c="http://schemas.openxmlformats.org/drawingml/2006/chart" mc:Ignorable="c14">
  <c:lang val="en-US"/>
  <c:roundedCorners val="0"/>
  <mc:AlternateContent>
    <mc:Choice Requires="c14">
      <c14:style val="102"/>
    </mc:Choice>
    <mc:Fallback>
      <c:style val="2"/>
    </mc:Fallback>
  </mc:AlternateContent>
  <c:chart>
    <c:autoTitleDeleted val="1"/>
    <c:plotArea>
      <c:barChart>
        <c:barDir val="col"/>
        <c:grouping val="clustered"/>
        <c:varyColors val="0"/>
        <c:ser>
          <c:idx val="0"/>
          <c:order val="0"/>
          <c:tx>
            <c:strRef>
              <c:f>Lexical</c:f>
              <c:strCache>
                <c:ptCount val="1"/>
                <c:pt idx="0">
                  <c:v>Lexical</c:v>
                </c:pt>
              </c:strCache>
            </c:strRef>
          </c:tx>
          <c:spPr>
            <a:solidFill xmlns:a="http://schemas.openxmlformats.org/drawingml/2006/main">
              <a:srgbClr val="777777"/>
            </a:solidFill>
            <a:ln xmlns:a="http://schemas.openxmlformats.org/drawingml/2006/main" w="0">
              <a:solidFill>
                <a:srgbClr val="777777"/>
              </a:solidFill>
            </a:ln>
          </c:spPr>
          <c:dLbls>
            <c:delete val="1"/>
          </c:dLbls>
          <c:cat>
            <c:strRef>
              <c:f>'Chart Data'!$A$2:$A$3</c:f>
              <c:strCache>
                <c:ptCount val="2"/>
                <c:pt idx="0">
                  <c:v>2 sentences</c:v>
                </c:pt>
                <c:pt idx="1">
                  <c:v>4 sentences</c:v>
                </c:pt>
              </c:strCache>
            </c:strRef>
          </c:cat>
          <c:val>
            <c:numRef>
              <c:f>'Chart Data'!$B$2:$B$3</c:f>
              <c:numCache>
                <c:formatCode>0.0%</c:formatCode>
                <c:ptCount val="2"/>
                <c:pt idx="0">
                  <c:v>0.420118343</c:v>
                </c:pt>
                <c:pt idx="1">
                  <c:v>0.636094675</c:v>
                </c:pt>
              </c:numCache>
            </c:numRef>
          </c:val>
        </c:ser>
        <c:ser>
          <c:idx val="1"/>
          <c:order val="1"/>
          <c:tx>
            <c:strRef>
              <c:f>BM25</c:f>
              <c:strCache>
                <c:ptCount val="1"/>
                <c:pt idx="0">
                  <c:v>BM25</c:v>
                </c:pt>
              </c:strCache>
            </c:strRef>
          </c:tx>
          <c:spPr>
            <a:solidFill xmlns:a="http://schemas.openxmlformats.org/drawingml/2006/main">
              <a:srgbClr val="E69F00"/>
            </a:solidFill>
            <a:ln xmlns:a="http://schemas.openxmlformats.org/drawingml/2006/main" w="0">
              <a:solidFill>
                <a:srgbClr val="E69F00"/>
              </a:solidFill>
            </a:ln>
          </c:spPr>
          <c:dLbls>
            <c:delete val="1"/>
          </c:dLbls>
          <c:cat>
            <c:strRef>
              <c:f>'Chart Data'!$C$2:$C$3</c:f>
              <c:strCache>
                <c:ptCount val="2"/>
                <c:pt idx="0">
                  <c:v>2 sentences</c:v>
                </c:pt>
                <c:pt idx="1">
                  <c:v>4 sentences</c:v>
                </c:pt>
              </c:strCache>
            </c:strRef>
          </c:cat>
          <c:val>
            <c:numRef>
              <c:f>'Chart Data'!$D$2:$D$3</c:f>
              <c:numCache>
                <c:formatCode>0.0%</c:formatCode>
                <c:ptCount val="2"/>
                <c:pt idx="0">
                  <c:v>0.443786982</c:v>
                </c:pt>
                <c:pt idx="1">
                  <c:v>0.642011834</c:v>
                </c:pt>
              </c:numCache>
            </c:numRef>
          </c:val>
        </c:ser>
        <c:ser>
          <c:idx val="2"/>
          <c:order val="2"/>
          <c:tx>
            <c:strRef>
              <c:f>MiniLM</c:f>
              <c:strCache>
                <c:ptCount val="1"/>
                <c:pt idx="0">
                  <c:v>MiniLM</c:v>
                </c:pt>
              </c:strCache>
            </c:strRef>
          </c:tx>
          <c:spPr>
            <a:solidFill xmlns:a="http://schemas.openxmlformats.org/drawingml/2006/main">
              <a:srgbClr val="009E73"/>
            </a:solidFill>
            <a:ln xmlns:a="http://schemas.openxmlformats.org/drawingml/2006/main" w="0">
              <a:solidFill>
                <a:srgbClr val="009E73"/>
              </a:solidFill>
            </a:ln>
          </c:spPr>
          <c:dLbls>
            <c:delete val="1"/>
          </c:dLbls>
          <c:cat>
            <c:strRef>
              <c:f>'Chart Data'!$E$2:$E$3</c:f>
              <c:strCache>
                <c:ptCount val="2"/>
                <c:pt idx="0">
                  <c:v>2 sentences</c:v>
                </c:pt>
                <c:pt idx="1">
                  <c:v>4 sentences</c:v>
                </c:pt>
              </c:strCache>
            </c:strRef>
          </c:cat>
          <c:val>
            <c:numRef>
              <c:f>'Chart Data'!$F$2:$F$3</c:f>
              <c:numCache>
                <c:formatCode>0.0%</c:formatCode>
                <c:ptCount val="2"/>
                <c:pt idx="0">
                  <c:v>0.461538462</c:v>
                </c:pt>
                <c:pt idx="1">
                  <c:v>0.704142012</c:v>
                </c:pt>
              </c:numCache>
            </c:numRef>
          </c:val>
        </c:ser>
        <c:ser>
          <c:idx val="3"/>
          <c:order val="3"/>
          <c:tx>
            <c:strRef>
              <c:f>BGE</c:f>
              <c:strCache>
                <c:ptCount val="1"/>
                <c:pt idx="0">
                  <c:v>BGE</c:v>
                </c:pt>
              </c:strCache>
            </c:strRef>
          </c:tx>
          <c:spPr>
            <a:solidFill xmlns:a="http://schemas.openxmlformats.org/drawingml/2006/main">
              <a:srgbClr val="0072B2"/>
            </a:solidFill>
            <a:ln xmlns:a="http://schemas.openxmlformats.org/drawingml/2006/main" w="0">
              <a:solidFill>
                <a:srgbClr val="0072B2"/>
              </a:solidFill>
            </a:ln>
          </c:spPr>
          <c:dLbls>
            <c:dLbl>
              <c:idx val="0"/>
              <c:spPr>
                <a:noFill xmlns:a="http://schemas.openxmlformats.org/drawingml/2006/main"/>
                <a:ln xmlns:a="http://schemas.openxmlformats.org/drawingml/2006/main">
                  <a:noFill/>
                </a:ln>
              </c:spPr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350" b="0" i="0" u="none">
                      <a:solidFill>
                        <a:srgbClr val="1B2733"/>
                      </a:solidFill>
                      <a:latin typeface="Arial"/>
                      <a:ea typeface="Arial"/>
                      <a:cs typeface="Arial"/>
                    </a:defRPr>
                  </a:pPr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spPr>
                <a:noFill xmlns:a="http://schemas.openxmlformats.org/drawingml/2006/main"/>
                <a:ln xmlns:a="http://schemas.openxmlformats.org/drawingml/2006/main">
                  <a:noFill/>
                </a:ln>
              </c:spPr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350" b="0" i="0" u="none">
                      <a:solidFill>
                        <a:srgbClr val="1B2733"/>
                      </a:solidFill>
                      <a:latin typeface="Arial"/>
                      <a:ea typeface="Arial"/>
                      <a:cs typeface="Arial"/>
                    </a:defRPr>
                  </a:pPr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spPr>
              <a:noFill xmlns:a="http://schemas.openxmlformats.org/drawingml/2006/main"/>
              <a:ln xmlns:a="http://schemas.openxmlformats.org/drawingml/2006/main">
                <a:noFill/>
              </a:ln>
            </c:spPr>
            <c:txPr>
              <a:bodyPr xmlns:a="http://schemas.openxmlformats.org/drawingml/2006/main" anchorCtr="1"/>
              <a:lstStyle xmlns:a="http://schemas.openxmlformats.org/drawingml/2006/main"/>
              <a:p xmlns:a="http://schemas.openxmlformats.org/drawingml/2006/main">
                <a:pPr>
                  <a:defRPr sz="1000" b="0" i="0" u="none">
                    <a:solidFill>
                      <a:schemeClr val="tx1"/>
                    </a:solidFill>
                    <a:latin typeface="+mn-lt"/>
                    <a:ea typeface="+mn-lt"/>
                    <a:cs typeface="+mn-lt"/>
                  </a:defRPr>
                </a:pPr>
              </a:p>
            </c:txPr>
            <c:dLblPos val="outEnd"/>
            <c:showLegendKey val="1"/>
            <c:showVal val="1"/>
            <c:showCatName val="1"/>
            <c:showSerName val="1"/>
            <c:showPercent val="1"/>
            <c:showBubbleSize val="1"/>
            <c:showLeaderLines val="0"/>
          </c:dLbls>
          <c:cat>
            <c:strRef>
              <c:f>'Chart Data'!$G$2:$G$3</c:f>
              <c:strCache>
                <c:ptCount val="2"/>
                <c:pt idx="0">
                  <c:v>2 sentences</c:v>
                </c:pt>
                <c:pt idx="1">
                  <c:v>4 sentences</c:v>
                </c:pt>
              </c:strCache>
            </c:strRef>
          </c:cat>
          <c:val>
            <c:numRef>
              <c:f>'Chart Data'!$H$2:$H$3</c:f>
              <c:numCache>
                <c:formatCode>0.0%</c:formatCode>
                <c:ptCount val="2"/>
                <c:pt idx="0">
                  <c:v>0.538461538</c:v>
                </c:pt>
                <c:pt idx="1">
                  <c:v>0.772189349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90"/>
        <c:overlap val="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xmlns:a="http://schemas.openxmlformats.org/drawingml/2006/main" w="9525">
            <a:solidFill>
              <a:srgbClr val="5B6872"/>
            </a:solidFill>
            <a:prstDash val="solid"/>
          </a:ln>
        </c:spPr>
        <c:txPr>
          <a:bodyPr xmlns:a="http://schemas.openxmlformats.org/drawingml/2006/main" rot="-60000000" spcFirstLastPara="0" vert="horz" wrap="square" anchor="ctr" anchorCtr="1"/>
          <a:lstStyle xmlns:a="http://schemas.openxmlformats.org/drawingml/2006/main"/>
          <a:p xmlns:a="http://schemas.openxmlformats.org/drawingml/2006/main">
            <a:pPr>
              <a:defRPr sz="1500" b="0" i="0" u="none">
                <a:solidFill>
                  <a:srgbClr val="1B2733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  <c:crosses val="autoZero"/>
        <c:lblOffset val="100"/>
      </c:catAx>
      <c:valAx>
        <c:axId val="48672768"/>
        <c:scaling>
          <c:orientation val="minMax"/>
          <c:max val="1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8E0E5"/>
              </a:solidFill>
              <a:prstDash val="solid"/>
            </a:ln>
          </c:spPr>
        </c:majorGridlines>
        <c:numFmt formatCode="0.0%" sourceLinked="1"/>
        <c:majorTickMark val="none"/>
        <c:minorTickMark val="none"/>
        <c:tickLblPos val="nextTo"/>
        <c:spPr>
          <a:ln xmlns:a="http://schemas.openxmlformats.org/drawingml/2006/main" w="0">
            <a:noFill/>
            <a:prstDash val="solid"/>
          </a:ln>
        </c:spPr>
        <c:txPr>
          <a:bodyPr xmlns:a="http://schemas.openxmlformats.org/drawingml/2006/main" rot="-60000000" vert="horz" anchor="ctr" anchorCtr="1"/>
          <a:lstStyle xmlns:a="http://schemas.openxmlformats.org/drawingml/2006/main"/>
          <a:p xmlns:a="http://schemas.openxmlformats.org/drawingml/2006/main">
            <a:pPr>
              <a:defRPr sz="1350" b="0" i="0" u="none">
                <a:solidFill>
                  <a:srgbClr val="5B6872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es val="autoZero"/>
        <c:crossBetween val="between"/>
        <c:majorUnit val="0.2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legend>
      <c:legendPos val="b"/>
      <c:overlay val="0"/>
      <c:txPr>
        <a:bodyPr xmlns:a="http://schemas.openxmlformats.org/drawingml/2006/main" rot="0" vert="horz" anchor="ctr" anchorCtr="1"/>
        <a:lstStyle xmlns:a="http://schemas.openxmlformats.org/drawingml/2006/main"/>
        <a:p xmlns:a="http://schemas.openxmlformats.org/drawingml/2006/main">
          <a:pPr>
            <a:defRPr sz="1425" b="0" i="0" u="none">
              <a:solidFill>
                <a:srgbClr val="1B2733"/>
              </a:solidFill>
              <a:latin typeface="Arial"/>
              <a:ea typeface="Arial"/>
              <a:cs typeface="Arial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8" name="Fixed-budget evidence visibili">
            <a:extLst xmlns:a="http://schemas.openxmlformats.org/drawingml/2006/main">
              <a:ext uri="{FF2B5EF4-FFF2-40B4-BE49-F238E27FC236}">
                <a16:creationId xmlns:a16="http://schemas.microsoft.com/office/drawing/2014/main" id="{B4A9CCD9-937D-412D-A3D7-182371A40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66700"/>
            <a:ext cx="11353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76200" tIns="38100" rIns="76200" bIns="381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75" b="1">
                <a:solidFill>
                  <a:srgbClr val="1B2733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1B2733"/>
                </a:solidFill>
                <a:latin typeface="Arial"/>
                <a:ea typeface="Arial"/>
                <a:cs typeface="Arial"/>
              </a:rPr>
              <a:t>Fixed-budget evidence visibility audit and Evidence Watchdog</a:t>
            </a:r>
            <a:endParaRPr sz="2475" b="1">
              <a:solidFill>
                <a:srgbClr val="1B2733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" name="Known-document selection with ">
            <a:extLst xmlns:a="http://schemas.openxmlformats.org/drawingml/2006/main">
              <a:ext uri="{FF2B5EF4-FFF2-40B4-BE49-F238E27FC236}">
                <a16:creationId xmlns:a16="http://schemas.microsoft.com/office/drawing/2014/main" id="{22100324-311F-401E-8006-D82A3F514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742950"/>
            <a:ext cx="11315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76200" tIns="38100" rIns="76200" bIns="381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5B6872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B6872"/>
                </a:solidFill>
                <a:latin typeface="Arial"/>
                <a:ea typeface="Arial"/>
                <a:cs typeface="Arial"/>
              </a:rPr>
              <a:t>Known-document selection with separate online inspection and gold-based offline evaluation</a:t>
            </a:r>
            <a:endParaRPr sz="1425" b="0">
              <a:solidFill>
                <a:srgbClr val="5B6872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" name="任意多边形 2">
            <a:extLst xmlns:a="http://schemas.openxmlformats.org/drawingml/2006/main">
              <a:ext uri="{FF2B5EF4-FFF2-40B4-BE49-F238E27FC236}">
                <a16:creationId xmlns:a16="http://schemas.microsoft.com/office/drawing/2014/main" id="{556A0155-9D36-42C7-B65B-37A22FB63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1200150"/>
            <a:ext cx="11315700" cy="9525"/>
          </a:xfrm>
          <a:custGeom xmlns:a="http://schemas.openxmlformats.org/drawingml/2006/main">
            <a:pathLst>
              <a:path w="11315700" h="9525">
                <a:moveTo>
                  <a:pt x="0" y="0"/>
                </a:moveTo>
                <a:lnTo>
                  <a:pt x="11315700" y="9525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1B2733"/>
            </a:solidFill>
            <a:prstDash val="solid"/>
          </a:ln>
        </p:spPr>
      </p:sp>
      <p:sp>
        <p:nvSpPr>
          <p:cNvPr id="4" name="圆角矩形 3">
            <a:extLst xmlns:a="http://schemas.openxmlformats.org/drawingml/2006/main">
              <a:ext uri="{FF2B5EF4-FFF2-40B4-BE49-F238E27FC236}">
                <a16:creationId xmlns:a16="http://schemas.microsoft.com/office/drawing/2014/main" id="{2A5902AF-6684-4B99-A5B3-191C6C844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1428750"/>
            <a:ext cx="3524250" cy="5306695"/>
          </a:xfrm>
          <a:prstGeom xmlns:a="http://schemas.openxmlformats.org/drawingml/2006/main" prst="roundRect">
            <a:avLst>
              <a:gd name="adj" fmla="val 2162"/>
            </a:avLst>
          </a:prstGeom>
          <a:solidFill xmlns:a="http://schemas.openxmlformats.org/drawingml/2006/main">
            <a:srgbClr val="EAF4FB"/>
          </a:solidFill>
          <a:ln xmlns:a="http://schemas.openxmlformats.org/drawingml/2006/main" w="19050">
            <a:solidFill>
              <a:srgbClr val="3A86B8"/>
            </a:solidFill>
          </a:ln>
        </p:spPr>
        <p:style>
          <a:lnRef xmlns:a="http://schemas.openxmlformats.org/drawingml/2006/main" idx="0">
            <a:srgbClr val="FFFFFF"/>
          </a:lnRef>
          <a:fillRef xmlns:a="http://schemas.openxmlformats.org/drawingml/2006/main" idx="0">
            <a:srgbClr val="FFFFFF"/>
          </a:fillRef>
          <a:effectRef xmlns:a="http://schemas.openxmlformats.org/drawingml/2006/main" idx="4">
            <a:srgbClr val="FFFFFF"/>
          </a:effectRef>
          <a:fontRef xmlns:a="http://schemas.openxmlformats.org/drawingml/2006/main" idx="major"/>
        </p:style>
        <p:txBody>
          <a:bodyPr xmlns:a="http://schemas.openxmlformats.org/drawingml/2006/main" wrap="square" lIns="76200" tIns="38100" rIns="76200" bIns="38100" anchor="ctr">
            <a:no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5" name="A">
            <a:extLst xmlns:a="http://schemas.openxmlformats.org/drawingml/2006/main">
              <a:ext uri="{FF2B5EF4-FFF2-40B4-BE49-F238E27FC236}">
                <a16:creationId xmlns:a16="http://schemas.microsoft.com/office/drawing/2014/main" id="{4A8418C0-97D6-4582-BAD2-A9A514971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543050"/>
            <a:ext cx="4000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3A86B8"/>
          </a:solidFill>
          <a:ln xmlns:a="http://schemas.openxmlformats.org/drawingml/2006/main" w="11906">
            <a:solidFill>
              <a:srgbClr val="3A86B8"/>
            </a:solidFill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</a:t>
            </a:r>
            <a:endParaRPr sz="1725" b="1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" name="Authentic dataset records">
            <a:extLst xmlns:a="http://schemas.openxmlformats.org/drawingml/2006/main">
              <a:ext uri="{FF2B5EF4-FFF2-40B4-BE49-F238E27FC236}">
                <a16:creationId xmlns:a16="http://schemas.microsoft.com/office/drawing/2014/main" id="{4A665768-4623-4542-B360-85375ECDB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514475"/>
            <a:ext cx="2781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76200" tIns="38100" rIns="76200" bIns="381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B2733"/>
                </a:solidFill>
                <a:latin typeface="Arial"/>
                <a:ea typeface="Arial"/>
                <a:cs typeface="Arial"/>
              </a:defRPr>
            </a:pPr>
            <a:r>
              <a:rPr sz="1600" b="1">
                <a:solidFill>
                  <a:srgbClr val="1B2733"/>
                </a:solidFill>
                <a:latin typeface="Arial"/>
                <a:ea typeface="Arial"/>
                <a:cs typeface="Arial"/>
              </a:rPr>
              <a:t>Authentic dataset records</a:t>
            </a:r>
            <a:endParaRPr sz="1600" b="1">
              <a:solidFill>
                <a:srgbClr val="1B2733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" name="圆角矩形 6">
            <a:extLst xmlns:a="http://schemas.openxmlformats.org/drawingml/2006/main">
              <a:ext uri="{FF2B5EF4-FFF2-40B4-BE49-F238E27FC236}">
                <a16:creationId xmlns:a16="http://schemas.microsoft.com/office/drawing/2014/main" id="{E136E568-B8D4-49EE-B6A2-8CFC911E9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1428750"/>
            <a:ext cx="3028950" cy="5306695"/>
          </a:xfrm>
          <a:prstGeom xmlns:a="http://schemas.openxmlformats.org/drawingml/2006/main" prst="roundRect">
            <a:avLst>
              <a:gd name="adj" fmla="val 2516"/>
            </a:avLst>
          </a:prstGeom>
          <a:solidFill xmlns:a="http://schemas.openxmlformats.org/drawingml/2006/main">
            <a:srgbClr val="EAF7F4"/>
          </a:solidFill>
          <a:ln xmlns:a="http://schemas.openxmlformats.org/drawingml/2006/main" w="19050">
            <a:solidFill>
              <a:srgbClr val="2A9789"/>
            </a:solidFill>
          </a:ln>
        </p:spPr>
        <p:style>
          <a:lnRef xmlns:a="http://schemas.openxmlformats.org/drawingml/2006/main" idx="0">
            <a:srgbClr val="FFFFFF"/>
          </a:lnRef>
          <a:fillRef xmlns:a="http://schemas.openxmlformats.org/drawingml/2006/main" idx="0">
            <a:srgbClr val="FFFFFF"/>
          </a:fillRef>
          <a:effectRef xmlns:a="http://schemas.openxmlformats.org/drawingml/2006/main" idx="4">
            <a:srgbClr val="FFFFFF"/>
          </a:effectRef>
          <a:fontRef xmlns:a="http://schemas.openxmlformats.org/drawingml/2006/main" idx="major"/>
        </p:style>
        <p:txBody>
          <a:bodyPr xmlns:a="http://schemas.openxmlformats.org/drawingml/2006/main" wrap="square" lIns="76200" tIns="38100" rIns="76200" bIns="38100" anchor="ctr">
            <a:no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8" name="B">
            <a:extLst xmlns:a="http://schemas.openxmlformats.org/drawingml/2006/main">
              <a:ext uri="{FF2B5EF4-FFF2-40B4-BE49-F238E27FC236}">
                <a16:creationId xmlns:a16="http://schemas.microsoft.com/office/drawing/2014/main" id="{C23497EA-CA63-46DC-806F-470760FB2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1543050"/>
            <a:ext cx="4000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2A9789"/>
          </a:solidFill>
          <a:ln xmlns:a="http://schemas.openxmlformats.org/drawingml/2006/main" w="11906">
            <a:solidFill>
              <a:srgbClr val="2A9789"/>
            </a:solidFill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B</a:t>
            </a:r>
            <a:endParaRPr sz="1725" b="1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" name="Fixed-budget selection">
            <a:extLst xmlns:a="http://schemas.openxmlformats.org/drawingml/2006/main">
              <a:ext uri="{FF2B5EF4-FFF2-40B4-BE49-F238E27FC236}">
                <a16:creationId xmlns:a16="http://schemas.microsoft.com/office/drawing/2014/main" id="{E45ECDF6-5295-41FB-9031-504E82008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2475" y="1514475"/>
            <a:ext cx="276288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76200" tIns="38100" rIns="76200" bIns="381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B2733"/>
                </a:solidFill>
                <a:latin typeface="Arial"/>
                <a:ea typeface="Arial"/>
                <a:cs typeface="Arial"/>
              </a:defRPr>
            </a:pPr>
            <a:r>
              <a:rPr sz="1600" b="1">
                <a:solidFill>
                  <a:srgbClr val="1B2733"/>
                </a:solidFill>
                <a:latin typeface="Arial"/>
                <a:ea typeface="Arial"/>
                <a:cs typeface="Arial"/>
              </a:rPr>
              <a:t>Fixed-budget selection</a:t>
            </a:r>
            <a:endParaRPr sz="1600" b="1">
              <a:solidFill>
                <a:srgbClr val="1B2733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0" name="圆角矩形 9">
            <a:extLst xmlns:a="http://schemas.openxmlformats.org/drawingml/2006/main">
              <a:ext uri="{FF2B5EF4-FFF2-40B4-BE49-F238E27FC236}">
                <a16:creationId xmlns:a16="http://schemas.microsoft.com/office/drawing/2014/main" id="{C25288D0-4A33-4330-BB28-BD8CB1816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1428750"/>
            <a:ext cx="4800600" cy="5306695"/>
          </a:xfrm>
          <a:prstGeom xmlns:a="http://schemas.openxmlformats.org/drawingml/2006/main" prst="roundRect">
            <a:avLst>
              <a:gd name="adj" fmla="val 1587"/>
            </a:avLst>
          </a:prstGeom>
          <a:solidFill xmlns:a="http://schemas.openxmlformats.org/drawingml/2006/main">
            <a:srgbClr val="F2F0FB"/>
          </a:solidFill>
          <a:ln xmlns:a="http://schemas.openxmlformats.org/drawingml/2006/main" w="19050">
            <a:solidFill>
              <a:srgbClr val="6667AB"/>
            </a:solidFill>
          </a:ln>
        </p:spPr>
        <p:style>
          <a:lnRef xmlns:a="http://schemas.openxmlformats.org/drawingml/2006/main" idx="0">
            <a:srgbClr val="FFFFFF"/>
          </a:lnRef>
          <a:fillRef xmlns:a="http://schemas.openxmlformats.org/drawingml/2006/main" idx="0">
            <a:srgbClr val="FFFFFF"/>
          </a:fillRef>
          <a:effectRef xmlns:a="http://schemas.openxmlformats.org/drawingml/2006/main" idx="4">
            <a:srgbClr val="FFFFFF"/>
          </a:effectRef>
          <a:fontRef xmlns:a="http://schemas.openxmlformats.org/drawingml/2006/main" idx="major"/>
        </p:style>
        <p:txBody>
          <a:bodyPr xmlns:a="http://schemas.openxmlformats.org/drawingml/2006/main" wrap="square" lIns="76200" tIns="38100" rIns="76200" bIns="38100" anchor="ctr">
            <a:no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11" name="C">
            <a:extLst xmlns:a="http://schemas.openxmlformats.org/drawingml/2006/main">
              <a:ext uri="{FF2B5EF4-FFF2-40B4-BE49-F238E27FC236}">
                <a16:creationId xmlns:a16="http://schemas.microsoft.com/office/drawing/2014/main" id="{D77725DB-C437-4FA7-A161-40D4F0A5C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543050"/>
            <a:ext cx="4000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6667AB"/>
          </a:solidFill>
          <a:ln xmlns:a="http://schemas.openxmlformats.org/drawingml/2006/main" w="11906">
            <a:solidFill>
              <a:srgbClr val="6667AB"/>
            </a:solidFill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</a:t>
            </a:r>
            <a:endParaRPr sz="1725" b="1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" name="Evidence Watchdog">
            <a:extLst xmlns:a="http://schemas.openxmlformats.org/drawingml/2006/main">
              <a:ext uri="{FF2B5EF4-FFF2-40B4-BE49-F238E27FC236}">
                <a16:creationId xmlns:a16="http://schemas.microsoft.com/office/drawing/2014/main" id="{B443CBBB-08DD-4F32-81C6-CA67D95AF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24775" y="1514475"/>
            <a:ext cx="40576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76200" tIns="38100" rIns="76200" bIns="381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B2733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B2733"/>
                </a:solidFill>
                <a:latin typeface="Arial"/>
                <a:ea typeface="Arial"/>
                <a:cs typeface="Arial"/>
              </a:rPr>
              <a:t>Evidence Watchdog</a:t>
            </a:r>
            <a:endParaRPr sz="1575" b="1">
              <a:solidFill>
                <a:srgbClr val="1B2733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" name="圆角矩形 12">
            <a:extLst xmlns:a="http://schemas.openxmlformats.org/drawingml/2006/main">
              <a:ext uri="{FF2B5EF4-FFF2-40B4-BE49-F238E27FC236}">
                <a16:creationId xmlns:a16="http://schemas.microsoft.com/office/drawing/2014/main" id="{2AB8A55C-2693-4BF8-8B22-9BA7D2AC2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076450"/>
            <a:ext cx="3257550" cy="1981200"/>
          </a:xfrm>
          <a:prstGeom xmlns:a="http://schemas.openxmlformats.org/drawingml/2006/main" prst="roundRect">
            <a:avLst>
              <a:gd name="adj" fmla="val 41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9CC7E2"/>
            </a:solidFill>
          </a:ln>
        </p:spPr>
        <p:style>
          <a:lnRef xmlns:a="http://schemas.openxmlformats.org/drawingml/2006/main" idx="0">
            <a:srgbClr val="FFFFFF"/>
          </a:lnRef>
          <a:fillRef xmlns:a="http://schemas.openxmlformats.org/drawingml/2006/main" idx="0">
            <a:srgbClr val="FFFFFF"/>
          </a:fillRef>
          <a:effectRef xmlns:a="http://schemas.openxmlformats.org/drawingml/2006/main" idx="4">
            <a:srgbClr val="FFFFFF"/>
          </a:effectRef>
          <a:fontRef xmlns:a="http://schemas.openxmlformats.org/drawingml/2006/main" idx="major"/>
        </p:style>
        <p:txBody>
          <a:bodyPr xmlns:a="http://schemas.openxmlformats.org/drawingml/2006/main" wrap="square" lIns="76200" tIns="38100" rIns="76200" bIns="38100" anchor="ctr">
            <a:no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14" name="QASPER v0.3   ·   paper 1709.0">
            <a:extLst xmlns:a="http://schemas.openxmlformats.org/drawingml/2006/main">
              <a:ext uri="{FF2B5EF4-FFF2-40B4-BE49-F238E27FC236}">
                <a16:creationId xmlns:a16="http://schemas.microsoft.com/office/drawing/2014/main" id="{776D5A67-A088-4C91-B517-8478D4665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076450"/>
            <a:ext cx="325755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D9ECFA"/>
          </a:solidFill>
          <a:ln xmlns:a="http://schemas.openxmlformats.org/drawingml/2006/main" w="11906">
            <a:solidFill>
              <a:srgbClr val="D9ECFA"/>
            </a:solidFill>
          </a:ln>
        </p:spPr>
        <p:txBody>
          <a:bodyPr xmlns:a="http://schemas.openxmlformats.org/drawingml/2006/main" wrap="square" lIns="114300" tIns="19050" rIns="7620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40" b="1">
                <a:solidFill>
                  <a:srgbClr val="163F59"/>
                </a:solidFill>
                <a:latin typeface="Arial"/>
                <a:ea typeface="Arial"/>
                <a:cs typeface="Arial"/>
              </a:defRPr>
            </a:pPr>
            <a:r>
              <a:rPr sz="1000" b="1">
                <a:solidFill>
                  <a:srgbClr val="163F59"/>
                </a:solidFill>
                <a:latin typeface="Arial"/>
                <a:ea typeface="Arial"/>
                <a:cs typeface="Arial"/>
              </a:rPr>
              <a:t>QASPER v0.3   ·   paper 1709.05036   ·   full paper</a:t>
            </a:r>
            <a:endParaRPr sz="1000" b="1">
              <a:solidFill>
                <a:srgbClr val="163F59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" name="Query-based Attention CNN for ">
            <a:extLst xmlns:a="http://schemas.openxmlformats.org/drawingml/2006/main">
              <a:ext uri="{FF2B5EF4-FFF2-40B4-BE49-F238E27FC236}">
                <a16:creationId xmlns:a16="http://schemas.microsoft.com/office/drawing/2014/main" id="{6CB840C4-397C-45E5-881F-00D9484F8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400300"/>
            <a:ext cx="3028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9525" rIns="0" bIns="9525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40" b="1">
                <a:solidFill>
                  <a:srgbClr val="1B2733"/>
                </a:solidFill>
                <a:latin typeface="Arial"/>
                <a:ea typeface="Arial"/>
                <a:cs typeface="Arial"/>
              </a:defRPr>
            </a:pPr>
            <a:r>
              <a:rPr sz="940" b="1">
                <a:solidFill>
                  <a:srgbClr val="1B2733"/>
                </a:solidFill>
                <a:latin typeface="Arial"/>
                <a:ea typeface="Arial"/>
                <a:cs typeface="Arial"/>
              </a:rPr>
              <a:t>Query-based Attention CNN for Text Similarity Map</a:t>
            </a:r>
            <a:endParaRPr sz="940" b="1">
              <a:solidFill>
                <a:srgbClr val="1B2733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" name="QUESTION">
            <a:extLst xmlns:a="http://schemas.openxmlformats.org/drawingml/2006/main">
              <a:ext uri="{FF2B5EF4-FFF2-40B4-BE49-F238E27FC236}">
                <a16:creationId xmlns:a16="http://schemas.microsoft.com/office/drawing/2014/main" id="{0554A476-6302-4067-860A-4E167D710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425" y="2658110"/>
            <a:ext cx="861060" cy="1403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76200" tIns="38100" rIns="76200" bIns="381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790" b="1">
                <a:solidFill>
                  <a:srgbClr val="2F6F94"/>
                </a:solidFill>
                <a:latin typeface="Arial"/>
                <a:ea typeface="Arial"/>
                <a:cs typeface="Arial"/>
              </a:defRPr>
            </a:pPr>
            <a:r>
              <a:rPr sz="1000" b="1">
                <a:solidFill>
                  <a:srgbClr val="2F6F94"/>
                </a:solidFill>
                <a:latin typeface="Arial"/>
                <a:ea typeface="Arial"/>
                <a:cs typeface="Arial"/>
              </a:rPr>
              <a:t>QUESTION</a:t>
            </a:r>
            <a:endParaRPr sz="1000" b="1">
              <a:solidFill>
                <a:srgbClr val="2F6F94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" name="Do they experiment with their ">
            <a:extLst xmlns:a="http://schemas.openxmlformats.org/drawingml/2006/main">
              <a:ext uri="{FF2B5EF4-FFF2-40B4-BE49-F238E27FC236}">
                <a16:creationId xmlns:a16="http://schemas.microsoft.com/office/drawing/2014/main" id="{B440B0C5-5998-4521-A780-71EB3DF49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47975"/>
            <a:ext cx="30289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9525" rIns="0" bIns="9525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65" b="0">
                <a:solidFill>
                  <a:srgbClr val="1B2733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1B2733"/>
                </a:solidFill>
                <a:latin typeface="Arial"/>
                <a:ea typeface="Arial"/>
                <a:cs typeface="Arial"/>
              </a:rPr>
              <a:t>Do they experiment with their proposed model on any other dataset other than MovieQA?</a:t>
            </a:r>
            <a:endParaRPr sz="1000" b="0">
              <a:solidFill>
                <a:srgbClr val="1B2733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8" name="OFFLINE GOLD · ¶27">
            <a:extLst xmlns:a="http://schemas.openxmlformats.org/drawingml/2006/main">
              <a:ext uri="{FF2B5EF4-FFF2-40B4-BE49-F238E27FC236}">
                <a16:creationId xmlns:a16="http://schemas.microsoft.com/office/drawing/2014/main" id="{C9EA371C-52E4-4B8E-B97B-F30AD8E59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57550"/>
            <a:ext cx="1752600" cy="19050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FFF4DE"/>
          </a:solidFill>
          <a:ln xmlns:a="http://schemas.openxmlformats.org/drawingml/2006/main" w="11906">
            <a:solidFill>
              <a:srgbClr val="D6922D"/>
            </a:solidFill>
          </a:ln>
        </p:spPr>
        <p:txBody>
          <a:bodyPr xmlns:a="http://schemas.openxmlformats.org/drawingml/2006/main" wrap="square" lIns="28575" tIns="9525" rIns="28575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790" b="1">
                <a:solidFill>
                  <a:srgbClr val="D6922D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D6922D"/>
                </a:solidFill>
                <a:latin typeface="Arial"/>
                <a:ea typeface="Arial"/>
                <a:cs typeface="Arial"/>
              </a:rPr>
              <a:t>OFFLINE GOLD · ¶27</a:t>
            </a:r>
            <a:endParaRPr sz="900" b="1">
              <a:solidFill>
                <a:srgbClr val="D6922D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9" name="We also applied our model to M">
            <a:extLst xmlns:a="http://schemas.openxmlformats.org/drawingml/2006/main">
              <a:ext uri="{FF2B5EF4-FFF2-40B4-BE49-F238E27FC236}">
                <a16:creationId xmlns:a16="http://schemas.microsoft.com/office/drawing/2014/main" id="{39BA1491-9761-49A7-83EB-5F007638F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476625"/>
            <a:ext cx="3028950" cy="485775"/>
          </a:xfrm>
          <a:prstGeom xmlns:a="http://schemas.openxmlformats.org/drawingml/2006/main" prst="roundRect">
            <a:avLst>
              <a:gd name="adj" fmla="val 21622"/>
            </a:avLst>
          </a:prstGeom>
          <a:solidFill xmlns:a="http://schemas.openxmlformats.org/drawingml/2006/main">
            <a:srgbClr val="FFF4DE"/>
          </a:solidFill>
          <a:ln xmlns:a="http://schemas.openxmlformats.org/drawingml/2006/main" w="11906">
            <a:solidFill>
              <a:srgbClr val="D6922D"/>
            </a:solidFill>
          </a:ln>
        </p:spPr>
        <p:txBody>
          <a:bodyPr xmlns:a="http://schemas.openxmlformats.org/drawingml/2006/main" wrap="square" lIns="66675" tIns="28575" rIns="66675" bIns="28575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730" b="0">
                <a:solidFill>
                  <a:srgbClr val="1B2733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1B2733"/>
                </a:solidFill>
                <a:latin typeface="Arial"/>
                <a:ea typeface="Arial"/>
                <a:cs typeface="Arial"/>
              </a:rPr>
              <a:t>We also applied our model to MCTest dataset which requires machines to answer multiple-choice reading comprehension questions about fictional stories.</a:t>
            </a:r>
            <a:endParaRPr sz="900" b="0">
              <a:solidFill>
                <a:srgbClr val="1B2733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0" name="圆角矩形 19">
            <a:extLst xmlns:a="http://schemas.openxmlformats.org/drawingml/2006/main">
              <a:ext uri="{FF2B5EF4-FFF2-40B4-BE49-F238E27FC236}">
                <a16:creationId xmlns:a16="http://schemas.microsoft.com/office/drawing/2014/main" id="{2E1281FB-69AA-49C0-A8F5-545D7D581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180840"/>
            <a:ext cx="3257550" cy="2019935"/>
          </a:xfrm>
          <a:prstGeom xmlns:a="http://schemas.openxmlformats.org/drawingml/2006/main" prst="roundRect">
            <a:avLst>
              <a:gd name="adj" fmla="val 43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9CC7E2"/>
            </a:solidFill>
          </a:ln>
        </p:spPr>
        <p:style>
          <a:lnRef xmlns:a="http://schemas.openxmlformats.org/drawingml/2006/main" idx="0">
            <a:srgbClr val="FFFFFF"/>
          </a:lnRef>
          <a:fillRef xmlns:a="http://schemas.openxmlformats.org/drawingml/2006/main" idx="0">
            <a:srgbClr val="FFFFFF"/>
          </a:fillRef>
          <a:effectRef xmlns:a="http://schemas.openxmlformats.org/drawingml/2006/main" idx="4">
            <a:srgbClr val="FFFFFF"/>
          </a:effectRef>
          <a:fontRef xmlns:a="http://schemas.openxmlformats.org/drawingml/2006/main" idx="major"/>
        </p:style>
        <p:txBody>
          <a:bodyPr xmlns:a="http://schemas.openxmlformats.org/drawingml/2006/main" wrap="square" lIns="76200" tIns="38100" rIns="76200" bIns="38100" anchor="ctr">
            <a:no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21" name="SciFact dev   ·   claim 51   ·">
            <a:extLst xmlns:a="http://schemas.openxmlformats.org/drawingml/2006/main">
              <a:ext uri="{FF2B5EF4-FFF2-40B4-BE49-F238E27FC236}">
                <a16:creationId xmlns:a16="http://schemas.microsoft.com/office/drawing/2014/main" id="{2F22C595-36BC-4CBE-8ABF-339855D41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191000"/>
            <a:ext cx="3257550" cy="2857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D9ECFA"/>
          </a:solidFill>
          <a:ln xmlns:a="http://schemas.openxmlformats.org/drawingml/2006/main" w="11906">
            <a:solidFill>
              <a:srgbClr val="D9ECFA"/>
            </a:solidFill>
          </a:ln>
        </p:spPr>
        <p:txBody>
          <a:bodyPr xmlns:a="http://schemas.openxmlformats.org/drawingml/2006/main" wrap="square" lIns="114300" tIns="19050" rIns="7620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40" b="1">
                <a:solidFill>
                  <a:srgbClr val="163F59"/>
                </a:solidFill>
                <a:latin typeface="Arial"/>
                <a:ea typeface="Arial"/>
                <a:cs typeface="Arial"/>
              </a:defRPr>
            </a:pPr>
            <a:r>
              <a:rPr sz="940" b="1">
                <a:solidFill>
                  <a:srgbClr val="163F59"/>
                </a:solidFill>
                <a:latin typeface="Arial"/>
                <a:ea typeface="Arial"/>
                <a:cs typeface="Arial"/>
              </a:rPr>
              <a:t>SciFact dev   ·   claim 51   ·   document 45638119</a:t>
            </a:r>
            <a:endParaRPr sz="940" b="1">
              <a:solidFill>
                <a:srgbClr val="163F59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2" name="ALDH1 is a marker of normal an">
            <a:extLst xmlns:a="http://schemas.openxmlformats.org/drawingml/2006/main">
              <a:ext uri="{FF2B5EF4-FFF2-40B4-BE49-F238E27FC236}">
                <a16:creationId xmlns:a16="http://schemas.microsoft.com/office/drawing/2014/main" id="{1AEAC964-29DC-4A9E-A1B9-5FF76802A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14850"/>
            <a:ext cx="3028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9525" rIns="0" bIns="9525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40" b="1">
                <a:solidFill>
                  <a:srgbClr val="1B2733"/>
                </a:solidFill>
                <a:latin typeface="Arial"/>
                <a:ea typeface="Arial"/>
                <a:cs typeface="Arial"/>
              </a:defRPr>
            </a:pPr>
            <a:r>
              <a:rPr sz="1000" b="1">
                <a:solidFill>
                  <a:srgbClr val="1B2733"/>
                </a:solidFill>
                <a:latin typeface="Arial"/>
                <a:ea typeface="Arial"/>
                <a:cs typeface="Arial"/>
              </a:rPr>
              <a:t>ALDH1 is a marker of normal and malignant human mammary stem cells…</a:t>
            </a:r>
            <a:endParaRPr sz="1000" b="1">
              <a:solidFill>
                <a:srgbClr val="1B2733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3" name="CLAIM">
            <a:extLst xmlns:a="http://schemas.openxmlformats.org/drawingml/2006/main">
              <a:ext uri="{FF2B5EF4-FFF2-40B4-BE49-F238E27FC236}">
                <a16:creationId xmlns:a16="http://schemas.microsoft.com/office/drawing/2014/main" id="{93062E6F-B2D3-4582-80B7-95D492404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425" y="4800600"/>
            <a:ext cx="742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76200" tIns="38100" rIns="76200" bIns="381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790" b="1">
                <a:solidFill>
                  <a:srgbClr val="2F6F94"/>
                </a:solidFill>
                <a:latin typeface="Arial"/>
                <a:ea typeface="Arial"/>
                <a:cs typeface="Arial"/>
              </a:defRPr>
            </a:pPr>
            <a:r>
              <a:rPr sz="1000" b="1">
                <a:solidFill>
                  <a:srgbClr val="2F6F94"/>
                </a:solidFill>
                <a:latin typeface="Arial"/>
                <a:ea typeface="Arial"/>
                <a:cs typeface="Arial"/>
              </a:rPr>
              <a:t>CLAIM</a:t>
            </a:r>
            <a:endParaRPr sz="1000" b="1">
              <a:solidFill>
                <a:srgbClr val="2F6F94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4" name="ALDH1 expression is associated">
            <a:extLst xmlns:a="http://schemas.openxmlformats.org/drawingml/2006/main">
              <a:ext uri="{FF2B5EF4-FFF2-40B4-BE49-F238E27FC236}">
                <a16:creationId xmlns:a16="http://schemas.microsoft.com/office/drawing/2014/main" id="{09D9A419-59E2-4F38-A8D3-681E406AD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981575"/>
            <a:ext cx="30289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9525" rIns="0" bIns="9525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65" b="0">
                <a:solidFill>
                  <a:srgbClr val="1B2733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1B2733"/>
                </a:solidFill>
                <a:latin typeface="Arial"/>
                <a:ea typeface="Arial"/>
                <a:cs typeface="Arial"/>
              </a:rPr>
              <a:t>ALDH1 expression is associated with better breast cancer outcomes.</a:t>
            </a:r>
            <a:endParaRPr sz="1000" b="0">
              <a:solidFill>
                <a:srgbClr val="1B2733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5" name="OFFLINE GOLD · CONTRADICT · S4">
            <a:extLst xmlns:a="http://schemas.openxmlformats.org/drawingml/2006/main">
              <a:ext uri="{FF2B5EF4-FFF2-40B4-BE49-F238E27FC236}">
                <a16:creationId xmlns:a16="http://schemas.microsoft.com/office/drawing/2014/main" id="{40B22C42-1583-4C3F-AF11-80E5F63D8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353050"/>
            <a:ext cx="1752600" cy="267335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FFF0EF"/>
          </a:solidFill>
          <a:ln xmlns:a="http://schemas.openxmlformats.org/drawingml/2006/main" w="11906">
            <a:solidFill>
              <a:srgbClr val="D95555"/>
            </a:solidFill>
          </a:ln>
        </p:spPr>
        <p:txBody>
          <a:bodyPr xmlns:a="http://schemas.openxmlformats.org/drawingml/2006/main" wrap="square" lIns="28575" tIns="9525" rIns="28575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790" b="1">
                <a:solidFill>
                  <a:srgbClr val="D95555"/>
                </a:solidFill>
                <a:latin typeface="Arial"/>
                <a:ea typeface="Arial"/>
                <a:cs typeface="Arial"/>
              </a:defRPr>
            </a:pPr>
            <a:r>
              <a:rPr sz="790" b="1">
                <a:solidFill>
                  <a:srgbClr val="D95555"/>
                </a:solidFill>
                <a:latin typeface="Arial"/>
                <a:ea typeface="Arial"/>
                <a:cs typeface="Arial"/>
              </a:rPr>
              <a:t>OFFLINE GOLD · CONTRADICT · S4</a:t>
            </a:r>
            <a:endParaRPr sz="790" b="1">
              <a:solidFill>
                <a:srgbClr val="D95555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6" name="In a series of 577 breast carc">
            <a:extLst xmlns:a="http://schemas.openxmlformats.org/drawingml/2006/main">
              <a:ext uri="{FF2B5EF4-FFF2-40B4-BE49-F238E27FC236}">
                <a16:creationId xmlns:a16="http://schemas.microsoft.com/office/drawing/2014/main" id="{257DF7DD-E793-4560-8C7C-FEE436C55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634355"/>
            <a:ext cx="3028950" cy="50863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FF0EF"/>
          </a:solidFill>
          <a:ln xmlns:a="http://schemas.openxmlformats.org/drawingml/2006/main" w="11906">
            <a:solidFill>
              <a:srgbClr val="D95555"/>
            </a:solidFill>
          </a:ln>
        </p:spPr>
        <p:txBody>
          <a:bodyPr xmlns:a="http://schemas.openxmlformats.org/drawingml/2006/main" wrap="square" lIns="66675" tIns="28575" rIns="66675" bIns="28575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730" b="0">
                <a:solidFill>
                  <a:srgbClr val="1B2733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1B2733"/>
                </a:solidFill>
                <a:latin typeface="Arial"/>
                <a:ea typeface="Arial"/>
                <a:cs typeface="Arial"/>
              </a:rPr>
              <a:t>In a series of 577 breast carcinomas, expression of ALDH1 detected by immunostaining correlated with poor prognosis.</a:t>
            </a:r>
            <a:endParaRPr sz="1000" b="0">
              <a:solidFill>
                <a:srgbClr val="1B2733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7" name="圆角矩形 26">
            <a:extLst xmlns:a="http://schemas.openxmlformats.org/drawingml/2006/main">
              <a:ext uri="{FF2B5EF4-FFF2-40B4-BE49-F238E27FC236}">
                <a16:creationId xmlns:a16="http://schemas.microsoft.com/office/drawing/2014/main" id="{3494A30C-E178-4004-A14E-9C707AB44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258560"/>
            <a:ext cx="32575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8FBFE"/>
          </a:solidFill>
          <a:ln xmlns:a="http://schemas.openxmlformats.org/drawingml/2006/main" w="11906">
            <a:solidFill>
              <a:srgbClr val="9CC7E2"/>
            </a:solidFill>
          </a:ln>
        </p:spPr>
        <p:style>
          <a:lnRef xmlns:a="http://schemas.openxmlformats.org/drawingml/2006/main" idx="0">
            <a:srgbClr val="FFFFFF"/>
          </a:lnRef>
          <a:fillRef xmlns:a="http://schemas.openxmlformats.org/drawingml/2006/main" idx="0">
            <a:srgbClr val="FFFFFF"/>
          </a:fillRef>
          <a:effectRef xmlns:a="http://schemas.openxmlformats.org/drawingml/2006/main" idx="4">
            <a:srgbClr val="FFFFFF"/>
          </a:effectRef>
          <a:fontRef xmlns:a="http://schemas.openxmlformats.org/drawingml/2006/main" idx="major"/>
        </p:style>
        <p:txBody>
          <a:bodyPr xmlns:a="http://schemas.openxmlformats.org/drawingml/2006/main" wrap="square" lIns="76200" tIns="38100" rIns="76200" bIns="38100" anchor="ctr">
            <a:no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28" name="Ordered source units">
            <a:extLst xmlns:a="http://schemas.openxmlformats.org/drawingml/2006/main">
              <a:ext uri="{FF2B5EF4-FFF2-40B4-BE49-F238E27FC236}">
                <a16:creationId xmlns:a16="http://schemas.microsoft.com/office/drawing/2014/main" id="{482EBD16-EBCC-4046-BB2B-7A28F38DA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248400"/>
            <a:ext cx="30480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76200" tIns="38100" rIns="76200" bIns="381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65" b="1">
                <a:solidFill>
                  <a:srgbClr val="205B7C"/>
                </a:solidFill>
                <a:latin typeface="Arial"/>
                <a:ea typeface="Arial"/>
                <a:cs typeface="Arial"/>
              </a:defRPr>
            </a:pPr>
            <a:r>
              <a:rPr sz="865" b="1">
                <a:solidFill>
                  <a:srgbClr val="205B7C"/>
                </a:solidFill>
                <a:latin typeface="Arial"/>
                <a:ea typeface="Arial"/>
                <a:cs typeface="Arial"/>
              </a:rPr>
              <a:t>Ordered source units</a:t>
            </a:r>
            <a:endParaRPr sz="865" b="1">
              <a:solidFill>
                <a:srgbClr val="205B7C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9" name="QASPER body paragraphs   ·   S">
            <a:extLst xmlns:a="http://schemas.openxmlformats.org/drawingml/2006/main">
              <a:ext uri="{FF2B5EF4-FFF2-40B4-BE49-F238E27FC236}">
                <a16:creationId xmlns:a16="http://schemas.microsoft.com/office/drawing/2014/main" id="{3E63C21B-2F0E-49DD-B5AA-80335C5C0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410325"/>
            <a:ext cx="325818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76200" tIns="38100" rIns="76200" bIns="381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765" b="0">
                <a:solidFill>
                  <a:srgbClr val="5B6872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B6872"/>
                </a:solidFill>
                <a:latin typeface="Arial"/>
                <a:ea typeface="Arial"/>
                <a:cs typeface="Arial"/>
              </a:rPr>
              <a:t>QASPER body paragraphs   ·   SciFact abstract sentences</a:t>
            </a:r>
            <a:endParaRPr sz="900" b="0">
              <a:solidFill>
                <a:srgbClr val="5B6872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0" name="任意多边形 29">
            <a:extLst xmlns:a="http://schemas.openxmlformats.org/drawingml/2006/main">
              <a:ext uri="{FF2B5EF4-FFF2-40B4-BE49-F238E27FC236}">
                <a16:creationId xmlns:a16="http://schemas.microsoft.com/office/drawing/2014/main" id="{B5EC18F3-39E4-4DA8-AB57-ED92204CB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3000375"/>
            <a:ext cx="133350" cy="9525"/>
          </a:xfrm>
          <a:custGeom xmlns:a="http://schemas.openxmlformats.org/drawingml/2006/main">
            <a:pathLst>
              <a:path w="133350" h="9525">
                <a:moveTo>
                  <a:pt x="0" y="0"/>
                </a:moveTo>
                <a:lnTo>
                  <a:pt x="133350" y="9525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557A90"/>
            </a:solidFill>
            <a:prstDash val="solid"/>
          </a:ln>
        </p:spPr>
      </p:sp>
      <p:sp>
        <p:nvSpPr>
          <p:cNvPr id="31" name="任意多边形 30">
            <a:extLst xmlns:a="http://schemas.openxmlformats.org/drawingml/2006/main">
              <a:ext uri="{FF2B5EF4-FFF2-40B4-BE49-F238E27FC236}">
                <a16:creationId xmlns:a16="http://schemas.microsoft.com/office/drawing/2014/main" id="{0FBA8BB7-F910-442E-9005-10E700613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4895850"/>
            <a:ext cx="133350" cy="9525"/>
          </a:xfrm>
          <a:custGeom xmlns:a="http://schemas.openxmlformats.org/drawingml/2006/main">
            <a:pathLst>
              <a:path w="133350" h="9525">
                <a:moveTo>
                  <a:pt x="0" y="0"/>
                </a:moveTo>
                <a:lnTo>
                  <a:pt x="133350" y="9525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557A90"/>
            </a:solidFill>
            <a:prstDash val="solid"/>
          </a:ln>
        </p:spPr>
      </p:sp>
      <p:sp>
        <p:nvSpPr>
          <p:cNvPr id="32" name="任意多边形 31">
            <a:extLst xmlns:a="http://schemas.openxmlformats.org/drawingml/2006/main">
              <a:ext uri="{FF2B5EF4-FFF2-40B4-BE49-F238E27FC236}">
                <a16:creationId xmlns:a16="http://schemas.microsoft.com/office/drawing/2014/main" id="{BDCA6E47-C4C3-4C3F-B7B8-7A62033E9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3000375"/>
            <a:ext cx="9525" cy="3086100"/>
          </a:xfrm>
          <a:custGeom xmlns:a="http://schemas.openxmlformats.org/drawingml/2006/main">
            <a:pathLst>
              <a:path w="9525" h="3086100">
                <a:moveTo>
                  <a:pt x="0" y="0"/>
                </a:moveTo>
                <a:lnTo>
                  <a:pt x="9525" y="308610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557A90"/>
            </a:solidFill>
            <a:prstDash val="solid"/>
          </a:ln>
        </p:spPr>
      </p:sp>
      <p:sp>
        <p:nvSpPr>
          <p:cNvPr id="33" name="任意多边形 32">
            <a:extLst xmlns:a="http://schemas.openxmlformats.org/drawingml/2006/main">
              <a:ext uri="{FF2B5EF4-FFF2-40B4-BE49-F238E27FC236}">
                <a16:creationId xmlns:a16="http://schemas.microsoft.com/office/drawing/2014/main" id="{FD1AE515-4781-4D9A-83E0-A0C043497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6086475"/>
            <a:ext cx="133350" cy="9525"/>
          </a:xfrm>
          <a:custGeom xmlns:a="http://schemas.openxmlformats.org/drawingml/2006/main">
            <a:pathLst>
              <a:path w="133350" h="9525">
                <a:moveTo>
                  <a:pt x="0" y="0"/>
                </a:moveTo>
                <a:lnTo>
                  <a:pt x="133350" y="9525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557A90"/>
            </a:solidFill>
            <a:prstDash val="solid"/>
          </a:ln>
        </p:spPr>
      </p:sp>
      <p:sp>
        <p:nvSpPr>
          <p:cNvPr id="34" name="圆角矩形 33">
            <a:extLst xmlns:a="http://schemas.openxmlformats.org/drawingml/2006/main">
              <a:ext uri="{FF2B5EF4-FFF2-40B4-BE49-F238E27FC236}">
                <a16:creationId xmlns:a16="http://schemas.microsoft.com/office/drawing/2014/main" id="{BD1E348F-030F-4D4D-9806-6FF6C0018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2076450"/>
            <a:ext cx="276225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8FCFB"/>
          </a:solidFill>
          <a:ln xmlns:a="http://schemas.openxmlformats.org/drawingml/2006/main" w="11906">
            <a:solidFill>
              <a:srgbClr val="8BCFC4"/>
            </a:solidFill>
          </a:ln>
        </p:spPr>
        <p:style>
          <a:lnRef xmlns:a="http://schemas.openxmlformats.org/drawingml/2006/main" idx="0">
            <a:srgbClr val="FFFFFF"/>
          </a:lnRef>
          <a:fillRef xmlns:a="http://schemas.openxmlformats.org/drawingml/2006/main" idx="0">
            <a:srgbClr val="FFFFFF"/>
          </a:fillRef>
          <a:effectRef xmlns:a="http://schemas.openxmlformats.org/drawingml/2006/main" idx="4">
            <a:srgbClr val="FFFFFF"/>
          </a:effectRef>
          <a:fontRef xmlns:a="http://schemas.openxmlformats.org/drawingml/2006/main" idx="major"/>
        </p:style>
        <p:txBody>
          <a:bodyPr xmlns:a="http://schemas.openxmlformats.org/drawingml/2006/main" wrap="square" lIns="76200" tIns="38100" rIns="76200" bIns="38100" anchor="ctr">
            <a:noAutofit/>
          </a:bodyPr>
          <a:lstStyle xmlns:a="http://schemas.openxmlformats.org/drawingml/2006/main"/>
          <a:p xmlns:a="http://schemas.openxmlformats.org/drawingml/2006/main"/>
        </p:txBody>
      </p:sp>
      <p:pic>
        <p:nvPicPr>
          <p:cNvPr id="356" name="图片 18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4ad42d02a2a4241">
            <a:extLst>
              <a:ext uri="{96DAC541-7B7A-43D3-8B79-37D633B846F1}">
                <asvg:svgBlip xmlns:asvg="http://schemas.microsoft.com/office/drawing/2016/SVG/main" r:embed="Rbba66d29e5074c18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191000" y="2238375"/>
            <a:ext cx="285750" cy="285750"/>
          </a:xfrm>
          <a:prstGeom xmlns:a="http://schemas.openxmlformats.org/drawingml/2006/main" prst="rect">
            <a:avLst/>
          </a:prstGeom>
        </p:spPr>
      </p:pic>
      <p:sp>
        <p:nvSpPr>
          <p:cNvPr id="36" name="Shared selector inputs">
            <a:extLst xmlns:a="http://schemas.openxmlformats.org/drawingml/2006/main">
              <a:ext uri="{FF2B5EF4-FFF2-40B4-BE49-F238E27FC236}">
                <a16:creationId xmlns:a16="http://schemas.microsoft.com/office/drawing/2014/main" id="{5B33FC08-DA3A-4B8C-A52E-B84CFB7C8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114550"/>
            <a:ext cx="2171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76200" tIns="38100" rIns="76200" bIns="381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B273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B2733"/>
                </a:solidFill>
                <a:latin typeface="Arial"/>
                <a:ea typeface="Arial"/>
                <a:cs typeface="Arial"/>
              </a:rPr>
              <a:t>Shared selector inputs</a:t>
            </a:r>
            <a:endParaRPr sz="1200" b="1">
              <a:solidFill>
                <a:srgbClr val="1B2733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7" name="question/claim + ordered sourc">
            <a:extLst xmlns:a="http://schemas.openxmlformats.org/drawingml/2006/main">
              <a:ext uri="{FF2B5EF4-FFF2-40B4-BE49-F238E27FC236}">
                <a16:creationId xmlns:a16="http://schemas.microsoft.com/office/drawing/2014/main" id="{7F9B4441-D795-4AB5-99DF-A7E182F0D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371725"/>
            <a:ext cx="228854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76200" tIns="38100" rIns="76200" bIns="381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B6872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5B6872"/>
                </a:solidFill>
                <a:latin typeface="Arial"/>
                <a:ea typeface="Arial"/>
                <a:cs typeface="Arial"/>
              </a:rPr>
              <a:t>question/claim + ordered source units</a:t>
            </a:r>
            <a:endParaRPr sz="1000" b="0">
              <a:solidFill>
                <a:srgbClr val="5B6872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8" name="矩形 37">
            <a:extLst xmlns:a="http://schemas.openxmlformats.org/drawingml/2006/main">
              <a:ext uri="{FF2B5EF4-FFF2-40B4-BE49-F238E27FC236}">
                <a16:creationId xmlns:a16="http://schemas.microsoft.com/office/drawing/2014/main" id="{2EAD5BBA-AE76-4EDD-86D7-EB369BCDE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2390775"/>
            <a:ext cx="19050" cy="1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76200" tIns="38100" rIns="76200" bIns="38100" anchor="ctr">
            <a:noAutofit/>
          </a:bodyPr>
          <a:lstStyle xmlns:a="http://schemas.openxmlformats.org/drawingml/2006/main"/>
          <a:p xmlns:a="http://schemas.openxmlformats.org/drawingml/2006/main"/>
        </p:txBody>
      </p:sp>
      <p:cxnSp>
        <p:nvCxnSpPr>
          <p:cNvPr id="360" name="直接箭头连接符 185"/>
          <p:cNvCxnSpPr>
            <a:stCxn xmlns:a="http://schemas.openxmlformats.org/drawingml/2006/main" id="38" idx="3"/>
            <a:endCxn xmlns:a="http://schemas.openxmlformats.org/drawingml/2006/main" id="34" idx="1"/>
          </p:cNvCxnSpPr>
          <p:nvPr/>
        </p:nvCxnSpPr>
        <p:spPr>
          <a:xfrm xmlns:a="http://schemas.openxmlformats.org/drawingml/2006/main">
            <a:off x="3886200" y="2400300"/>
            <a:ext cx="1905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486C7D"/>
            </a:solidFill>
            <a:prstDash val="solid"/>
            <a:tailEnd type="triangle" w="sm" len="sm"/>
          </a:ln>
        </p:spPr>
      </p:cxnSp>
      <p:sp>
        <p:nvSpPr>
          <p:cNvPr id="40" name="REFERENCE BASELINES">
            <a:extLst xmlns:a="http://schemas.openxmlformats.org/drawingml/2006/main">
              <a:ext uri="{FF2B5EF4-FFF2-40B4-BE49-F238E27FC236}">
                <a16:creationId xmlns:a16="http://schemas.microsoft.com/office/drawing/2014/main" id="{4A5DF068-CD56-478D-9926-AE766B221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2847975"/>
            <a:ext cx="1619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76200" tIns="38100" rIns="76200" bIns="381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790" b="1">
                <a:solidFill>
                  <a:srgbClr val="5B6872"/>
                </a:solidFill>
                <a:latin typeface="Arial"/>
                <a:ea typeface="Arial"/>
                <a:cs typeface="Arial"/>
              </a:defRPr>
            </a:pPr>
            <a:r>
              <a:rPr sz="1000" b="1">
                <a:solidFill>
                  <a:srgbClr val="5B6872"/>
                </a:solidFill>
                <a:latin typeface="Arial"/>
                <a:ea typeface="Arial"/>
                <a:cs typeface="Arial"/>
              </a:rPr>
              <a:t>REFERENCE BASELINES</a:t>
            </a:r>
            <a:endParaRPr sz="1000" b="1">
              <a:solidFill>
                <a:srgbClr val="5B6872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1" name="圆角矩形 40">
            <a:extLst xmlns:a="http://schemas.openxmlformats.org/drawingml/2006/main">
              <a:ext uri="{FF2B5EF4-FFF2-40B4-BE49-F238E27FC236}">
                <a16:creationId xmlns:a16="http://schemas.microsoft.com/office/drawing/2014/main" id="{18A0285C-B436-4F46-8E57-4DA9FA05A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3171825"/>
            <a:ext cx="1619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906">
            <a:solidFill>
              <a:srgbClr val="8BCFC4"/>
            </a:solidFill>
          </a:ln>
        </p:spPr>
        <p:style>
          <a:lnRef xmlns:a="http://schemas.openxmlformats.org/drawingml/2006/main" idx="0">
            <a:srgbClr val="FFFFFF"/>
          </a:lnRef>
          <a:fillRef xmlns:a="http://schemas.openxmlformats.org/drawingml/2006/main" idx="0">
            <a:srgbClr val="FFFFFF"/>
          </a:fillRef>
          <a:effectRef xmlns:a="http://schemas.openxmlformats.org/drawingml/2006/main" idx="4">
            <a:srgbClr val="FFFFFF"/>
          </a:effectRef>
          <a:fontRef xmlns:a="http://schemas.openxmlformats.org/drawingml/2006/main" idx="major"/>
        </p:style>
        <p:txBody>
          <a:bodyPr xmlns:a="http://schemas.openxmlformats.org/drawingml/2006/main" wrap="square" lIns="76200" tIns="38100" rIns="76200" bIns="38100" anchor="ctr">
            <a:no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42" name="圆角矩形 41">
            <a:extLst xmlns:a="http://schemas.openxmlformats.org/drawingml/2006/main">
              <a:ext uri="{FF2B5EF4-FFF2-40B4-BE49-F238E27FC236}">
                <a16:creationId xmlns:a16="http://schemas.microsoft.com/office/drawing/2014/main" id="{4082BA19-A231-4705-B64F-D98FEC0FB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9875" y="3152775"/>
            <a:ext cx="57150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77777"/>
          </a:solidFill>
          <a:ln xmlns:a="http://schemas.openxmlformats.org/drawingml/2006/main" w="11906">
            <a:solidFill>
              <a:srgbClr val="777777"/>
            </a:solidFill>
          </a:ln>
        </p:spPr>
        <p:txBody>
          <a:bodyPr xmlns:a="http://schemas.openxmlformats.org/drawingml/2006/main" wrap="square" lIns="76200" tIns="38100" rIns="76200" bIns="38100" anchor="ctr">
            <a:noAutofit/>
          </a:bodyPr>
          <a:lstStyle xmlns:a="http://schemas.openxmlformats.org/drawingml/2006/main"/>
          <a:p xmlns:a="http://schemas.openxmlformats.org/drawingml/2006/main"/>
        </p:txBody>
      </p:sp>
      <p:pic>
        <p:nvPicPr>
          <p:cNvPr id="364" name="图片 18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14f7cfd15c14c78">
            <a:extLst>
              <a:ext uri="{96DAC541-7B7A-43D3-8B79-37D633B846F1}">
                <asvg:svgBlip xmlns:asvg="http://schemas.microsoft.com/office/drawing/2016/SVG/main" r:embed="R5e2de42bafa94967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191000" y="3248025"/>
            <a:ext cx="219075" cy="219075"/>
          </a:xfrm>
          <a:prstGeom xmlns:a="http://schemas.openxmlformats.org/drawingml/2006/main" prst="rect">
            <a:avLst/>
          </a:prstGeom>
        </p:spPr>
      </p:pic>
      <p:sp>
        <p:nvSpPr>
          <p:cNvPr id="44" name="Lead-k">
            <a:extLst xmlns:a="http://schemas.openxmlformats.org/drawingml/2006/main">
              <a:ext uri="{FF2B5EF4-FFF2-40B4-BE49-F238E27FC236}">
                <a16:creationId xmlns:a16="http://schemas.microsoft.com/office/drawing/2014/main" id="{BEEACCC5-B8A1-4BF7-9685-145976869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9920" y="3162300"/>
            <a:ext cx="11620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76200" tIns="38100" rIns="76200" bIns="381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1B2733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B2733"/>
                </a:solidFill>
                <a:latin typeface="Arial"/>
                <a:ea typeface="Arial"/>
                <a:cs typeface="Arial"/>
              </a:rPr>
              <a:t>Lead-k</a:t>
            </a:r>
            <a:endParaRPr sz="900" b="1">
              <a:solidFill>
                <a:srgbClr val="1B2733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5" name="圆角矩形 44">
            <a:extLst xmlns:a="http://schemas.openxmlformats.org/drawingml/2006/main">
              <a:ext uri="{FF2B5EF4-FFF2-40B4-BE49-F238E27FC236}">
                <a16:creationId xmlns:a16="http://schemas.microsoft.com/office/drawing/2014/main" id="{156202D8-D57E-4A78-84E3-EE06404C1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3657600"/>
            <a:ext cx="1619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906">
            <a:solidFill>
              <a:srgbClr val="8BCFC4"/>
            </a:solidFill>
          </a:ln>
        </p:spPr>
        <p:style>
          <a:lnRef xmlns:a="http://schemas.openxmlformats.org/drawingml/2006/main" idx="0">
            <a:srgbClr val="FFFFFF"/>
          </a:lnRef>
          <a:fillRef xmlns:a="http://schemas.openxmlformats.org/drawingml/2006/main" idx="0">
            <a:srgbClr val="FFFFFF"/>
          </a:fillRef>
          <a:effectRef xmlns:a="http://schemas.openxmlformats.org/drawingml/2006/main" idx="4">
            <a:srgbClr val="FFFFFF"/>
          </a:effectRef>
          <a:fontRef xmlns:a="http://schemas.openxmlformats.org/drawingml/2006/main" idx="major"/>
        </p:style>
        <p:txBody>
          <a:bodyPr xmlns:a="http://schemas.openxmlformats.org/drawingml/2006/main" wrap="square" lIns="76200" tIns="38100" rIns="76200" bIns="38100" anchor="ctr">
            <a:no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46" name="圆角矩形 45">
            <a:extLst xmlns:a="http://schemas.openxmlformats.org/drawingml/2006/main">
              <a:ext uri="{FF2B5EF4-FFF2-40B4-BE49-F238E27FC236}">
                <a16:creationId xmlns:a16="http://schemas.microsoft.com/office/drawing/2014/main" id="{E63CEAFF-48FC-43FF-82BE-5A0EF0E9E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3629025"/>
            <a:ext cx="57150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77777"/>
          </a:solidFill>
          <a:ln xmlns:a="http://schemas.openxmlformats.org/drawingml/2006/main" w="11906">
            <a:solidFill>
              <a:srgbClr val="777777"/>
            </a:solidFill>
          </a:ln>
        </p:spPr>
        <p:txBody>
          <a:bodyPr xmlns:a="http://schemas.openxmlformats.org/drawingml/2006/main" wrap="square" lIns="76200" tIns="38100" rIns="76200" bIns="38100" anchor="ctr">
            <a:noAutofit/>
          </a:bodyPr>
          <a:lstStyle xmlns:a="http://schemas.openxmlformats.org/drawingml/2006/main"/>
          <a:p xmlns:a="http://schemas.openxmlformats.org/drawingml/2006/main"/>
        </p:txBody>
      </p:sp>
      <p:pic>
        <p:nvPicPr>
          <p:cNvPr id="368" name="图片 19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ca103f17d234500">
            <a:extLst>
              <a:ext uri="{96DAC541-7B7A-43D3-8B79-37D633B846F1}">
                <asvg:svgBlip xmlns:asvg="http://schemas.microsoft.com/office/drawing/2016/SVG/main" r:embed="Ra4eb9b6385bd4325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191000" y="3733800"/>
            <a:ext cx="219075" cy="219075"/>
          </a:xfrm>
          <a:prstGeom xmlns:a="http://schemas.openxmlformats.org/drawingml/2006/main" prst="rect">
            <a:avLst/>
          </a:prstGeom>
        </p:spPr>
      </p:pic>
      <p:sp>
        <p:nvSpPr>
          <p:cNvPr id="48" name="Lexical overlap">
            <a:extLst xmlns:a="http://schemas.openxmlformats.org/drawingml/2006/main">
              <a:ext uri="{FF2B5EF4-FFF2-40B4-BE49-F238E27FC236}">
                <a16:creationId xmlns:a16="http://schemas.microsoft.com/office/drawing/2014/main" id="{1DAEBACD-75D7-44A1-973E-EF2EA24AD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9920" y="3695700"/>
            <a:ext cx="11620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76200" tIns="38100" rIns="76200" bIns="381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1B2733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B2733"/>
                </a:solidFill>
                <a:latin typeface="Arial"/>
                <a:ea typeface="Arial"/>
                <a:cs typeface="Arial"/>
              </a:rPr>
              <a:t>Lexical overlap</a:t>
            </a:r>
            <a:endParaRPr sz="900" b="1">
              <a:solidFill>
                <a:srgbClr val="1B2733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9" name="圆角矩形 48">
            <a:extLst xmlns:a="http://schemas.openxmlformats.org/drawingml/2006/main">
              <a:ext uri="{FF2B5EF4-FFF2-40B4-BE49-F238E27FC236}">
                <a16:creationId xmlns:a16="http://schemas.microsoft.com/office/drawing/2014/main" id="{5EE1DC2C-3849-4DE3-9A36-B7BA51102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4143375"/>
            <a:ext cx="1619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906">
            <a:solidFill>
              <a:srgbClr val="8BCFC4"/>
            </a:solidFill>
          </a:ln>
        </p:spPr>
        <p:style>
          <a:lnRef xmlns:a="http://schemas.openxmlformats.org/drawingml/2006/main" idx="0">
            <a:srgbClr val="FFFFFF"/>
          </a:lnRef>
          <a:fillRef xmlns:a="http://schemas.openxmlformats.org/drawingml/2006/main" idx="0">
            <a:srgbClr val="FFFFFF"/>
          </a:fillRef>
          <a:effectRef xmlns:a="http://schemas.openxmlformats.org/drawingml/2006/main" idx="4">
            <a:srgbClr val="FFFFFF"/>
          </a:effectRef>
          <a:fontRef xmlns:a="http://schemas.openxmlformats.org/drawingml/2006/main" idx="major"/>
        </p:style>
        <p:txBody>
          <a:bodyPr xmlns:a="http://schemas.openxmlformats.org/drawingml/2006/main" wrap="square" lIns="76200" tIns="38100" rIns="76200" bIns="38100" anchor="ctr">
            <a:no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50" name="圆角矩形 49">
            <a:extLst xmlns:a="http://schemas.openxmlformats.org/drawingml/2006/main">
              <a:ext uri="{FF2B5EF4-FFF2-40B4-BE49-F238E27FC236}">
                <a16:creationId xmlns:a16="http://schemas.microsoft.com/office/drawing/2014/main" id="{78C22DF3-A142-4A37-ABF6-5E677CEFC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4124325"/>
            <a:ext cx="57150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69F00"/>
          </a:solidFill>
          <a:ln xmlns:a="http://schemas.openxmlformats.org/drawingml/2006/main" w="11906">
            <a:solidFill>
              <a:srgbClr val="E69F00"/>
            </a:solidFill>
          </a:ln>
        </p:spPr>
        <p:txBody>
          <a:bodyPr xmlns:a="http://schemas.openxmlformats.org/drawingml/2006/main" wrap="square" lIns="76200" tIns="38100" rIns="76200" bIns="38100" anchor="ctr">
            <a:noAutofit/>
          </a:bodyPr>
          <a:lstStyle xmlns:a="http://schemas.openxmlformats.org/drawingml/2006/main"/>
          <a:p xmlns:a="http://schemas.openxmlformats.org/drawingml/2006/main"/>
        </p:txBody>
      </p:sp>
      <p:pic>
        <p:nvPicPr>
          <p:cNvPr id="372" name="图片 19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bdb394d7ef341ca">
            <a:extLst>
              <a:ext uri="{96DAC541-7B7A-43D3-8B79-37D633B846F1}">
                <asvg:svgBlip xmlns:asvg="http://schemas.microsoft.com/office/drawing/2016/SVG/main" r:embed="R1322374e039742a2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191000" y="4191000"/>
            <a:ext cx="219075" cy="219075"/>
          </a:xfrm>
          <a:prstGeom xmlns:a="http://schemas.openxmlformats.org/drawingml/2006/main" prst="rect">
            <a:avLst/>
          </a:prstGeom>
        </p:spPr>
      </p:pic>
      <p:sp>
        <p:nvSpPr>
          <p:cNvPr id="52" name="Document-local BM25">
            <a:extLst xmlns:a="http://schemas.openxmlformats.org/drawingml/2006/main">
              <a:ext uri="{FF2B5EF4-FFF2-40B4-BE49-F238E27FC236}">
                <a16:creationId xmlns:a16="http://schemas.microsoft.com/office/drawing/2014/main" id="{E18897FF-DE85-430C-8979-49D6F5587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9920" y="4152900"/>
            <a:ext cx="11620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76200" tIns="38100" rIns="76200" bIns="381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1B2733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B2733"/>
                </a:solidFill>
                <a:latin typeface="Arial"/>
                <a:ea typeface="Arial"/>
                <a:cs typeface="Arial"/>
              </a:rPr>
              <a:t>Document-local BM25</a:t>
            </a:r>
            <a:endParaRPr sz="900" b="1">
              <a:solidFill>
                <a:srgbClr val="1B2733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3" name="圆角矩形 52">
            <a:extLst xmlns:a="http://schemas.openxmlformats.org/drawingml/2006/main">
              <a:ext uri="{FF2B5EF4-FFF2-40B4-BE49-F238E27FC236}">
                <a16:creationId xmlns:a16="http://schemas.microsoft.com/office/drawing/2014/main" id="{D7DA4330-9147-459D-BBA6-56614B34D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4905375"/>
            <a:ext cx="1619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906">
            <a:solidFill>
              <a:srgbClr val="8BCFC4"/>
            </a:solidFill>
          </a:ln>
        </p:spPr>
        <p:style>
          <a:lnRef xmlns:a="http://schemas.openxmlformats.org/drawingml/2006/main" idx="0">
            <a:srgbClr val="FFFFFF"/>
          </a:lnRef>
          <a:fillRef xmlns:a="http://schemas.openxmlformats.org/drawingml/2006/main" idx="0">
            <a:srgbClr val="FFFFFF"/>
          </a:fillRef>
          <a:effectRef xmlns:a="http://schemas.openxmlformats.org/drawingml/2006/main" idx="4">
            <a:srgbClr val="FFFFFF"/>
          </a:effectRef>
          <a:fontRef xmlns:a="http://schemas.openxmlformats.org/drawingml/2006/main" idx="major"/>
        </p:style>
        <p:txBody>
          <a:bodyPr xmlns:a="http://schemas.openxmlformats.org/drawingml/2006/main" wrap="square" lIns="76200" tIns="38100" rIns="76200" bIns="38100" anchor="ctr">
            <a:no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54" name="圆角矩形 53">
            <a:extLst xmlns:a="http://schemas.openxmlformats.org/drawingml/2006/main">
              <a:ext uri="{FF2B5EF4-FFF2-40B4-BE49-F238E27FC236}">
                <a16:creationId xmlns:a16="http://schemas.microsoft.com/office/drawing/2014/main" id="{41C6A76D-4668-4685-899B-88E9C4808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4890135"/>
            <a:ext cx="57150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9E73"/>
          </a:solidFill>
          <a:ln xmlns:a="http://schemas.openxmlformats.org/drawingml/2006/main" w="11906">
            <a:solidFill>
              <a:srgbClr val="009E73"/>
            </a:solidFill>
          </a:ln>
        </p:spPr>
        <p:txBody>
          <a:bodyPr xmlns:a="http://schemas.openxmlformats.org/drawingml/2006/main" wrap="square" lIns="76200" tIns="38100" rIns="76200" bIns="38100" anchor="ctr">
            <a:noAutofit/>
          </a:bodyPr>
          <a:lstStyle xmlns:a="http://schemas.openxmlformats.org/drawingml/2006/main"/>
          <a:p xmlns:a="http://schemas.openxmlformats.org/drawingml/2006/main"/>
        </p:txBody>
      </p:sp>
      <p:pic>
        <p:nvPicPr>
          <p:cNvPr id="376" name="图片 20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48b14f7e5124af7">
            <a:extLst>
              <a:ext uri="{96DAC541-7B7A-43D3-8B79-37D633B846F1}">
                <asvg:svgBlip xmlns:asvg="http://schemas.microsoft.com/office/drawing/2016/SVG/main" r:embed="R277e0dc1804d4c3b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191000" y="4961890"/>
            <a:ext cx="219075" cy="219075"/>
          </a:xfrm>
          <a:prstGeom xmlns:a="http://schemas.openxmlformats.org/drawingml/2006/main" prst="rect">
            <a:avLst/>
          </a:prstGeom>
        </p:spPr>
      </p:pic>
      <p:sp>
        <p:nvSpPr>
          <p:cNvPr id="56" name="MiniLM bi-encoder">
            <a:extLst xmlns:a="http://schemas.openxmlformats.org/drawingml/2006/main">
              <a:ext uri="{FF2B5EF4-FFF2-40B4-BE49-F238E27FC236}">
                <a16:creationId xmlns:a16="http://schemas.microsoft.com/office/drawing/2014/main" id="{C963CD78-72C3-40F4-88A8-A0AE2928B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9920" y="4905375"/>
            <a:ext cx="11620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76200" tIns="38100" rIns="76200" bIns="381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1B2733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B2733"/>
                </a:solidFill>
                <a:latin typeface="Arial"/>
                <a:ea typeface="Arial"/>
                <a:cs typeface="Arial"/>
              </a:rPr>
              <a:t>MiniLM bi-encoder</a:t>
            </a:r>
            <a:endParaRPr sz="900" b="1">
              <a:solidFill>
                <a:srgbClr val="1B2733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7" name="圆角矩形 56">
            <a:extLst xmlns:a="http://schemas.openxmlformats.org/drawingml/2006/main">
              <a:ext uri="{FF2B5EF4-FFF2-40B4-BE49-F238E27FC236}">
                <a16:creationId xmlns:a16="http://schemas.microsoft.com/office/drawing/2014/main" id="{7398F5D0-5573-4B9C-B236-B5E7E0038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5534025"/>
            <a:ext cx="1619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906">
            <a:solidFill>
              <a:srgbClr val="8BCFC4"/>
            </a:solidFill>
          </a:ln>
        </p:spPr>
        <p:style>
          <a:lnRef xmlns:a="http://schemas.openxmlformats.org/drawingml/2006/main" idx="0">
            <a:srgbClr val="FFFFFF"/>
          </a:lnRef>
          <a:fillRef xmlns:a="http://schemas.openxmlformats.org/drawingml/2006/main" idx="0">
            <a:srgbClr val="FFFFFF"/>
          </a:fillRef>
          <a:effectRef xmlns:a="http://schemas.openxmlformats.org/drawingml/2006/main" idx="4">
            <a:srgbClr val="FFFFFF"/>
          </a:effectRef>
          <a:fontRef xmlns:a="http://schemas.openxmlformats.org/drawingml/2006/main" idx="major"/>
        </p:style>
        <p:txBody>
          <a:bodyPr xmlns:a="http://schemas.openxmlformats.org/drawingml/2006/main" wrap="square" lIns="76200" tIns="38100" rIns="76200" bIns="38100" anchor="ctr">
            <a:no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58" name="圆角矩形 57">
            <a:extLst xmlns:a="http://schemas.openxmlformats.org/drawingml/2006/main">
              <a:ext uri="{FF2B5EF4-FFF2-40B4-BE49-F238E27FC236}">
                <a16:creationId xmlns:a16="http://schemas.microsoft.com/office/drawing/2014/main" id="{F318A286-4A2A-4089-BF58-1A5CAF743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9875" y="5524500"/>
            <a:ext cx="57150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72B2"/>
          </a:solidFill>
          <a:ln xmlns:a="http://schemas.openxmlformats.org/drawingml/2006/main" w="11906">
            <a:solidFill>
              <a:srgbClr val="0072B2"/>
            </a:solidFill>
          </a:ln>
        </p:spPr>
        <p:txBody>
          <a:bodyPr xmlns:a="http://schemas.openxmlformats.org/drawingml/2006/main" wrap="square" lIns="76200" tIns="38100" rIns="76200" bIns="38100" anchor="ctr">
            <a:noAutofit/>
          </a:bodyPr>
          <a:lstStyle xmlns:a="http://schemas.openxmlformats.org/drawingml/2006/main"/>
          <a:p xmlns:a="http://schemas.openxmlformats.org/drawingml/2006/main"/>
        </p:txBody>
      </p:sp>
      <p:pic>
        <p:nvPicPr>
          <p:cNvPr id="380" name="图片 20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5fd95d0cca747a1">
            <a:extLst>
              <a:ext uri="{96DAC541-7B7A-43D3-8B79-37D633B846F1}">
                <asvg:svgBlip xmlns:asvg="http://schemas.microsoft.com/office/drawing/2016/SVG/main" r:embed="Re8a303014f63492d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191000" y="5610225"/>
            <a:ext cx="219075" cy="219075"/>
          </a:xfrm>
          <a:prstGeom xmlns:a="http://schemas.openxmlformats.org/drawingml/2006/main" prst="rect">
            <a:avLst/>
          </a:prstGeom>
        </p:spPr>
      </p:pic>
      <p:sp>
        <p:nvSpPr>
          <p:cNvPr id="60" name="BGE cross-encoder">
            <a:extLst xmlns:a="http://schemas.openxmlformats.org/drawingml/2006/main">
              <a:ext uri="{FF2B5EF4-FFF2-40B4-BE49-F238E27FC236}">
                <a16:creationId xmlns:a16="http://schemas.microsoft.com/office/drawing/2014/main" id="{21320217-8661-4982-81FB-539397E0E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7225" y="5524500"/>
            <a:ext cx="11620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76200" tIns="38100" rIns="76200" bIns="381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1B2733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B2733"/>
                </a:solidFill>
                <a:latin typeface="Arial"/>
                <a:ea typeface="Arial"/>
                <a:cs typeface="Arial"/>
              </a:rPr>
              <a:t>BGE cross-encoder</a:t>
            </a:r>
            <a:endParaRPr sz="900" b="1">
              <a:solidFill>
                <a:srgbClr val="1B2733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1" name="NEURAL SELECTORS">
            <a:extLst xmlns:a="http://schemas.openxmlformats.org/drawingml/2006/main">
              <a:ext uri="{FF2B5EF4-FFF2-40B4-BE49-F238E27FC236}">
                <a16:creationId xmlns:a16="http://schemas.microsoft.com/office/drawing/2014/main" id="{3DA6CF24-FA80-4916-8F98-E3CE5CF90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9875" y="4591050"/>
            <a:ext cx="1619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76200" tIns="38100" rIns="76200" bIns="381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790" b="1">
                <a:solidFill>
                  <a:srgbClr val="5B6872"/>
                </a:solidFill>
                <a:latin typeface="Arial"/>
                <a:ea typeface="Arial"/>
                <a:cs typeface="Arial"/>
              </a:defRPr>
            </a:pPr>
            <a:r>
              <a:rPr sz="790" b="1">
                <a:solidFill>
                  <a:srgbClr val="5B6872"/>
                </a:solidFill>
                <a:latin typeface="Arial"/>
                <a:ea typeface="Arial"/>
                <a:cs typeface="Arial"/>
              </a:rPr>
              <a:t>NEURAL SELECTORS</a:t>
            </a:r>
            <a:endParaRPr sz="790" b="1">
              <a:solidFill>
                <a:srgbClr val="5B6872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2" name="圆角矩形 61">
            <a:extLst xmlns:a="http://schemas.openxmlformats.org/drawingml/2006/main">
              <a:ext uri="{FF2B5EF4-FFF2-40B4-BE49-F238E27FC236}">
                <a16:creationId xmlns:a16="http://schemas.microsoft.com/office/drawing/2014/main" id="{AE25F658-C2F3-4D8D-91F5-2DB0F47E9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3067050"/>
            <a:ext cx="1047750" cy="277114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F8FCFB"/>
          </a:solidFill>
          <a:ln xmlns:a="http://schemas.openxmlformats.org/drawingml/2006/main" w="11906">
            <a:solidFill>
              <a:srgbClr val="6EBBAD"/>
            </a:solidFill>
          </a:ln>
        </p:spPr>
        <p:style>
          <a:lnRef xmlns:a="http://schemas.openxmlformats.org/drawingml/2006/main" idx="0">
            <a:srgbClr val="FFFFFF"/>
          </a:lnRef>
          <a:fillRef xmlns:a="http://schemas.openxmlformats.org/drawingml/2006/main" idx="0">
            <a:srgbClr val="FFFFFF"/>
          </a:fillRef>
          <a:effectRef xmlns:a="http://schemas.openxmlformats.org/drawingml/2006/main" idx="4">
            <a:srgbClr val="FFFFFF"/>
          </a:effectRef>
          <a:fontRef xmlns:a="http://schemas.openxmlformats.org/drawingml/2006/main" idx="major"/>
        </p:style>
        <p:txBody>
          <a:bodyPr xmlns:a="http://schemas.openxmlformats.org/drawingml/2006/main" wrap="square" lIns="76200" tIns="38100" rIns="76200" bIns="38100" anchor="ctr">
            <a:noAutofit/>
          </a:bodyPr>
          <a:lstStyle xmlns:a="http://schemas.openxmlformats.org/drawingml/2006/main"/>
          <a:p xmlns:a="http://schemas.openxmlformats.org/drawingml/2006/main"/>
        </p:txBody>
      </p:sp>
      <p:pic>
        <p:nvPicPr>
          <p:cNvPr id="384" name="图片 20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31c7807767a49c8">
            <a:extLst>
              <a:ext uri="{96DAC541-7B7A-43D3-8B79-37D633B846F1}">
                <asvg:svgBlip xmlns:asvg="http://schemas.microsoft.com/office/drawing/2016/SVG/main" r:embed="R134afb51f3ea46da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105525" y="3209925"/>
            <a:ext cx="419100" cy="419100"/>
          </a:xfrm>
          <a:prstGeom xmlns:a="http://schemas.openxmlformats.org/drawingml/2006/main" prst="rect">
            <a:avLst/>
          </a:prstGeom>
        </p:spPr>
      </p:pic>
      <p:sp>
        <p:nvSpPr>
          <p:cNvPr id="64" name="Score and&#10;rank units">
            <a:extLst xmlns:a="http://schemas.openxmlformats.org/drawingml/2006/main">
              <a:ext uri="{FF2B5EF4-FFF2-40B4-BE49-F238E27FC236}">
                <a16:creationId xmlns:a16="http://schemas.microsoft.com/office/drawing/2014/main" id="{C231C166-3248-4A92-B778-E6C97F956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3676650"/>
            <a:ext cx="9334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76200" tIns="38100" rIns="762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1B2733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B2733"/>
                </a:solidFill>
                <a:latin typeface="Arial"/>
                <a:ea typeface="Arial"/>
                <a:cs typeface="Arial"/>
              </a:rPr>
              <a:t>Score and</a:t>
            </a:r>
            <a:endParaRPr sz="1050" b="1">
              <a:solidFill>
                <a:srgbClr val="1B2733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algn="ctr">
              <a:buNone/>
              <a:defRPr sz="1050" b="1">
                <a:solidFill>
                  <a:srgbClr val="1B2733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B2733"/>
                </a:solidFill>
                <a:latin typeface="Arial"/>
                <a:ea typeface="Arial"/>
                <a:cs typeface="Arial"/>
              </a:rPr>
              <a:t>rank units</a:t>
            </a:r>
            <a:endParaRPr sz="1050" b="1">
              <a:solidFill>
                <a:srgbClr val="1B2733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5" name="Top-k view">
            <a:extLst xmlns:a="http://schemas.openxmlformats.org/drawingml/2006/main">
              <a:ext uri="{FF2B5EF4-FFF2-40B4-BE49-F238E27FC236}">
                <a16:creationId xmlns:a16="http://schemas.microsoft.com/office/drawing/2014/main" id="{BA5CCDC9-DAFB-4E8A-9D6C-68F3C7E86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4410075"/>
            <a:ext cx="838200" cy="247650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D9F0E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19050" rIns="47625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176C64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76C64"/>
                </a:solidFill>
                <a:latin typeface="Arial"/>
                <a:ea typeface="Arial"/>
                <a:cs typeface="Arial"/>
              </a:rPr>
              <a:t>Top-k view</a:t>
            </a:r>
            <a:endParaRPr sz="975" b="1">
              <a:solidFill>
                <a:srgbClr val="176C64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6" name="k = 2 or 4">
            <a:extLst xmlns:a="http://schemas.openxmlformats.org/drawingml/2006/main">
              <a:ext uri="{FF2B5EF4-FFF2-40B4-BE49-F238E27FC236}">
                <a16:creationId xmlns:a16="http://schemas.microsoft.com/office/drawing/2014/main" id="{3DA8FC2E-8F62-4FB9-8495-7A024F998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4772025"/>
            <a:ext cx="838200" cy="247650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EAF7F4"/>
          </a:solidFill>
          <a:ln xmlns:a="http://schemas.openxmlformats.org/drawingml/2006/main" w="11906">
            <a:solidFill>
              <a:srgbClr val="8BCFC4"/>
            </a:solidFill>
          </a:ln>
        </p:spPr>
        <p:txBody>
          <a:bodyPr xmlns:a="http://schemas.openxmlformats.org/drawingml/2006/main" wrap="square" lIns="47625" tIns="19050" rIns="47625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176C64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76C64"/>
                </a:solidFill>
                <a:latin typeface="Arial"/>
                <a:ea typeface="Arial"/>
                <a:cs typeface="Arial"/>
              </a:rPr>
              <a:t>k = 2 or 4</a:t>
            </a:r>
            <a:endParaRPr sz="975" b="1">
              <a:solidFill>
                <a:srgbClr val="176C64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7" name="#1, #2, …, #k">
            <a:extLst xmlns:a="http://schemas.openxmlformats.org/drawingml/2006/main">
              <a:ext uri="{FF2B5EF4-FFF2-40B4-BE49-F238E27FC236}">
                <a16:creationId xmlns:a16="http://schemas.microsoft.com/office/drawing/2014/main" id="{45FC9FA4-51B2-4ACF-A9E4-DB0EBA36C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5124450"/>
            <a:ext cx="83820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DCEFFC"/>
          </a:solidFill>
          <a:ln xmlns:a="http://schemas.openxmlformats.org/drawingml/2006/main" w="11906">
            <a:solidFill>
              <a:srgbClr val="AAC7DB"/>
            </a:solidFill>
          </a:ln>
        </p:spPr>
        <p:txBody>
          <a:bodyPr xmlns:a="http://schemas.openxmlformats.org/drawingml/2006/main" wrap="square" lIns="76200" tIns="38100" rIns="762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790" b="1">
                <a:solidFill>
                  <a:srgbClr val="1B2733"/>
                </a:solidFill>
                <a:latin typeface="Arial"/>
                <a:ea typeface="Arial"/>
                <a:cs typeface="Arial"/>
              </a:defRPr>
            </a:pPr>
            <a:r>
              <a:rPr sz="790" b="1">
                <a:solidFill>
                  <a:srgbClr val="1B2733"/>
                </a:solidFill>
                <a:latin typeface="Arial"/>
                <a:ea typeface="Arial"/>
                <a:cs typeface="Arial"/>
              </a:rPr>
              <a:t>#1, #2, …, #k</a:t>
            </a:r>
            <a:endParaRPr sz="790" b="1">
              <a:solidFill>
                <a:srgbClr val="1B2733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8" name="selected units">
            <a:extLst xmlns:a="http://schemas.openxmlformats.org/drawingml/2006/main">
              <a:ext uri="{FF2B5EF4-FFF2-40B4-BE49-F238E27FC236}">
                <a16:creationId xmlns:a16="http://schemas.microsoft.com/office/drawing/2014/main" id="{49581530-25AA-48F4-A6BB-EACA784B8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5486400"/>
            <a:ext cx="83820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FE5C7"/>
          </a:solidFill>
          <a:ln xmlns:a="http://schemas.openxmlformats.org/drawingml/2006/main" w="11906">
            <a:solidFill>
              <a:srgbClr val="E7B46E"/>
            </a:solidFill>
          </a:ln>
        </p:spPr>
        <p:txBody>
          <a:bodyPr xmlns:a="http://schemas.openxmlformats.org/drawingml/2006/main" wrap="square" lIns="76200" tIns="38100" rIns="762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825" b="1">
                <a:solidFill>
                  <a:srgbClr val="1B2733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1B2733"/>
                </a:solidFill>
                <a:latin typeface="Arial"/>
                <a:ea typeface="Arial"/>
                <a:cs typeface="Arial"/>
              </a:rPr>
              <a:t>selected units</a:t>
            </a:r>
            <a:endParaRPr sz="825" b="1">
              <a:solidFill>
                <a:srgbClr val="1B2733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9" name="矩形 68">
            <a:extLst xmlns:a="http://schemas.openxmlformats.org/drawingml/2006/main">
              <a:ext uri="{FF2B5EF4-FFF2-40B4-BE49-F238E27FC236}">
                <a16:creationId xmlns:a16="http://schemas.microsoft.com/office/drawing/2014/main" id="{D1F358AE-3710-460E-ABBF-F08E9005C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24525" y="4286250"/>
            <a:ext cx="19050" cy="1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76200" tIns="38100" rIns="76200" bIns="38100" anchor="ctr">
            <a:no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70" name="任意多边形 69">
            <a:extLst xmlns:a="http://schemas.openxmlformats.org/drawingml/2006/main">
              <a:ext uri="{FF2B5EF4-FFF2-40B4-BE49-F238E27FC236}">
                <a16:creationId xmlns:a16="http://schemas.microsoft.com/office/drawing/2014/main" id="{CE6F30E1-5D07-47E3-A99F-D3AF226BB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3267075"/>
            <a:ext cx="38100" cy="9525"/>
          </a:xfrm>
          <a:custGeom xmlns:a="http://schemas.openxmlformats.org/drawingml/2006/main">
            <a:pathLst>
              <a:path w="38100" h="9525">
                <a:moveTo>
                  <a:pt x="0" y="0"/>
                </a:moveTo>
                <a:lnTo>
                  <a:pt x="38100" y="9525"/>
                </a:lnTo>
              </a:path>
            </a:pathLst>
          </a:custGeom>
          <a:noFill xmlns:a="http://schemas.openxmlformats.org/drawingml/2006/main"/>
          <a:ln xmlns:a="http://schemas.openxmlformats.org/drawingml/2006/main" w="10478">
            <a:solidFill>
              <a:srgbClr val="4D817B"/>
            </a:solidFill>
            <a:prstDash val="solid"/>
          </a:ln>
        </p:spPr>
      </p:sp>
      <p:sp>
        <p:nvSpPr>
          <p:cNvPr id="71" name="任意多边形 70">
            <a:extLst xmlns:a="http://schemas.openxmlformats.org/drawingml/2006/main">
              <a:ext uri="{FF2B5EF4-FFF2-40B4-BE49-F238E27FC236}">
                <a16:creationId xmlns:a16="http://schemas.microsoft.com/office/drawing/2014/main" id="{CEDA0C05-032D-4205-A11D-CC205D466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3724275"/>
            <a:ext cx="38100" cy="9525"/>
          </a:xfrm>
          <a:custGeom xmlns:a="http://schemas.openxmlformats.org/drawingml/2006/main">
            <a:pathLst>
              <a:path w="38100" h="9525">
                <a:moveTo>
                  <a:pt x="0" y="0"/>
                </a:moveTo>
                <a:lnTo>
                  <a:pt x="38100" y="9525"/>
                </a:lnTo>
              </a:path>
            </a:pathLst>
          </a:custGeom>
          <a:noFill xmlns:a="http://schemas.openxmlformats.org/drawingml/2006/main"/>
          <a:ln xmlns:a="http://schemas.openxmlformats.org/drawingml/2006/main" w="10478">
            <a:solidFill>
              <a:srgbClr val="4D817B"/>
            </a:solidFill>
            <a:prstDash val="solid"/>
          </a:ln>
        </p:spPr>
      </p:sp>
      <p:sp>
        <p:nvSpPr>
          <p:cNvPr id="72" name="任意多边形 71">
            <a:extLst xmlns:a="http://schemas.openxmlformats.org/drawingml/2006/main">
              <a:ext uri="{FF2B5EF4-FFF2-40B4-BE49-F238E27FC236}">
                <a16:creationId xmlns:a16="http://schemas.microsoft.com/office/drawing/2014/main" id="{C263755F-2930-4FB0-9072-3529CC3E7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4181475"/>
            <a:ext cx="38100" cy="9525"/>
          </a:xfrm>
          <a:custGeom xmlns:a="http://schemas.openxmlformats.org/drawingml/2006/main">
            <a:pathLst>
              <a:path w="38100" h="9525">
                <a:moveTo>
                  <a:pt x="0" y="0"/>
                </a:moveTo>
                <a:lnTo>
                  <a:pt x="38100" y="9525"/>
                </a:lnTo>
              </a:path>
            </a:pathLst>
          </a:custGeom>
          <a:noFill xmlns:a="http://schemas.openxmlformats.org/drawingml/2006/main"/>
          <a:ln xmlns:a="http://schemas.openxmlformats.org/drawingml/2006/main" w="10478">
            <a:solidFill>
              <a:srgbClr val="4D817B"/>
            </a:solidFill>
            <a:prstDash val="solid"/>
          </a:ln>
        </p:spPr>
      </p:sp>
      <p:sp>
        <p:nvSpPr>
          <p:cNvPr id="73" name="任意多边形 72">
            <a:extLst xmlns:a="http://schemas.openxmlformats.org/drawingml/2006/main">
              <a:ext uri="{FF2B5EF4-FFF2-40B4-BE49-F238E27FC236}">
                <a16:creationId xmlns:a16="http://schemas.microsoft.com/office/drawing/2014/main" id="{5F88A36A-AA2E-4BA2-841B-46932C07B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4895850"/>
            <a:ext cx="38100" cy="9525"/>
          </a:xfrm>
          <a:custGeom xmlns:a="http://schemas.openxmlformats.org/drawingml/2006/main">
            <a:pathLst>
              <a:path w="38100" h="9525">
                <a:moveTo>
                  <a:pt x="0" y="0"/>
                </a:moveTo>
                <a:lnTo>
                  <a:pt x="38100" y="9525"/>
                </a:lnTo>
              </a:path>
            </a:pathLst>
          </a:custGeom>
          <a:noFill xmlns:a="http://schemas.openxmlformats.org/drawingml/2006/main"/>
          <a:ln xmlns:a="http://schemas.openxmlformats.org/drawingml/2006/main" w="10478">
            <a:solidFill>
              <a:srgbClr val="4D817B"/>
            </a:solidFill>
            <a:prstDash val="solid"/>
          </a:ln>
        </p:spPr>
      </p:sp>
      <p:sp>
        <p:nvSpPr>
          <p:cNvPr id="74" name="任意多边形 73">
            <a:extLst xmlns:a="http://schemas.openxmlformats.org/drawingml/2006/main">
              <a:ext uri="{FF2B5EF4-FFF2-40B4-BE49-F238E27FC236}">
                <a16:creationId xmlns:a16="http://schemas.microsoft.com/office/drawing/2014/main" id="{4DAB1765-2DC1-4A1B-9B81-37E650549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5353050"/>
            <a:ext cx="38100" cy="9525"/>
          </a:xfrm>
          <a:custGeom xmlns:a="http://schemas.openxmlformats.org/drawingml/2006/main">
            <a:pathLst>
              <a:path w="38100" h="9525">
                <a:moveTo>
                  <a:pt x="0" y="0"/>
                </a:moveTo>
                <a:lnTo>
                  <a:pt x="38100" y="9525"/>
                </a:lnTo>
              </a:path>
            </a:pathLst>
          </a:custGeom>
          <a:noFill xmlns:a="http://schemas.openxmlformats.org/drawingml/2006/main"/>
          <a:ln xmlns:a="http://schemas.openxmlformats.org/drawingml/2006/main" w="10478">
            <a:solidFill>
              <a:srgbClr val="4D817B"/>
            </a:solidFill>
            <a:prstDash val="solid"/>
          </a:ln>
        </p:spPr>
      </p:sp>
      <p:sp>
        <p:nvSpPr>
          <p:cNvPr id="75" name="任意多边形 74">
            <a:extLst xmlns:a="http://schemas.openxmlformats.org/drawingml/2006/main">
              <a:ext uri="{FF2B5EF4-FFF2-40B4-BE49-F238E27FC236}">
                <a16:creationId xmlns:a16="http://schemas.microsoft.com/office/drawing/2014/main" id="{C9CB1ABB-6480-41A7-B2C1-E4EFCB0B4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3267075"/>
            <a:ext cx="9525" cy="2085975"/>
          </a:xfrm>
          <a:custGeom xmlns:a="http://schemas.openxmlformats.org/drawingml/2006/main">
            <a:pathLst>
              <a:path w="9525" h="2085975">
                <a:moveTo>
                  <a:pt x="0" y="0"/>
                </a:moveTo>
                <a:lnTo>
                  <a:pt x="9525" y="2085975"/>
                </a:lnTo>
              </a:path>
            </a:pathLst>
          </a:custGeom>
          <a:noFill xmlns:a="http://schemas.openxmlformats.org/drawingml/2006/main"/>
          <a:ln xmlns:a="http://schemas.openxmlformats.org/drawingml/2006/main" w="12383">
            <a:solidFill>
              <a:srgbClr val="4D817B"/>
            </a:solidFill>
            <a:prstDash val="solid"/>
          </a:ln>
        </p:spPr>
      </p:sp>
      <p:sp>
        <p:nvSpPr>
          <p:cNvPr id="77" name="Same source units and output b">
            <a:extLst xmlns:a="http://schemas.openxmlformats.org/drawingml/2006/main">
              <a:ext uri="{FF2B5EF4-FFF2-40B4-BE49-F238E27FC236}">
                <a16:creationId xmlns:a16="http://schemas.microsoft.com/office/drawing/2014/main" id="{6A061DD4-539F-4102-BD34-3686419C5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9875" y="6143625"/>
            <a:ext cx="2762250" cy="352425"/>
          </a:xfrm>
          <a:prstGeom xmlns:a="http://schemas.openxmlformats.org/drawingml/2006/main" prst="roundRect">
            <a:avLst>
              <a:gd name="adj" fmla="val 216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906">
            <a:solidFill>
              <a:srgbClr val="8BCFC4"/>
            </a:solidFill>
          </a:ln>
        </p:spPr>
        <p:txBody>
          <a:bodyPr xmlns:a="http://schemas.openxmlformats.org/drawingml/2006/main" wrap="square" lIns="76200" tIns="38100" rIns="762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940" b="1">
                <a:solidFill>
                  <a:srgbClr val="176C64"/>
                </a:solidFill>
                <a:latin typeface="Arial"/>
                <a:ea typeface="Arial"/>
                <a:cs typeface="Arial"/>
              </a:defRPr>
            </a:pPr>
            <a:r>
              <a:rPr sz="940" b="1">
                <a:solidFill>
                  <a:srgbClr val="176C64"/>
                </a:solidFill>
                <a:latin typeface="Arial"/>
                <a:ea typeface="Arial"/>
                <a:cs typeface="Arial"/>
              </a:rPr>
              <a:t>Same source units and output budget</a:t>
            </a:r>
            <a:endParaRPr sz="940" b="1">
              <a:solidFill>
                <a:srgbClr val="176C64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8" name="圆角矩形 77">
            <a:extLst xmlns:a="http://schemas.openxmlformats.org/drawingml/2006/main">
              <a:ext uri="{FF2B5EF4-FFF2-40B4-BE49-F238E27FC236}">
                <a16:creationId xmlns:a16="http://schemas.microsoft.com/office/drawing/2014/main" id="{892AE9FA-4BC1-4293-BFB8-584DCDF9E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076450"/>
            <a:ext cx="3390900" cy="1752600"/>
          </a:xfrm>
          <a:prstGeom xmlns:a="http://schemas.openxmlformats.org/drawingml/2006/main" prst="roundRect">
            <a:avLst>
              <a:gd name="adj" fmla="val 4348"/>
            </a:avLst>
          </a:prstGeom>
          <a:solidFill xmlns:a="http://schemas.openxmlformats.org/drawingml/2006/main">
            <a:srgbClr val="EEF4FC"/>
          </a:solidFill>
          <a:ln xmlns:a="http://schemas.openxmlformats.org/drawingml/2006/main" w="11906">
            <a:solidFill>
              <a:srgbClr val="9EA6D2"/>
            </a:solidFill>
          </a:ln>
        </p:spPr>
        <p:style>
          <a:lnRef xmlns:a="http://schemas.openxmlformats.org/drawingml/2006/main" idx="0">
            <a:srgbClr val="FFFFFF"/>
          </a:lnRef>
          <a:fillRef xmlns:a="http://schemas.openxmlformats.org/drawingml/2006/main" idx="0">
            <a:srgbClr val="FFFFFF"/>
          </a:fillRef>
          <a:effectRef xmlns:a="http://schemas.openxmlformats.org/drawingml/2006/main" idx="4">
            <a:srgbClr val="FFFFFF"/>
          </a:effectRef>
          <a:fontRef xmlns:a="http://schemas.openxmlformats.org/drawingml/2006/main" idx="major"/>
        </p:style>
        <p:txBody>
          <a:bodyPr xmlns:a="http://schemas.openxmlformats.org/drawingml/2006/main" wrap="square" lIns="76200" tIns="38100" rIns="76200" bIns="38100" anchor="ctr">
            <a:no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79" name="C1">
            <a:extLst xmlns:a="http://schemas.openxmlformats.org/drawingml/2006/main">
              <a:ext uri="{FF2B5EF4-FFF2-40B4-BE49-F238E27FC236}">
                <a16:creationId xmlns:a16="http://schemas.microsoft.com/office/drawing/2014/main" id="{C407FC8A-A4FD-4745-9042-CD8204373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3775" y="2171700"/>
            <a:ext cx="40005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6667A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19050" rIns="47625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C1</a:t>
            </a:r>
            <a:endParaRPr sz="1200" b="1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0" name="Online source inspection">
            <a:extLst xmlns:a="http://schemas.openxmlformats.org/drawingml/2006/main">
              <a:ext uri="{FF2B5EF4-FFF2-40B4-BE49-F238E27FC236}">
                <a16:creationId xmlns:a16="http://schemas.microsoft.com/office/drawing/2014/main" id="{F949B786-5755-4211-BE15-E8DA45336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143125"/>
            <a:ext cx="26479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76200" tIns="38100" rIns="76200" bIns="381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B273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B2733"/>
                </a:solidFill>
                <a:latin typeface="Arial"/>
                <a:ea typeface="Arial"/>
                <a:cs typeface="Arial"/>
              </a:rPr>
              <a:t>Online source inspection</a:t>
            </a:r>
            <a:endParaRPr sz="1200" b="1">
              <a:solidFill>
                <a:srgbClr val="1B2733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1" name="圆角矩形 80">
            <a:extLst xmlns:a="http://schemas.openxmlformats.org/drawingml/2006/main">
              <a:ext uri="{FF2B5EF4-FFF2-40B4-BE49-F238E27FC236}">
                <a16:creationId xmlns:a16="http://schemas.microsoft.com/office/drawing/2014/main" id="{E3E905D8-997D-412B-9B25-049AFD1CF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2562225"/>
            <a:ext cx="685800" cy="9906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906">
            <a:solidFill>
              <a:srgbClr val="B8BFDF"/>
            </a:solidFill>
          </a:ln>
        </p:spPr>
        <p:style>
          <a:lnRef xmlns:a="http://schemas.openxmlformats.org/drawingml/2006/main" idx="0">
            <a:srgbClr val="FFFFFF"/>
          </a:lnRef>
          <a:fillRef xmlns:a="http://schemas.openxmlformats.org/drawingml/2006/main" idx="0">
            <a:srgbClr val="FFFFFF"/>
          </a:fillRef>
          <a:effectRef xmlns:a="http://schemas.openxmlformats.org/drawingml/2006/main" idx="4">
            <a:srgbClr val="FFFFFF"/>
          </a:effectRef>
          <a:fontRef xmlns:a="http://schemas.openxmlformats.org/drawingml/2006/main" idx="major"/>
        </p:style>
        <p:txBody>
          <a:bodyPr xmlns:a="http://schemas.openxmlformats.org/drawingml/2006/main" wrap="square" lIns="76200" tIns="38100" rIns="76200" bIns="38100" anchor="ctr">
            <a:noAutofit/>
          </a:bodyPr>
          <a:lstStyle xmlns:a="http://schemas.openxmlformats.org/drawingml/2006/main"/>
          <a:p xmlns:a="http://schemas.openxmlformats.org/drawingml/2006/main"/>
        </p:txBody>
      </p:sp>
      <p:pic>
        <p:nvPicPr>
          <p:cNvPr id="402" name="图片 22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f60afb60ffe4224">
            <a:extLst>
              <a:ext uri="{96DAC541-7B7A-43D3-8B79-37D633B846F1}">
                <asvg:svgBlip xmlns:asvg="http://schemas.microsoft.com/office/drawing/2016/SVG/main" r:embed="Rd579c376c45f4c77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534275" y="2695575"/>
            <a:ext cx="323850" cy="323850"/>
          </a:xfrm>
          <a:prstGeom xmlns:a="http://schemas.openxmlformats.org/drawingml/2006/main" prst="rect">
            <a:avLst/>
          </a:prstGeom>
        </p:spPr>
      </p:pic>
      <p:sp>
        <p:nvSpPr>
          <p:cNvPr id="83" name="Selected&#10;unit">
            <a:extLst xmlns:a="http://schemas.openxmlformats.org/drawingml/2006/main">
              <a:ext uri="{FF2B5EF4-FFF2-40B4-BE49-F238E27FC236}">
                <a16:creationId xmlns:a16="http://schemas.microsoft.com/office/drawing/2014/main" id="{08B981D5-F814-42D4-B914-C2C599C1A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3076575"/>
            <a:ext cx="609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76200" tIns="38100" rIns="762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865" b="1">
                <a:solidFill>
                  <a:srgbClr val="1B2733"/>
                </a:solidFill>
                <a:latin typeface="Arial"/>
                <a:ea typeface="Arial"/>
                <a:cs typeface="Arial"/>
              </a:defRPr>
            </a:pPr>
            <a:r>
              <a:rPr sz="865" b="1">
                <a:solidFill>
                  <a:srgbClr val="1B2733"/>
                </a:solidFill>
                <a:latin typeface="Arial"/>
                <a:ea typeface="Arial"/>
                <a:cs typeface="Arial"/>
              </a:rPr>
              <a:t>Selected</a:t>
            </a:r>
            <a:endParaRPr sz="865" b="1">
              <a:solidFill>
                <a:srgbClr val="1B2733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algn="ctr">
              <a:buNone/>
              <a:defRPr sz="865" b="1">
                <a:solidFill>
                  <a:srgbClr val="1B2733"/>
                </a:solidFill>
                <a:latin typeface="Arial"/>
                <a:ea typeface="Arial"/>
                <a:cs typeface="Arial"/>
              </a:defRPr>
            </a:pPr>
            <a:r>
              <a:rPr sz="865" b="1">
                <a:solidFill>
                  <a:srgbClr val="1B2733"/>
                </a:solidFill>
                <a:latin typeface="Arial"/>
                <a:ea typeface="Arial"/>
                <a:cs typeface="Arial"/>
              </a:rPr>
              <a:t>unit</a:t>
            </a:r>
            <a:endParaRPr sz="865" b="1">
              <a:solidFill>
                <a:srgbClr val="1B2733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4" name="圆角矩形 83">
            <a:extLst xmlns:a="http://schemas.openxmlformats.org/drawingml/2006/main">
              <a:ext uri="{FF2B5EF4-FFF2-40B4-BE49-F238E27FC236}">
                <a16:creationId xmlns:a16="http://schemas.microsoft.com/office/drawing/2014/main" id="{0D04C229-09ED-4A2F-8AE8-E3A042911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505075"/>
            <a:ext cx="838200" cy="11049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906">
            <a:solidFill>
              <a:srgbClr val="8792C6"/>
            </a:solidFill>
          </a:ln>
        </p:spPr>
        <p:style>
          <a:lnRef xmlns:a="http://schemas.openxmlformats.org/drawingml/2006/main" idx="0">
            <a:srgbClr val="FFFFFF"/>
          </a:lnRef>
          <a:fillRef xmlns:a="http://schemas.openxmlformats.org/drawingml/2006/main" idx="0">
            <a:srgbClr val="FFFFFF"/>
          </a:fillRef>
          <a:effectRef xmlns:a="http://schemas.openxmlformats.org/drawingml/2006/main" idx="4">
            <a:srgbClr val="FFFFFF"/>
          </a:effectRef>
          <a:fontRef xmlns:a="http://schemas.openxmlformats.org/drawingml/2006/main" idx="major"/>
        </p:style>
        <p:txBody>
          <a:bodyPr xmlns:a="http://schemas.openxmlformats.org/drawingml/2006/main" wrap="square" lIns="76200" tIns="38100" rIns="76200" bIns="38100" anchor="ctr">
            <a:no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85" name="¶27">
            <a:extLst xmlns:a="http://schemas.openxmlformats.org/drawingml/2006/main">
              <a:ext uri="{FF2B5EF4-FFF2-40B4-BE49-F238E27FC236}">
                <a16:creationId xmlns:a16="http://schemas.microsoft.com/office/drawing/2014/main" id="{0AA1698C-7A92-4B56-94D3-C63FB2283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8175" y="2638425"/>
            <a:ext cx="628650" cy="209550"/>
          </a:xfrm>
          <a:prstGeom xmlns:a="http://schemas.openxmlformats.org/drawingml/2006/main" prst="roundRect">
            <a:avLst>
              <a:gd name="adj" fmla="val 36364"/>
            </a:avLst>
          </a:prstGeom>
          <a:solidFill xmlns:a="http://schemas.openxmlformats.org/drawingml/2006/main">
            <a:srgbClr val="EEF0FF"/>
          </a:solidFill>
          <a:ln xmlns:a="http://schemas.openxmlformats.org/drawingml/2006/main" w="11906">
            <a:solidFill>
              <a:srgbClr val="B8BFDF"/>
            </a:solidFill>
          </a:ln>
        </p:spPr>
        <p:txBody>
          <a:bodyPr xmlns:a="http://schemas.openxmlformats.org/drawingml/2006/main" wrap="square" lIns="76200" tIns="38100" rIns="762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6667AB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6667AB"/>
                </a:solidFill>
                <a:latin typeface="Arial"/>
                <a:ea typeface="Arial"/>
                <a:cs typeface="Arial"/>
              </a:rPr>
              <a:t>¶27</a:t>
            </a:r>
            <a:endParaRPr sz="900" b="1">
              <a:solidFill>
                <a:srgbClr val="6667AB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6" name="Original text&#10;in context">
            <a:extLst xmlns:a="http://schemas.openxmlformats.org/drawingml/2006/main">
              <a:ext uri="{FF2B5EF4-FFF2-40B4-BE49-F238E27FC236}">
                <a16:creationId xmlns:a16="http://schemas.microsoft.com/office/drawing/2014/main" id="{03570612-64B8-4C54-A4C2-75FC934B8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000375"/>
            <a:ext cx="723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76200" tIns="38100" rIns="762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1B2733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B2733"/>
                </a:solidFill>
                <a:latin typeface="Arial"/>
                <a:ea typeface="Arial"/>
                <a:cs typeface="Arial"/>
              </a:rPr>
              <a:t>Original text</a:t>
            </a:r>
            <a:endParaRPr sz="900" b="1">
              <a:solidFill>
                <a:srgbClr val="1B2733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algn="ctr">
              <a:buNone/>
              <a:defRPr sz="900" b="1">
                <a:solidFill>
                  <a:srgbClr val="1B2733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B2733"/>
                </a:solidFill>
                <a:latin typeface="Arial"/>
                <a:ea typeface="Arial"/>
                <a:cs typeface="Arial"/>
              </a:rPr>
              <a:t>in context</a:t>
            </a:r>
            <a:endParaRPr sz="900" b="1">
              <a:solidFill>
                <a:srgbClr val="1B2733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7" name="圆角矩形 86">
            <a:extLst xmlns:a="http://schemas.openxmlformats.org/drawingml/2006/main">
              <a:ext uri="{FF2B5EF4-FFF2-40B4-BE49-F238E27FC236}">
                <a16:creationId xmlns:a16="http://schemas.microsoft.com/office/drawing/2014/main" id="{95C8A60D-710C-42AF-B04E-BBA56D51B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2505075"/>
            <a:ext cx="14097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906">
            <a:solidFill>
              <a:srgbClr val="B8BFDF"/>
            </a:solidFill>
          </a:ln>
        </p:spPr>
        <p:style>
          <a:lnRef xmlns:a="http://schemas.openxmlformats.org/drawingml/2006/main" idx="0">
            <a:srgbClr val="FFFFFF"/>
          </a:lnRef>
          <a:fillRef xmlns:a="http://schemas.openxmlformats.org/drawingml/2006/main" idx="0">
            <a:srgbClr val="FFFFFF"/>
          </a:fillRef>
          <a:effectRef xmlns:a="http://schemas.openxmlformats.org/drawingml/2006/main" idx="4">
            <a:srgbClr val="FFFFFF"/>
          </a:effectRef>
          <a:fontRef xmlns:a="http://schemas.openxmlformats.org/drawingml/2006/main" idx="major"/>
        </p:style>
        <p:txBody>
          <a:bodyPr xmlns:a="http://schemas.openxmlformats.org/drawingml/2006/main" wrap="square" lIns="76200" tIns="38100" rIns="76200" bIns="38100" anchor="ctr">
            <a:noAutofit/>
          </a:bodyPr>
          <a:lstStyle xmlns:a="http://schemas.openxmlformats.org/drawingml/2006/main"/>
          <a:p xmlns:a="http://schemas.openxmlformats.org/drawingml/2006/main"/>
        </p:txBody>
      </p:sp>
      <p:pic>
        <p:nvPicPr>
          <p:cNvPr id="408" name="图片 23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17b3f78dbb347eb">
            <a:extLst>
              <a:ext uri="{96DAC541-7B7A-43D3-8B79-37D633B846F1}">
                <asvg:svgBlip xmlns:asvg="http://schemas.microsoft.com/office/drawing/2016/SVG/main" r:embed="R294350b953fd465e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182100" y="2562225"/>
            <a:ext cx="161925" cy="161925"/>
          </a:xfrm>
          <a:prstGeom xmlns:a="http://schemas.openxmlformats.org/drawingml/2006/main" prst="rect">
            <a:avLst/>
          </a:prstGeom>
        </p:spPr>
      </p:pic>
      <p:sp>
        <p:nvSpPr>
          <p:cNvPr id="89" name="Source position">
            <a:extLst xmlns:a="http://schemas.openxmlformats.org/drawingml/2006/main">
              <a:ext uri="{FF2B5EF4-FFF2-40B4-BE49-F238E27FC236}">
                <a16:creationId xmlns:a16="http://schemas.microsoft.com/office/drawing/2014/main" id="{C10AD80D-B452-4649-B5BA-CC2CFFD7D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2552700"/>
            <a:ext cx="10287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1B2733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1B2733"/>
                </a:solidFill>
                <a:latin typeface="Arial"/>
                <a:ea typeface="Arial"/>
                <a:cs typeface="Arial"/>
              </a:rPr>
              <a:t>Source position</a:t>
            </a:r>
            <a:endParaRPr sz="1000" b="0">
              <a:solidFill>
                <a:srgbClr val="1B2733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410" name="图片 23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3ac005e95084d1e">
            <a:extLst>
              <a:ext uri="{96DAC541-7B7A-43D3-8B79-37D633B846F1}">
                <asvg:svgBlip xmlns:asvg="http://schemas.microsoft.com/office/drawing/2016/SVG/main" r:embed="R559c951f05a74447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182100" y="2762250"/>
            <a:ext cx="161925" cy="161925"/>
          </a:xfrm>
          <a:prstGeom xmlns:a="http://schemas.openxmlformats.org/drawingml/2006/main" prst="rect">
            <a:avLst/>
          </a:prstGeom>
        </p:spPr>
      </p:pic>
      <p:sp>
        <p:nvSpPr>
          <p:cNvPr id="91" name="Relevance score">
            <a:extLst xmlns:a="http://schemas.openxmlformats.org/drawingml/2006/main">
              <a:ext uri="{FF2B5EF4-FFF2-40B4-BE49-F238E27FC236}">
                <a16:creationId xmlns:a16="http://schemas.microsoft.com/office/drawing/2014/main" id="{8D4785D4-8048-48D2-A828-0C6612D46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2752725"/>
            <a:ext cx="10287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1B2733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1B2733"/>
                </a:solidFill>
                <a:latin typeface="Arial"/>
                <a:ea typeface="Arial"/>
                <a:cs typeface="Arial"/>
              </a:rPr>
              <a:t>Relevance score</a:t>
            </a:r>
            <a:endParaRPr sz="1000" b="0">
              <a:solidFill>
                <a:srgbClr val="1B2733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412" name="图片 23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c690637bd384ea9">
            <a:extLst>
              <a:ext uri="{96DAC541-7B7A-43D3-8B79-37D633B846F1}">
                <asvg:svgBlip xmlns:asvg="http://schemas.microsoft.com/office/drawing/2016/SVG/main" r:embed="R1a6faeb1b7a84fa4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182100" y="2962275"/>
            <a:ext cx="161925" cy="161925"/>
          </a:xfrm>
          <a:prstGeom xmlns:a="http://schemas.openxmlformats.org/drawingml/2006/main" prst="rect">
            <a:avLst/>
          </a:prstGeom>
        </p:spPr>
      </p:pic>
      <p:sp>
        <p:nvSpPr>
          <p:cNvPr id="93" name="Descriptor">
            <a:extLst xmlns:a="http://schemas.openxmlformats.org/drawingml/2006/main">
              <a:ext uri="{FF2B5EF4-FFF2-40B4-BE49-F238E27FC236}">
                <a16:creationId xmlns:a16="http://schemas.microsoft.com/office/drawing/2014/main" id="{C7B12AF7-EAAB-40AD-83BC-1DA39C45A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2952750"/>
            <a:ext cx="10287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1B2733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1B2733"/>
                </a:solidFill>
                <a:latin typeface="Arial"/>
                <a:ea typeface="Arial"/>
                <a:cs typeface="Arial"/>
              </a:rPr>
              <a:t>Descriptor</a:t>
            </a:r>
            <a:endParaRPr sz="1000" b="0">
              <a:solidFill>
                <a:srgbClr val="1B2733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414" name="图片 24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66f60878f7d4e65">
            <a:extLst>
              <a:ext uri="{96DAC541-7B7A-43D3-8B79-37D633B846F1}">
                <asvg:svgBlip xmlns:asvg="http://schemas.microsoft.com/office/drawing/2016/SVG/main" r:embed="Ra4e8c146c688497a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182100" y="3162300"/>
            <a:ext cx="161925" cy="161925"/>
          </a:xfrm>
          <a:prstGeom xmlns:a="http://schemas.openxmlformats.org/drawingml/2006/main" prst="rect">
            <a:avLst/>
          </a:prstGeom>
        </p:spPr>
      </p:pic>
      <p:sp>
        <p:nvSpPr>
          <p:cNvPr id="95" name="Full-text link">
            <a:extLst xmlns:a="http://schemas.openxmlformats.org/drawingml/2006/main">
              <a:ext uri="{FF2B5EF4-FFF2-40B4-BE49-F238E27FC236}">
                <a16:creationId xmlns:a16="http://schemas.microsoft.com/office/drawing/2014/main" id="{6B312AD0-56D5-43CC-88A7-508F6F6DA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3152775"/>
            <a:ext cx="10287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1B2733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1B2733"/>
                </a:solidFill>
                <a:latin typeface="Arial"/>
                <a:ea typeface="Arial"/>
                <a:cs typeface="Arial"/>
              </a:rPr>
              <a:t>Full-text link</a:t>
            </a:r>
            <a:endParaRPr sz="1000" b="0">
              <a:solidFill>
                <a:srgbClr val="1B2733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416" name="图片 24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c690637bd384ea9">
            <a:extLst>
              <a:ext uri="{96DAC541-7B7A-43D3-8B79-37D633B846F1}">
                <asvg:svgBlip xmlns:asvg="http://schemas.microsoft.com/office/drawing/2016/SVG/main" r:embed="R1a6faeb1b7a84fa4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182100" y="3362325"/>
            <a:ext cx="161925" cy="161925"/>
          </a:xfrm>
          <a:prstGeom xmlns:a="http://schemas.openxmlformats.org/drawingml/2006/main" prst="rect">
            <a:avLst/>
          </a:prstGeom>
        </p:spPr>
      </p:pic>
      <p:sp>
        <p:nvSpPr>
          <p:cNvPr id="97" name="Source&#10;context only">
            <a:extLst xmlns:a="http://schemas.openxmlformats.org/drawingml/2006/main">
              <a:ext uri="{FF2B5EF4-FFF2-40B4-BE49-F238E27FC236}">
                <a16:creationId xmlns:a16="http://schemas.microsoft.com/office/drawing/2014/main" id="{5CF30AE0-65C6-41EE-B4B1-115014C1D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3314700"/>
            <a:ext cx="10287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690" b="1">
                <a:solidFill>
                  <a:srgbClr val="D95555"/>
                </a:solidFill>
                <a:latin typeface="Arial"/>
                <a:ea typeface="Arial"/>
                <a:cs typeface="Arial"/>
              </a:defRPr>
            </a:pPr>
            <a:r>
              <a:rPr sz="1000" b="1">
                <a:solidFill>
                  <a:srgbClr val="D95555"/>
                </a:solidFill>
                <a:latin typeface="Arial"/>
                <a:ea typeface="Arial"/>
                <a:cs typeface="Arial"/>
              </a:rPr>
              <a:t>Source</a:t>
            </a:r>
            <a:endParaRPr sz="1000" b="1">
              <a:solidFill>
                <a:srgbClr val="D95555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algn="l">
              <a:buNone/>
              <a:defRPr sz="690" b="1">
                <a:solidFill>
                  <a:srgbClr val="D95555"/>
                </a:solidFill>
                <a:latin typeface="Arial"/>
                <a:ea typeface="Arial"/>
                <a:cs typeface="Arial"/>
              </a:defRPr>
            </a:pPr>
            <a:r>
              <a:rPr sz="1000" b="1">
                <a:solidFill>
                  <a:srgbClr val="D95555"/>
                </a:solidFill>
                <a:latin typeface="Arial"/>
                <a:ea typeface="Arial"/>
                <a:cs typeface="Arial"/>
              </a:rPr>
              <a:t>context only</a:t>
            </a:r>
            <a:endParaRPr sz="1000" b="1">
              <a:solidFill>
                <a:srgbClr val="D95555"/>
              </a:solidFill>
              <a:latin typeface="Arial"/>
              <a:ea typeface="Arial"/>
              <a:cs typeface="Arial"/>
            </a:endParaRPr>
          </a:p>
        </p:txBody>
      </p:sp>
      <p:cxnSp>
        <p:nvCxnSpPr>
          <p:cNvPr id="418" name="直接箭头连接符 245"/>
          <p:cNvCxnSpPr>
            <a:stCxn xmlns:a="http://schemas.openxmlformats.org/drawingml/2006/main" id="81" idx="3"/>
            <a:endCxn xmlns:a="http://schemas.openxmlformats.org/drawingml/2006/main" id="84" idx="1"/>
          </p:cNvCxnSpPr>
          <p:nvPr/>
        </p:nvCxnSpPr>
        <p:spPr>
          <a:xfrm xmlns:a="http://schemas.openxmlformats.org/drawingml/2006/main">
            <a:off x="8039100" y="3057525"/>
            <a:ext cx="1143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667AB"/>
            </a:solidFill>
            <a:prstDash val="solid"/>
            <a:tailEnd type="triangle" w="sm" len="sm"/>
          </a:ln>
        </p:spPr>
      </p:cxnSp>
      <p:cxnSp>
        <p:nvCxnSpPr>
          <p:cNvPr id="419" name="直接箭头连接符 246"/>
          <p:cNvCxnSpPr>
            <a:stCxn xmlns:a="http://schemas.openxmlformats.org/drawingml/2006/main" id="84" idx="3"/>
            <a:endCxn xmlns:a="http://schemas.openxmlformats.org/drawingml/2006/main" id="87" idx="1"/>
          </p:cNvCxnSpPr>
          <p:nvPr/>
        </p:nvCxnSpPr>
        <p:spPr>
          <a:xfrm xmlns:a="http://schemas.openxmlformats.org/drawingml/2006/main">
            <a:off x="8991600" y="3057525"/>
            <a:ext cx="1143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667AB"/>
            </a:solidFill>
            <a:prstDash val="solid"/>
            <a:tailEnd type="triangle" w="sm" len="sm"/>
          </a:ln>
        </p:spPr>
      </p:cxnSp>
      <p:sp>
        <p:nvSpPr>
          <p:cNvPr id="101" name="圆角矩形 100">
            <a:extLst xmlns:a="http://schemas.openxmlformats.org/drawingml/2006/main">
              <a:ext uri="{FF2B5EF4-FFF2-40B4-BE49-F238E27FC236}">
                <a16:creationId xmlns:a16="http://schemas.microsoft.com/office/drawing/2014/main" id="{CCE28F2E-E4A6-446E-9D63-4F1EF96B2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962400"/>
            <a:ext cx="3390900" cy="2504440"/>
          </a:xfrm>
          <a:prstGeom xmlns:a="http://schemas.openxmlformats.org/drawingml/2006/main" prst="roundRect">
            <a:avLst>
              <a:gd name="adj" fmla="val 3390"/>
            </a:avLst>
          </a:prstGeom>
          <a:solidFill xmlns:a="http://schemas.openxmlformats.org/drawingml/2006/main">
            <a:srgbClr val="FFF3E9"/>
          </a:solidFill>
          <a:ln xmlns:a="http://schemas.openxmlformats.org/drawingml/2006/main" w="11906">
            <a:solidFill>
              <a:srgbClr val="E0A066"/>
            </a:solidFill>
          </a:ln>
        </p:spPr>
        <p:style>
          <a:lnRef xmlns:a="http://schemas.openxmlformats.org/drawingml/2006/main" idx="0">
            <a:srgbClr val="FFFFFF"/>
          </a:lnRef>
          <a:fillRef xmlns:a="http://schemas.openxmlformats.org/drawingml/2006/main" idx="0">
            <a:srgbClr val="FFFFFF"/>
          </a:fillRef>
          <a:effectRef xmlns:a="http://schemas.openxmlformats.org/drawingml/2006/main" idx="4">
            <a:srgbClr val="FFFFFF"/>
          </a:effectRef>
          <a:fontRef xmlns:a="http://schemas.openxmlformats.org/drawingml/2006/main" idx="major"/>
        </p:style>
        <p:txBody>
          <a:bodyPr xmlns:a="http://schemas.openxmlformats.org/drawingml/2006/main" wrap="square" lIns="76200" tIns="38100" rIns="76200" bIns="38100" anchor="ctr">
            <a:no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102" name="C2">
            <a:extLst xmlns:a="http://schemas.openxmlformats.org/drawingml/2006/main">
              <a:ext uri="{FF2B5EF4-FFF2-40B4-BE49-F238E27FC236}">
                <a16:creationId xmlns:a16="http://schemas.microsoft.com/office/drawing/2014/main" id="{A6D56475-2E68-4618-89DD-6AB9A283F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3775" y="4114800"/>
            <a:ext cx="40005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D9772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19050" rIns="47625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C2</a:t>
            </a:r>
            <a:endParaRPr sz="1200" b="1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03" name="Offline evidence-visibility au">
            <a:extLst xmlns:a="http://schemas.openxmlformats.org/drawingml/2006/main">
              <a:ext uri="{FF2B5EF4-FFF2-40B4-BE49-F238E27FC236}">
                <a16:creationId xmlns:a16="http://schemas.microsoft.com/office/drawing/2014/main" id="{3204381E-5407-46DE-BDBE-66205B8A9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0025" y="4098290"/>
            <a:ext cx="26479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76200" tIns="38100" rIns="76200" bIns="381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40" b="1">
                <a:solidFill>
                  <a:srgbClr val="1B273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B2733"/>
                </a:solidFill>
                <a:latin typeface="Arial"/>
                <a:ea typeface="Arial"/>
                <a:cs typeface="Arial"/>
              </a:rPr>
              <a:t>Offline evidence-visibility audit</a:t>
            </a:r>
            <a:endParaRPr sz="1200" b="1">
              <a:solidFill>
                <a:srgbClr val="1B2733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04" name="圆角矩形 103">
            <a:extLst xmlns:a="http://schemas.openxmlformats.org/drawingml/2006/main">
              <a:ext uri="{FF2B5EF4-FFF2-40B4-BE49-F238E27FC236}">
                <a16:creationId xmlns:a16="http://schemas.microsoft.com/office/drawing/2014/main" id="{609C949C-6F32-4E24-8F31-ABB91CA18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4476750"/>
            <a:ext cx="74295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4F6FF"/>
          </a:solidFill>
          <a:ln xmlns:a="http://schemas.openxmlformats.org/drawingml/2006/main" w="11906">
            <a:solidFill>
              <a:srgbClr val="9EA6D2"/>
            </a:solidFill>
          </a:ln>
        </p:spPr>
        <p:style>
          <a:lnRef xmlns:a="http://schemas.openxmlformats.org/drawingml/2006/main" idx="0">
            <a:srgbClr val="FFFFFF"/>
          </a:lnRef>
          <a:fillRef xmlns:a="http://schemas.openxmlformats.org/drawingml/2006/main" idx="0">
            <a:srgbClr val="FFFFFF"/>
          </a:fillRef>
          <a:effectRef xmlns:a="http://schemas.openxmlformats.org/drawingml/2006/main" idx="4">
            <a:srgbClr val="FFFFFF"/>
          </a:effectRef>
          <a:fontRef xmlns:a="http://schemas.openxmlformats.org/drawingml/2006/main" idx="major"/>
        </p:style>
        <p:txBody>
          <a:bodyPr xmlns:a="http://schemas.openxmlformats.org/drawingml/2006/main" wrap="square" lIns="76200" tIns="38100" rIns="76200" bIns="38100" anchor="ctr">
            <a:noAutofit/>
          </a:bodyPr>
          <a:lstStyle xmlns:a="http://schemas.openxmlformats.org/drawingml/2006/main"/>
          <a:p xmlns:a="http://schemas.openxmlformats.org/drawingml/2006/main"/>
        </p:txBody>
      </p:sp>
      <p:pic>
        <p:nvPicPr>
          <p:cNvPr id="424" name="图片 25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f60afb60ffe4224">
            <a:extLst>
              <a:ext uri="{96DAC541-7B7A-43D3-8B79-37D633B846F1}">
                <asvg:svgBlip xmlns:asvg="http://schemas.microsoft.com/office/drawing/2016/SVG/main" r:embed="Rd579c376c45f4c77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610475" y="4543425"/>
            <a:ext cx="209550" cy="209550"/>
          </a:xfrm>
          <a:prstGeom xmlns:a="http://schemas.openxmlformats.org/drawingml/2006/main" prst="rect">
            <a:avLst/>
          </a:prstGeom>
        </p:spPr>
      </p:pic>
      <p:sp>
        <p:nvSpPr>
          <p:cNvPr id="106" name="Selected&#10;Top-k units">
            <a:extLst xmlns:a="http://schemas.openxmlformats.org/drawingml/2006/main">
              <a:ext uri="{FF2B5EF4-FFF2-40B4-BE49-F238E27FC236}">
                <a16:creationId xmlns:a16="http://schemas.microsoft.com/office/drawing/2014/main" id="{262F275B-34C0-4148-8B97-3CCBE8DFF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0925" y="4772025"/>
            <a:ext cx="647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76200" tIns="38100" rIns="762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715" b="1">
                <a:solidFill>
                  <a:srgbClr val="1B2733"/>
                </a:solidFill>
                <a:latin typeface="Arial"/>
                <a:ea typeface="Arial"/>
                <a:cs typeface="Arial"/>
              </a:defRPr>
            </a:pPr>
            <a:r>
              <a:rPr sz="715" b="1">
                <a:solidFill>
                  <a:srgbClr val="1B2733"/>
                </a:solidFill>
                <a:latin typeface="Arial"/>
                <a:ea typeface="Arial"/>
                <a:cs typeface="Arial"/>
              </a:rPr>
              <a:t>Selected</a:t>
            </a:r>
            <a:endParaRPr sz="715" b="1">
              <a:solidFill>
                <a:srgbClr val="1B2733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algn="ctr">
              <a:buNone/>
              <a:defRPr sz="715" b="1">
                <a:solidFill>
                  <a:srgbClr val="1B2733"/>
                </a:solidFill>
                <a:latin typeface="Arial"/>
                <a:ea typeface="Arial"/>
                <a:cs typeface="Arial"/>
              </a:defRPr>
            </a:pPr>
            <a:r>
              <a:rPr sz="715" b="1">
                <a:solidFill>
                  <a:srgbClr val="1B2733"/>
                </a:solidFill>
                <a:latin typeface="Arial"/>
                <a:ea typeface="Arial"/>
                <a:cs typeface="Arial"/>
              </a:rPr>
              <a:t>Top-k units</a:t>
            </a:r>
            <a:endParaRPr sz="715" b="1">
              <a:solidFill>
                <a:srgbClr val="1B2733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07" name="圆角矩形 106">
            <a:extLst xmlns:a="http://schemas.openxmlformats.org/drawingml/2006/main">
              <a:ext uri="{FF2B5EF4-FFF2-40B4-BE49-F238E27FC236}">
                <a16:creationId xmlns:a16="http://schemas.microsoft.com/office/drawing/2014/main" id="{2F9F8430-3200-4F77-B0D2-0FD6EA81C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3775" y="5276850"/>
            <a:ext cx="742950" cy="756285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9F1"/>
          </a:solidFill>
          <a:ln xmlns:a="http://schemas.openxmlformats.org/drawingml/2006/main" w="11906">
            <a:solidFill>
              <a:srgbClr val="E3A35F"/>
            </a:solidFill>
          </a:ln>
        </p:spPr>
        <p:style>
          <a:lnRef xmlns:a="http://schemas.openxmlformats.org/drawingml/2006/main" idx="0">
            <a:srgbClr val="FFFFFF"/>
          </a:lnRef>
          <a:fillRef xmlns:a="http://schemas.openxmlformats.org/drawingml/2006/main" idx="0">
            <a:srgbClr val="FFFFFF"/>
          </a:fillRef>
          <a:effectRef xmlns:a="http://schemas.openxmlformats.org/drawingml/2006/main" idx="4">
            <a:srgbClr val="FFFFFF"/>
          </a:effectRef>
          <a:fontRef xmlns:a="http://schemas.openxmlformats.org/drawingml/2006/main" idx="major"/>
        </p:style>
        <p:txBody>
          <a:bodyPr xmlns:a="http://schemas.openxmlformats.org/drawingml/2006/main" wrap="square" lIns="76200" tIns="38100" rIns="76200" bIns="38100" anchor="ctr">
            <a:noAutofit/>
          </a:bodyPr>
          <a:lstStyle xmlns:a="http://schemas.openxmlformats.org/drawingml/2006/main"/>
          <a:p xmlns:a="http://schemas.openxmlformats.org/drawingml/2006/main"/>
        </p:txBody>
      </p:sp>
      <p:pic>
        <p:nvPicPr>
          <p:cNvPr id="427" name="图片 25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bda77a8ef664570">
            <a:extLst>
              <a:ext uri="{96DAC541-7B7A-43D3-8B79-37D633B846F1}">
                <asvg:svgBlip xmlns:asvg="http://schemas.microsoft.com/office/drawing/2016/SVG/main" r:embed="R48090d8ef6a849b2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610475" y="5290185"/>
            <a:ext cx="209550" cy="209550"/>
          </a:xfrm>
          <a:prstGeom xmlns:a="http://schemas.openxmlformats.org/drawingml/2006/main" prst="rect">
            <a:avLst/>
          </a:prstGeom>
        </p:spPr>
      </p:pic>
      <p:sp>
        <p:nvSpPr>
          <p:cNvPr id="109" name="Gold evidence">
            <a:extLst xmlns:a="http://schemas.openxmlformats.org/drawingml/2006/main">
              <a:ext uri="{FF2B5EF4-FFF2-40B4-BE49-F238E27FC236}">
                <a16:creationId xmlns:a16="http://schemas.microsoft.com/office/drawing/2014/main" id="{0A147A17-79AE-401D-891B-DAD2BFE86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2035" y="5524500"/>
            <a:ext cx="6477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76200" tIns="38100" rIns="762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715" b="1">
                <a:solidFill>
                  <a:srgbClr val="1B2733"/>
                </a:solidFill>
                <a:latin typeface="Arial"/>
                <a:ea typeface="Arial"/>
                <a:cs typeface="Arial"/>
              </a:defRPr>
            </a:pPr>
            <a:r>
              <a:rPr sz="715" b="1">
                <a:solidFill>
                  <a:srgbClr val="1B2733"/>
                </a:solidFill>
                <a:latin typeface="Arial"/>
                <a:ea typeface="Arial"/>
                <a:cs typeface="Arial"/>
              </a:rPr>
              <a:t>Gold evidence</a:t>
            </a:r>
            <a:endParaRPr sz="715" b="1">
              <a:solidFill>
                <a:srgbClr val="1B2733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10" name="offline only">
            <a:extLst xmlns:a="http://schemas.openxmlformats.org/drawingml/2006/main">
              <a:ext uri="{FF2B5EF4-FFF2-40B4-BE49-F238E27FC236}">
                <a16:creationId xmlns:a16="http://schemas.microsoft.com/office/drawing/2014/main" id="{4C413897-8E92-402D-BE30-6F7F8BFE3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5772150"/>
            <a:ext cx="590550" cy="161925"/>
          </a:xfrm>
          <a:prstGeom xmlns:a="http://schemas.openxmlformats.org/drawingml/2006/main" prst="roundRect">
            <a:avLst>
              <a:gd name="adj" fmla="val 47059"/>
            </a:avLst>
          </a:prstGeom>
          <a:solidFill xmlns:a="http://schemas.openxmlformats.org/drawingml/2006/main">
            <a:srgbClr val="FFE1BE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19050" rIns="47625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660" b="1">
                <a:solidFill>
                  <a:srgbClr val="9D4E1D"/>
                </a:solidFill>
                <a:latin typeface="Arial"/>
                <a:ea typeface="Arial"/>
                <a:cs typeface="Arial"/>
              </a:defRPr>
            </a:pPr>
            <a:r>
              <a:rPr sz="660" b="1">
                <a:solidFill>
                  <a:srgbClr val="9D4E1D"/>
                </a:solidFill>
                <a:latin typeface="Arial"/>
                <a:ea typeface="Arial"/>
                <a:cs typeface="Arial"/>
              </a:rPr>
              <a:t>offline only</a:t>
            </a:r>
            <a:endParaRPr sz="660" b="1">
              <a:solidFill>
                <a:srgbClr val="9D4E1D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11" name="圆角矩形 110">
            <a:extLst xmlns:a="http://schemas.openxmlformats.org/drawingml/2006/main">
              <a:ext uri="{FF2B5EF4-FFF2-40B4-BE49-F238E27FC236}">
                <a16:creationId xmlns:a16="http://schemas.microsoft.com/office/drawing/2014/main" id="{EC5F629A-6464-4DA9-B9DB-3C2C11D5D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476750"/>
            <a:ext cx="1390650" cy="1556385"/>
          </a:xfrm>
          <a:prstGeom xmlns:a="http://schemas.openxmlformats.org/drawingml/2006/main" prst="roundRect">
            <a:avLst>
              <a:gd name="adj" fmla="val 5479"/>
            </a:avLst>
          </a:prstGeom>
          <a:solidFill xmlns:a="http://schemas.openxmlformats.org/drawingml/2006/main">
            <a:srgbClr val="F5FBFA"/>
          </a:solidFill>
          <a:ln xmlns:a="http://schemas.openxmlformats.org/drawingml/2006/main" w="11906">
            <a:solidFill>
              <a:srgbClr val="8BCFC4"/>
            </a:solidFill>
          </a:ln>
        </p:spPr>
        <p:style>
          <a:lnRef xmlns:a="http://schemas.openxmlformats.org/drawingml/2006/main" idx="0">
            <a:srgbClr val="FFFFFF"/>
          </a:lnRef>
          <a:fillRef xmlns:a="http://schemas.openxmlformats.org/drawingml/2006/main" idx="0">
            <a:srgbClr val="FFFFFF"/>
          </a:fillRef>
          <a:effectRef xmlns:a="http://schemas.openxmlformats.org/drawingml/2006/main" idx="4">
            <a:srgbClr val="FFFFFF"/>
          </a:effectRef>
          <a:fontRef xmlns:a="http://schemas.openxmlformats.org/drawingml/2006/main" idx="major"/>
        </p:style>
        <p:txBody>
          <a:bodyPr xmlns:a="http://schemas.openxmlformats.org/drawingml/2006/main" wrap="square" lIns="76200" tIns="38100" rIns="76200" bIns="38100" anchor="ctr">
            <a:no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112" name="Visibility metrics">
            <a:extLst xmlns:a="http://schemas.openxmlformats.org/drawingml/2006/main">
              <a:ext uri="{FF2B5EF4-FFF2-40B4-BE49-F238E27FC236}">
                <a16:creationId xmlns:a16="http://schemas.microsoft.com/office/drawing/2014/main" id="{4A8313B7-20F6-43F2-8F23-A2EC349C1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4543425"/>
            <a:ext cx="1238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76200" tIns="38100" rIns="762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1B2733"/>
                </a:solidFill>
                <a:latin typeface="Arial"/>
                <a:ea typeface="Arial"/>
                <a:cs typeface="Arial"/>
              </a:defRPr>
            </a:pPr>
            <a:r>
              <a:rPr sz="1000" b="1">
                <a:solidFill>
                  <a:srgbClr val="1B2733"/>
                </a:solidFill>
                <a:latin typeface="Arial"/>
                <a:ea typeface="Arial"/>
                <a:cs typeface="Arial"/>
              </a:rPr>
              <a:t>Visibility metrics</a:t>
            </a:r>
            <a:endParaRPr sz="1000" b="1">
              <a:solidFill>
                <a:srgbClr val="1B2733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432" name="图片 25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5089609852844e8">
            <a:extLst>
              <a:ext uri="{96DAC541-7B7A-43D3-8B79-37D633B846F1}">
                <asvg:svgBlip xmlns:asvg="http://schemas.microsoft.com/office/drawing/2016/SVG/main" r:embed="R63c9584502044df8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267700" y="4838700"/>
            <a:ext cx="209550" cy="209550"/>
          </a:xfrm>
          <a:prstGeom xmlns:a="http://schemas.openxmlformats.org/drawingml/2006/main" prst="rect">
            <a:avLst/>
          </a:prstGeom>
        </p:spPr>
      </p:pic>
      <p:sp>
        <p:nvSpPr>
          <p:cNvPr id="114" name="Evidence-matching&#10;score">
            <a:extLst xmlns:a="http://schemas.openxmlformats.org/drawingml/2006/main">
              <a:ext uri="{FF2B5EF4-FFF2-40B4-BE49-F238E27FC236}">
                <a16:creationId xmlns:a16="http://schemas.microsoft.com/office/drawing/2014/main" id="{44408214-68E8-4DE1-9508-D7D72FFF8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4810125"/>
            <a:ext cx="11620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76200" tIns="38100" rIns="76200" bIns="381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690" b="1">
                <a:solidFill>
                  <a:srgbClr val="1B2733"/>
                </a:solidFill>
                <a:latin typeface="Arial"/>
                <a:ea typeface="Arial"/>
                <a:cs typeface="Arial"/>
              </a:defRPr>
            </a:pPr>
            <a:r>
              <a:rPr sz="800" b="1">
                <a:solidFill>
                  <a:srgbClr val="1B2733"/>
                </a:solidFill>
                <a:latin typeface="Arial"/>
                <a:ea typeface="Arial"/>
                <a:cs typeface="Arial"/>
              </a:rPr>
              <a:t>Evidence-matching</a:t>
            </a:r>
            <a:endParaRPr sz="800" b="1">
              <a:solidFill>
                <a:srgbClr val="1B2733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algn="l">
              <a:buNone/>
              <a:defRPr sz="690" b="1">
                <a:solidFill>
                  <a:srgbClr val="1B2733"/>
                </a:solidFill>
                <a:latin typeface="Arial"/>
                <a:ea typeface="Arial"/>
                <a:cs typeface="Arial"/>
              </a:defRPr>
            </a:pPr>
            <a:r>
              <a:rPr sz="800" b="1">
                <a:solidFill>
                  <a:srgbClr val="1B2733"/>
                </a:solidFill>
                <a:latin typeface="Arial"/>
                <a:ea typeface="Arial"/>
                <a:cs typeface="Arial"/>
              </a:rPr>
              <a:t>score</a:t>
            </a:r>
            <a:endParaRPr sz="800" b="1">
              <a:solidFill>
                <a:srgbClr val="1B2733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434" name="图片 26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6a76d03210e42cf">
            <a:extLst>
              <a:ext uri="{96DAC541-7B7A-43D3-8B79-37D633B846F1}">
                <asvg:svgBlip xmlns:asvg="http://schemas.microsoft.com/office/drawing/2016/SVG/main" r:embed="R63bed18404384039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267700" y="5200650"/>
            <a:ext cx="209550" cy="209550"/>
          </a:xfrm>
          <a:prstGeom xmlns:a="http://schemas.openxmlformats.org/drawingml/2006/main" prst="rect">
            <a:avLst/>
          </a:prstGeom>
        </p:spPr>
      </p:pic>
      <p:sp>
        <p:nvSpPr>
          <p:cNvPr id="116" name="Evidence-sentence&#10;recall">
            <a:extLst xmlns:a="http://schemas.openxmlformats.org/drawingml/2006/main">
              <a:ext uri="{FF2B5EF4-FFF2-40B4-BE49-F238E27FC236}">
                <a16:creationId xmlns:a16="http://schemas.microsoft.com/office/drawing/2014/main" id="{7C410321-4CD4-4090-B479-7925FA473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5172075"/>
            <a:ext cx="109347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76200" tIns="38100" rIns="76200" bIns="381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690" b="1">
                <a:solidFill>
                  <a:srgbClr val="1B2733"/>
                </a:solidFill>
                <a:latin typeface="Arial"/>
                <a:ea typeface="Arial"/>
                <a:cs typeface="Arial"/>
              </a:defRPr>
            </a:pPr>
            <a:r>
              <a:rPr sz="800" b="1">
                <a:solidFill>
                  <a:srgbClr val="1B2733"/>
                </a:solidFill>
                <a:latin typeface="Arial"/>
                <a:ea typeface="Arial"/>
                <a:cs typeface="Arial"/>
              </a:rPr>
              <a:t>Evidence-sentence</a:t>
            </a:r>
            <a:endParaRPr sz="800" b="1">
              <a:solidFill>
                <a:srgbClr val="1B2733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algn="l">
              <a:buNone/>
              <a:defRPr sz="690" b="1">
                <a:solidFill>
                  <a:srgbClr val="1B2733"/>
                </a:solidFill>
                <a:latin typeface="Arial"/>
                <a:ea typeface="Arial"/>
                <a:cs typeface="Arial"/>
              </a:defRPr>
            </a:pPr>
            <a:r>
              <a:rPr sz="800" b="1">
                <a:solidFill>
                  <a:srgbClr val="1B2733"/>
                </a:solidFill>
                <a:latin typeface="Arial"/>
                <a:ea typeface="Arial"/>
                <a:cs typeface="Arial"/>
              </a:rPr>
              <a:t>recall</a:t>
            </a:r>
            <a:endParaRPr sz="800" b="1">
              <a:solidFill>
                <a:srgbClr val="1B2733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436" name="图片 26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3b9919ba4c8499e">
            <a:extLst>
              <a:ext uri="{96DAC541-7B7A-43D3-8B79-37D633B846F1}">
                <asvg:svgBlip xmlns:asvg="http://schemas.microsoft.com/office/drawing/2016/SVG/main" r:embed="Rbea04a9419c74d2d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267700" y="5562600"/>
            <a:ext cx="209550" cy="209550"/>
          </a:xfrm>
          <a:prstGeom xmlns:a="http://schemas.openxmlformats.org/drawingml/2006/main" prst="rect">
            <a:avLst/>
          </a:prstGeom>
        </p:spPr>
      </p:pic>
      <p:sp>
        <p:nvSpPr>
          <p:cNvPr id="118" name="Complete coverage">
            <a:extLst xmlns:a="http://schemas.openxmlformats.org/drawingml/2006/main">
              <a:ext uri="{FF2B5EF4-FFF2-40B4-BE49-F238E27FC236}">
                <a16:creationId xmlns:a16="http://schemas.microsoft.com/office/drawing/2014/main" id="{DE7B0AD0-AE0A-4339-92EB-F5AB04643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5534025"/>
            <a:ext cx="121031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76200" tIns="38100" rIns="76200" bIns="381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690" b="1">
                <a:solidFill>
                  <a:srgbClr val="1B2733"/>
                </a:solidFill>
                <a:latin typeface="Arial"/>
                <a:ea typeface="Arial"/>
                <a:cs typeface="Arial"/>
              </a:defRPr>
            </a:pPr>
            <a:r>
              <a:rPr sz="800" b="1">
                <a:solidFill>
                  <a:srgbClr val="1B2733"/>
                </a:solidFill>
                <a:latin typeface="Arial"/>
                <a:ea typeface="Arial"/>
                <a:cs typeface="Arial"/>
              </a:rPr>
              <a:t>Complete coverage</a:t>
            </a:r>
            <a:endParaRPr sz="800" b="1">
              <a:solidFill>
                <a:srgbClr val="1B2733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19" name="圆角矩形 118">
            <a:extLst xmlns:a="http://schemas.openxmlformats.org/drawingml/2006/main">
              <a:ext uri="{FF2B5EF4-FFF2-40B4-BE49-F238E27FC236}">
                <a16:creationId xmlns:a16="http://schemas.microsoft.com/office/drawing/2014/main" id="{97FB1C5C-D06B-4B00-BFD0-7DE87E89B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4476750"/>
            <a:ext cx="838200" cy="1556385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7F4FC"/>
          </a:solidFill>
          <a:ln xmlns:a="http://schemas.openxmlformats.org/drawingml/2006/main" w="11906">
            <a:solidFill>
              <a:srgbClr val="B8A8D8"/>
            </a:solidFill>
          </a:ln>
        </p:spPr>
        <p:style>
          <a:lnRef xmlns:a="http://schemas.openxmlformats.org/drawingml/2006/main" idx="0">
            <a:srgbClr val="FFFFFF"/>
          </a:lnRef>
          <a:fillRef xmlns:a="http://schemas.openxmlformats.org/drawingml/2006/main" idx="0">
            <a:srgbClr val="FFFFFF"/>
          </a:fillRef>
          <a:effectRef xmlns:a="http://schemas.openxmlformats.org/drawingml/2006/main" idx="4">
            <a:srgbClr val="FFFFFF"/>
          </a:effectRef>
          <a:fontRef xmlns:a="http://schemas.openxmlformats.org/drawingml/2006/main" idx="major"/>
        </p:style>
        <p:txBody>
          <a:bodyPr xmlns:a="http://schemas.openxmlformats.org/drawingml/2006/main" wrap="square" lIns="76200" tIns="38100" rIns="76200" bIns="38100" anchor="ctr">
            <a:no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120" name="Uncertainty&#10;and strata">
            <a:extLst xmlns:a="http://schemas.openxmlformats.org/drawingml/2006/main">
              <a:ext uri="{FF2B5EF4-FFF2-40B4-BE49-F238E27FC236}">
                <a16:creationId xmlns:a16="http://schemas.microsoft.com/office/drawing/2014/main" id="{0DD45679-4AA8-46F3-9034-AF21A84A1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4524375"/>
            <a:ext cx="90106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76200" tIns="38100" rIns="762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790" b="1">
                <a:solidFill>
                  <a:srgbClr val="1B2733"/>
                </a:solidFill>
                <a:latin typeface="Arial"/>
                <a:ea typeface="Arial"/>
                <a:cs typeface="Arial"/>
              </a:defRPr>
            </a:pPr>
            <a:r>
              <a:rPr sz="1000" b="1">
                <a:solidFill>
                  <a:srgbClr val="1B2733"/>
                </a:solidFill>
                <a:latin typeface="Arial"/>
                <a:ea typeface="Arial"/>
                <a:cs typeface="Arial"/>
              </a:rPr>
              <a:t>Uncertainty</a:t>
            </a:r>
            <a:endParaRPr sz="1000" b="1">
              <a:solidFill>
                <a:srgbClr val="1B2733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algn="ctr">
              <a:buNone/>
              <a:defRPr sz="790" b="1">
                <a:solidFill>
                  <a:srgbClr val="1B2733"/>
                </a:solidFill>
                <a:latin typeface="Arial"/>
                <a:ea typeface="Arial"/>
                <a:cs typeface="Arial"/>
              </a:defRPr>
            </a:pPr>
            <a:r>
              <a:rPr sz="1000" b="1">
                <a:solidFill>
                  <a:srgbClr val="1B2733"/>
                </a:solidFill>
                <a:latin typeface="Arial"/>
                <a:ea typeface="Arial"/>
                <a:cs typeface="Arial"/>
              </a:rPr>
              <a:t>and strata</a:t>
            </a:r>
            <a:endParaRPr sz="1000" b="1">
              <a:solidFill>
                <a:srgbClr val="1B2733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440" name="图片 26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acbf9fef5bb4d43">
            <a:extLst>
              <a:ext uri="{96DAC541-7B7A-43D3-8B79-37D633B846F1}">
                <asvg:svgBlip xmlns:asvg="http://schemas.microsoft.com/office/drawing/2016/SVG/main" r:embed="Raf6cbdab3d2941db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725025" y="4857750"/>
            <a:ext cx="171450" cy="171450"/>
          </a:xfrm>
          <a:prstGeom xmlns:a="http://schemas.openxmlformats.org/drawingml/2006/main" prst="rect">
            <a:avLst/>
          </a:prstGeom>
        </p:spPr>
      </p:pic>
      <p:sp>
        <p:nvSpPr>
          <p:cNvPr id="122" name="Paired&#10;bootstrap">
            <a:extLst xmlns:a="http://schemas.openxmlformats.org/drawingml/2006/main">
              <a:ext uri="{FF2B5EF4-FFF2-40B4-BE49-F238E27FC236}">
                <a16:creationId xmlns:a16="http://schemas.microsoft.com/office/drawing/2014/main" id="{AA2F4B73-FF07-428C-BA6E-4E1890002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7585" y="4819650"/>
            <a:ext cx="62801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76200" tIns="38100" rIns="76200" bIns="381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605" b="1">
                <a:solidFill>
                  <a:srgbClr val="1B2733"/>
                </a:solidFill>
                <a:latin typeface="Arial"/>
                <a:ea typeface="Arial"/>
                <a:cs typeface="Arial"/>
              </a:defRPr>
            </a:pPr>
            <a:r>
              <a:rPr sz="800" b="1">
                <a:solidFill>
                  <a:srgbClr val="1B2733"/>
                </a:solidFill>
                <a:latin typeface="Arial"/>
                <a:ea typeface="Arial"/>
                <a:cs typeface="Arial"/>
              </a:rPr>
              <a:t>Paired</a:t>
            </a:r>
            <a:endParaRPr sz="800" b="1">
              <a:solidFill>
                <a:srgbClr val="1B2733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algn="l">
              <a:buNone/>
              <a:defRPr sz="605" b="1">
                <a:solidFill>
                  <a:srgbClr val="1B2733"/>
                </a:solidFill>
                <a:latin typeface="Arial"/>
                <a:ea typeface="Arial"/>
                <a:cs typeface="Arial"/>
              </a:defRPr>
            </a:pPr>
            <a:r>
              <a:rPr sz="800" b="1">
                <a:solidFill>
                  <a:srgbClr val="1B2733"/>
                </a:solidFill>
                <a:latin typeface="Arial"/>
                <a:ea typeface="Arial"/>
                <a:cs typeface="Arial"/>
              </a:rPr>
              <a:t>bootstrap</a:t>
            </a:r>
            <a:endParaRPr sz="800" b="1">
              <a:solidFill>
                <a:srgbClr val="1B2733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442" name="图片 26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301af596e334f8a">
            <a:extLst>
              <a:ext uri="{96DAC541-7B7A-43D3-8B79-37D633B846F1}">
                <asvg:svgBlip xmlns:asvg="http://schemas.microsoft.com/office/drawing/2016/SVG/main" r:embed="R707f8814dbe44c43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725025" y="5210175"/>
            <a:ext cx="171450" cy="171450"/>
          </a:xfrm>
          <a:prstGeom xmlns:a="http://schemas.openxmlformats.org/drawingml/2006/main" prst="rect">
            <a:avLst/>
          </a:prstGeom>
        </p:spPr>
      </p:pic>
      <p:sp>
        <p:nvSpPr>
          <p:cNvPr id="124" name="Position&#10;strata">
            <a:extLst xmlns:a="http://schemas.openxmlformats.org/drawingml/2006/main">
              <a:ext uri="{FF2B5EF4-FFF2-40B4-BE49-F238E27FC236}">
                <a16:creationId xmlns:a16="http://schemas.microsoft.com/office/drawing/2014/main" id="{214B1BFF-A9E3-44FD-B352-2701ADACC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08210" y="5172075"/>
            <a:ext cx="6858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76200" tIns="38100" rIns="76200" bIns="381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605" b="1">
                <a:solidFill>
                  <a:srgbClr val="1B2733"/>
                </a:solidFill>
                <a:latin typeface="Arial"/>
                <a:ea typeface="Arial"/>
                <a:cs typeface="Arial"/>
              </a:defRPr>
            </a:pPr>
            <a:r>
              <a:rPr sz="800" b="1">
                <a:solidFill>
                  <a:srgbClr val="1B2733"/>
                </a:solidFill>
                <a:latin typeface="Arial"/>
                <a:ea typeface="Arial"/>
                <a:cs typeface="Arial"/>
              </a:rPr>
              <a:t>Position</a:t>
            </a:r>
            <a:endParaRPr sz="800" b="1">
              <a:solidFill>
                <a:srgbClr val="1B2733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algn="l">
              <a:buNone/>
              <a:defRPr sz="605" b="1">
                <a:solidFill>
                  <a:srgbClr val="1B2733"/>
                </a:solidFill>
                <a:latin typeface="Arial"/>
                <a:ea typeface="Arial"/>
                <a:cs typeface="Arial"/>
              </a:defRPr>
            </a:pPr>
            <a:r>
              <a:rPr sz="800" b="1">
                <a:solidFill>
                  <a:srgbClr val="1B2733"/>
                </a:solidFill>
                <a:latin typeface="Arial"/>
                <a:ea typeface="Arial"/>
                <a:cs typeface="Arial"/>
              </a:rPr>
              <a:t>strata</a:t>
            </a:r>
            <a:endParaRPr sz="800" b="1">
              <a:solidFill>
                <a:srgbClr val="1B2733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444" name="图片 27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9f91d0e2dfd473e">
            <a:extLst>
              <a:ext uri="{96DAC541-7B7A-43D3-8B79-37D633B846F1}">
                <asvg:svgBlip xmlns:asvg="http://schemas.microsoft.com/office/drawing/2016/SVG/main" r:embed="Rcd065681ac9c4e97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725025" y="5562600"/>
            <a:ext cx="171450" cy="171450"/>
          </a:xfrm>
          <a:prstGeom xmlns:a="http://schemas.openxmlformats.org/drawingml/2006/main" prst="rect">
            <a:avLst/>
          </a:prstGeom>
        </p:spPr>
      </p:pic>
      <p:sp>
        <p:nvSpPr>
          <p:cNvPr id="126" name="Claim label&#10;strata">
            <a:extLst xmlns:a="http://schemas.openxmlformats.org/drawingml/2006/main">
              <a:ext uri="{FF2B5EF4-FFF2-40B4-BE49-F238E27FC236}">
                <a16:creationId xmlns:a16="http://schemas.microsoft.com/office/drawing/2014/main" id="{731EA995-2DAC-403B-87E6-CFA91B9D6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5524500"/>
            <a:ext cx="5334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76200" tIns="38100" rIns="76200" bIns="381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605" b="1">
                <a:solidFill>
                  <a:srgbClr val="1B2733"/>
                </a:solidFill>
                <a:latin typeface="Arial"/>
                <a:ea typeface="Arial"/>
                <a:cs typeface="Arial"/>
              </a:defRPr>
            </a:pPr>
            <a:r>
              <a:rPr sz="800" b="1">
                <a:solidFill>
                  <a:srgbClr val="1B2733"/>
                </a:solidFill>
                <a:latin typeface="Arial"/>
                <a:ea typeface="Arial"/>
                <a:cs typeface="Arial"/>
              </a:rPr>
              <a:t>Claim label</a:t>
            </a:r>
            <a:endParaRPr sz="800" b="1">
              <a:solidFill>
                <a:srgbClr val="1B2733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algn="l">
              <a:buNone/>
              <a:defRPr sz="605" b="1">
                <a:solidFill>
                  <a:srgbClr val="1B2733"/>
                </a:solidFill>
                <a:latin typeface="Arial"/>
                <a:ea typeface="Arial"/>
                <a:cs typeface="Arial"/>
              </a:defRPr>
            </a:pPr>
            <a:r>
              <a:rPr sz="800" b="1">
                <a:solidFill>
                  <a:srgbClr val="1B2733"/>
                </a:solidFill>
                <a:latin typeface="Arial"/>
                <a:ea typeface="Arial"/>
                <a:cs typeface="Arial"/>
              </a:rPr>
              <a:t>strata</a:t>
            </a:r>
            <a:endParaRPr sz="800" b="1">
              <a:solidFill>
                <a:srgbClr val="1B2733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8" name="任意多边形 127">
            <a:extLst xmlns:a="http://schemas.openxmlformats.org/drawingml/2006/main">
              <a:ext uri="{FF2B5EF4-FFF2-40B4-BE49-F238E27FC236}">
                <a16:creationId xmlns:a16="http://schemas.microsoft.com/office/drawing/2014/main" id="{DE53B24B-ABDF-45C0-A1C5-5FEC5F609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781550"/>
            <a:ext cx="47625" cy="9525"/>
          </a:xfrm>
          <a:custGeom xmlns:a="http://schemas.openxmlformats.org/drawingml/2006/main">
            <a:pathLst>
              <a:path w="47625" h="9525">
                <a:moveTo>
                  <a:pt x="0" y="0"/>
                </a:moveTo>
                <a:lnTo>
                  <a:pt x="47625" y="9525"/>
                </a:lnTo>
              </a:path>
            </a:pathLst>
          </a:custGeom>
          <a:noFill xmlns:a="http://schemas.openxmlformats.org/drawingml/2006/main"/>
          <a:ln xmlns:a="http://schemas.openxmlformats.org/drawingml/2006/main" w="13335">
            <a:solidFill>
              <a:srgbClr val="6667AB"/>
            </a:solidFill>
            <a:prstDash val="solid"/>
          </a:ln>
        </p:spPr>
      </p:sp>
      <p:sp>
        <p:nvSpPr>
          <p:cNvPr id="129" name="任意多边形 128">
            <a:extLst xmlns:a="http://schemas.openxmlformats.org/drawingml/2006/main">
              <a:ext uri="{FF2B5EF4-FFF2-40B4-BE49-F238E27FC236}">
                <a16:creationId xmlns:a16="http://schemas.microsoft.com/office/drawing/2014/main" id="{37D3F9B8-C5EF-49A6-BF76-9AC9C99F5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467350"/>
            <a:ext cx="47625" cy="9525"/>
          </a:xfrm>
          <a:custGeom xmlns:a="http://schemas.openxmlformats.org/drawingml/2006/main">
            <a:pathLst>
              <a:path w="47625" h="9525">
                <a:moveTo>
                  <a:pt x="0" y="0"/>
                </a:moveTo>
                <a:lnTo>
                  <a:pt x="47625" y="9525"/>
                </a:lnTo>
              </a:path>
            </a:pathLst>
          </a:custGeom>
          <a:noFill xmlns:a="http://schemas.openxmlformats.org/drawingml/2006/main"/>
          <a:ln xmlns:a="http://schemas.openxmlformats.org/drawingml/2006/main" w="13335">
            <a:solidFill>
              <a:srgbClr val="B86124"/>
            </a:solidFill>
            <a:prstDash val="solid"/>
          </a:ln>
        </p:spPr>
      </p:sp>
      <p:sp>
        <p:nvSpPr>
          <p:cNvPr id="130" name="任意多边形 129">
            <a:extLst xmlns:a="http://schemas.openxmlformats.org/drawingml/2006/main">
              <a:ext uri="{FF2B5EF4-FFF2-40B4-BE49-F238E27FC236}">
                <a16:creationId xmlns:a16="http://schemas.microsoft.com/office/drawing/2014/main" id="{E4EB2216-0077-411F-9769-5676B57B8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4781550"/>
            <a:ext cx="9525" cy="685800"/>
          </a:xfrm>
          <a:custGeom xmlns:a="http://schemas.openxmlformats.org/drawingml/2006/main">
            <a:pathLst>
              <a:path w="9525" h="685800">
                <a:moveTo>
                  <a:pt x="0" y="0"/>
                </a:moveTo>
                <a:lnTo>
                  <a:pt x="9525" y="685800"/>
                </a:lnTo>
              </a:path>
            </a:pathLst>
          </a:custGeom>
          <a:noFill xmlns:a="http://schemas.openxmlformats.org/drawingml/2006/main"/>
          <a:ln xmlns:a="http://schemas.openxmlformats.org/drawingml/2006/main" w="13335">
            <a:solidFill>
              <a:srgbClr val="6B7280"/>
            </a:solidFill>
            <a:prstDash val="solid"/>
          </a:ln>
        </p:spPr>
      </p:sp>
      <p:sp>
        <p:nvSpPr>
          <p:cNvPr id="131" name="矩形 130">
            <a:extLst xmlns:a="http://schemas.openxmlformats.org/drawingml/2006/main">
              <a:ext uri="{FF2B5EF4-FFF2-40B4-BE49-F238E27FC236}">
                <a16:creationId xmlns:a16="http://schemas.microsoft.com/office/drawing/2014/main" id="{A56698E7-7BC6-4AE3-9439-466D6DD7D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5114925"/>
            <a:ext cx="19050" cy="1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76200" tIns="38100" rIns="76200" bIns="38100" anchor="ctr">
            <a:noAutofit/>
          </a:bodyPr>
          <a:lstStyle xmlns:a="http://schemas.openxmlformats.org/drawingml/2006/main"/>
          <a:p xmlns:a="http://schemas.openxmlformats.org/drawingml/2006/main"/>
        </p:txBody>
      </p:sp>
      <p:cxnSp>
        <p:nvCxnSpPr>
          <p:cNvPr id="450" name="直接箭头连接符 279"/>
          <p:cNvCxnSpPr>
            <a:stCxn xmlns:a="http://schemas.openxmlformats.org/drawingml/2006/main" id="111" idx="3"/>
            <a:endCxn xmlns:a="http://schemas.openxmlformats.org/drawingml/2006/main" id="119" idx="1"/>
          </p:cNvCxnSpPr>
          <p:nvPr/>
        </p:nvCxnSpPr>
        <p:spPr>
          <a:xfrm xmlns:a="http://schemas.openxmlformats.org/drawingml/2006/main">
            <a:off x="9582150" y="5255260"/>
            <a:ext cx="95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95493"/>
            </a:solidFill>
            <a:prstDash val="solid"/>
            <a:tailEnd type="triangle" w="sm" len="sm"/>
          </a:ln>
        </p:spPr>
      </p:cxnSp>
      <p:sp>
        <p:nvSpPr>
          <p:cNvPr id="134" name="Gold annotations never enter s">
            <a:extLst xmlns:a="http://schemas.openxmlformats.org/drawingml/2006/main">
              <a:ext uri="{FF2B5EF4-FFF2-40B4-BE49-F238E27FC236}">
                <a16:creationId xmlns:a16="http://schemas.microsoft.com/office/drawing/2014/main" id="{78C40118-C52A-410D-94C7-E29C4358A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6114415"/>
            <a:ext cx="238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76200" tIns="38100" rIns="76200" bIns="381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790" b="1">
                <a:solidFill>
                  <a:srgbClr val="A7551E"/>
                </a:solidFill>
                <a:latin typeface="Arial"/>
                <a:ea typeface="Arial"/>
                <a:cs typeface="Arial"/>
              </a:defRPr>
            </a:pPr>
            <a:r>
              <a:rPr sz="790" b="1">
                <a:solidFill>
                  <a:srgbClr val="A7551E"/>
                </a:solidFill>
                <a:latin typeface="Arial"/>
                <a:ea typeface="Arial"/>
                <a:cs typeface="Arial"/>
              </a:rPr>
              <a:t>Gold annotations never enter selection</a:t>
            </a:r>
            <a:endParaRPr sz="790" b="1">
              <a:solidFill>
                <a:srgbClr val="A7551E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5" name="OFFLINE&#10;OUTCOMES">
            <a:extLst xmlns:a="http://schemas.openxmlformats.org/drawingml/2006/main">
              <a:ext uri="{FF2B5EF4-FFF2-40B4-BE49-F238E27FC236}">
                <a16:creationId xmlns:a16="http://schemas.microsoft.com/office/drawing/2014/main" id="{396543E7-89B5-460F-8811-CE19003B3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5150" y="3476625"/>
            <a:ext cx="1047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76200" tIns="38100" rIns="762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750" b="1">
                <a:solidFill>
                  <a:srgbClr val="5B6872"/>
                </a:solidFill>
                <a:latin typeface="Arial"/>
                <a:ea typeface="Arial"/>
                <a:cs typeface="Arial"/>
              </a:defRPr>
            </a:pPr>
            <a:r>
              <a:rPr sz="1000" b="1">
                <a:solidFill>
                  <a:srgbClr val="5B6872"/>
                </a:solidFill>
                <a:latin typeface="Arial"/>
                <a:ea typeface="Arial"/>
                <a:cs typeface="Arial"/>
              </a:rPr>
              <a:t>OFFLINE</a:t>
            </a:r>
            <a:endParaRPr sz="1000" b="1">
              <a:solidFill>
                <a:srgbClr val="5B6872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algn="ctr">
              <a:buNone/>
              <a:defRPr sz="750" b="1">
                <a:solidFill>
                  <a:srgbClr val="5B6872"/>
                </a:solidFill>
                <a:latin typeface="Arial"/>
                <a:ea typeface="Arial"/>
                <a:cs typeface="Arial"/>
              </a:defRPr>
            </a:pPr>
            <a:r>
              <a:rPr sz="1000" b="1">
                <a:solidFill>
                  <a:srgbClr val="5B6872"/>
                </a:solidFill>
                <a:latin typeface="Arial"/>
                <a:ea typeface="Arial"/>
                <a:cs typeface="Arial"/>
              </a:rPr>
              <a:t>OUTCOMES</a:t>
            </a:r>
            <a:endParaRPr sz="1000" b="1">
              <a:solidFill>
                <a:srgbClr val="5B6872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6" name="圆角矩形 135">
            <a:extLst xmlns:a="http://schemas.openxmlformats.org/drawingml/2006/main">
              <a:ext uri="{FF2B5EF4-FFF2-40B4-BE49-F238E27FC236}">
                <a16:creationId xmlns:a16="http://schemas.microsoft.com/office/drawing/2014/main" id="{773EAD65-1D05-48F3-B8C3-C6B48E2D4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5150" y="3810000"/>
            <a:ext cx="1047750" cy="13906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EAF7EF"/>
          </a:solidFill>
          <a:ln xmlns:a="http://schemas.openxmlformats.org/drawingml/2006/main" w="19050">
            <a:solidFill>
              <a:srgbClr val="37966F"/>
            </a:solidFill>
          </a:ln>
        </p:spPr>
        <p:style>
          <a:lnRef xmlns:a="http://schemas.openxmlformats.org/drawingml/2006/main" idx="0">
            <a:srgbClr val="FFFFFF"/>
          </a:lnRef>
          <a:fillRef xmlns:a="http://schemas.openxmlformats.org/drawingml/2006/main" idx="0">
            <a:srgbClr val="FFFFFF"/>
          </a:fillRef>
          <a:effectRef xmlns:a="http://schemas.openxmlformats.org/drawingml/2006/main" idx="4">
            <a:srgbClr val="FFFFFF"/>
          </a:effectRef>
          <a:fontRef xmlns:a="http://schemas.openxmlformats.org/drawingml/2006/main" idx="major"/>
        </p:style>
        <p:txBody>
          <a:bodyPr xmlns:a="http://schemas.openxmlformats.org/drawingml/2006/main" wrap="square" lIns="76200" tIns="38100" rIns="76200" bIns="38100" anchor="ctr">
            <a:noAutofit/>
          </a:bodyPr>
          <a:lstStyle xmlns:a="http://schemas.openxmlformats.org/drawingml/2006/main"/>
          <a:p xmlns:a="http://schemas.openxmlformats.org/drawingml/2006/main"/>
        </p:txBody>
      </p:sp>
      <p:pic>
        <p:nvPicPr>
          <p:cNvPr id="454" name="图片 28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9e619ae0e2342ff">
            <a:extLst>
              <a:ext uri="{96DAC541-7B7A-43D3-8B79-37D633B846F1}">
                <asvg:svgBlip xmlns:asvg="http://schemas.microsoft.com/office/drawing/2016/SVG/main" r:embed="Ra57f9e81203f460c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1039475" y="3952875"/>
            <a:ext cx="400050" cy="400050"/>
          </a:xfrm>
          <a:prstGeom xmlns:a="http://schemas.openxmlformats.org/drawingml/2006/main" prst="rect">
            <a:avLst/>
          </a:prstGeom>
        </p:spPr>
      </p:pic>
      <p:sp>
        <p:nvSpPr>
          <p:cNvPr id="138" name="Paired gain over&#10;document-loca">
            <a:extLst xmlns:a="http://schemas.openxmlformats.org/drawingml/2006/main">
              <a:ext uri="{FF2B5EF4-FFF2-40B4-BE49-F238E27FC236}">
                <a16:creationId xmlns:a16="http://schemas.microsoft.com/office/drawing/2014/main" id="{E6414CAE-8521-4E94-A363-1D881492F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4371975"/>
            <a:ext cx="933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76200" tIns="38100" rIns="762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765" b="1">
                <a:solidFill>
                  <a:srgbClr val="235E47"/>
                </a:solidFill>
                <a:latin typeface="Arial"/>
                <a:ea typeface="Arial"/>
                <a:cs typeface="Arial"/>
              </a:defRPr>
            </a:pPr>
            <a:r>
              <a:rPr sz="1000" b="1">
                <a:solidFill>
                  <a:srgbClr val="235E47"/>
                </a:solidFill>
                <a:latin typeface="Arial"/>
                <a:ea typeface="Arial"/>
                <a:cs typeface="Arial"/>
              </a:rPr>
              <a:t>Paired gain over</a:t>
            </a:r>
            <a:endParaRPr sz="1000" b="1">
              <a:solidFill>
                <a:srgbClr val="235E47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algn="ctr">
              <a:buNone/>
              <a:defRPr sz="765" b="1">
                <a:solidFill>
                  <a:srgbClr val="235E47"/>
                </a:solidFill>
                <a:latin typeface="Arial"/>
                <a:ea typeface="Arial"/>
                <a:cs typeface="Arial"/>
              </a:defRPr>
            </a:pPr>
            <a:r>
              <a:rPr sz="1000" b="1">
                <a:solidFill>
                  <a:srgbClr val="235E47"/>
                </a:solidFill>
                <a:latin typeface="Arial"/>
                <a:ea typeface="Arial"/>
                <a:cs typeface="Arial"/>
              </a:rPr>
              <a:t>document-local BM25</a:t>
            </a:r>
            <a:endParaRPr sz="1000" b="1">
              <a:solidFill>
                <a:srgbClr val="235E47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9" name="at fixed k">
            <a:extLst xmlns:a="http://schemas.openxmlformats.org/drawingml/2006/main">
              <a:ext uri="{FF2B5EF4-FFF2-40B4-BE49-F238E27FC236}">
                <a16:creationId xmlns:a16="http://schemas.microsoft.com/office/drawing/2014/main" id="{F41833A5-9849-4D95-9517-84C6A8EA7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76585" y="4953000"/>
            <a:ext cx="933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76200" tIns="38100" rIns="762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790" b="0">
                <a:solidFill>
                  <a:srgbClr val="356B56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356B56"/>
                </a:solidFill>
                <a:latin typeface="Arial"/>
                <a:ea typeface="Arial"/>
                <a:cs typeface="Arial"/>
              </a:rPr>
              <a:t>at fixed k</a:t>
            </a:r>
            <a:endParaRPr sz="1000" b="0">
              <a:solidFill>
                <a:srgbClr val="356B56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0" name="圆角矩形 139">
            <a:extLst xmlns:a="http://schemas.openxmlformats.org/drawingml/2006/main">
              <a:ext uri="{FF2B5EF4-FFF2-40B4-BE49-F238E27FC236}">
                <a16:creationId xmlns:a16="http://schemas.microsoft.com/office/drawing/2014/main" id="{7A90D1AE-210D-49E2-91FF-F4D3C3348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5150" y="5238750"/>
            <a:ext cx="1047750" cy="14668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FFF0EF"/>
          </a:solidFill>
          <a:ln xmlns:a="http://schemas.openxmlformats.org/drawingml/2006/main" w="19050">
            <a:solidFill>
              <a:srgbClr val="D95555"/>
            </a:solidFill>
          </a:ln>
        </p:spPr>
        <p:style>
          <a:lnRef xmlns:a="http://schemas.openxmlformats.org/drawingml/2006/main" idx="0">
            <a:srgbClr val="FFFFFF"/>
          </a:lnRef>
          <a:fillRef xmlns:a="http://schemas.openxmlformats.org/drawingml/2006/main" idx="0">
            <a:srgbClr val="FFFFFF"/>
          </a:fillRef>
          <a:effectRef xmlns:a="http://schemas.openxmlformats.org/drawingml/2006/main" idx="4">
            <a:srgbClr val="FFFFFF"/>
          </a:effectRef>
          <a:fontRef xmlns:a="http://schemas.openxmlformats.org/drawingml/2006/main" idx="major"/>
        </p:style>
        <p:txBody>
          <a:bodyPr xmlns:a="http://schemas.openxmlformats.org/drawingml/2006/main" wrap="square" lIns="76200" tIns="38100" rIns="76200" bIns="38100" anchor="ctr">
            <a:noAutofit/>
          </a:bodyPr>
          <a:lstStyle xmlns:a="http://schemas.openxmlformats.org/drawingml/2006/main"/>
          <a:p xmlns:a="http://schemas.openxmlformats.org/drawingml/2006/main"/>
        </p:txBody>
      </p:sp>
      <p:pic>
        <p:nvPicPr>
          <p:cNvPr id="458" name="图片 28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0c7ac10a12b484e">
            <a:extLst>
              <a:ext uri="{96DAC541-7B7A-43D3-8B79-37D633B846F1}">
                <asvg:svgBlip xmlns:asvg="http://schemas.microsoft.com/office/drawing/2016/SVG/main" r:embed="Ref49c6922eb344d6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1039475" y="5400675"/>
            <a:ext cx="400050" cy="400050"/>
          </a:xfrm>
          <a:prstGeom xmlns:a="http://schemas.openxmlformats.org/drawingml/2006/main" prst="rect">
            <a:avLst/>
          </a:prstGeom>
        </p:spPr>
      </p:pic>
      <p:sp>
        <p:nvSpPr>
          <p:cNvPr id="142" name="Gold-measured&#10;residual omissio">
            <a:extLst xmlns:a="http://schemas.openxmlformats.org/drawingml/2006/main">
              <a:ext uri="{FF2B5EF4-FFF2-40B4-BE49-F238E27FC236}">
                <a16:creationId xmlns:a16="http://schemas.microsoft.com/office/drawing/2014/main" id="{05B8B37B-8545-4174-A446-6451CF5C7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5857875"/>
            <a:ext cx="9334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76200" tIns="38100" rIns="762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765" b="1">
                <a:solidFill>
                  <a:srgbClr val="8C3333"/>
                </a:solidFill>
                <a:latin typeface="Arial"/>
                <a:ea typeface="Arial"/>
                <a:cs typeface="Arial"/>
              </a:defRPr>
            </a:pPr>
            <a:r>
              <a:rPr sz="800" b="1">
                <a:solidFill>
                  <a:srgbClr val="8C3333"/>
                </a:solidFill>
                <a:latin typeface="Arial"/>
                <a:ea typeface="Arial"/>
                <a:cs typeface="Arial"/>
              </a:rPr>
              <a:t>Gold-measured</a:t>
            </a:r>
            <a:endParaRPr sz="800" b="1">
              <a:solidFill>
                <a:srgbClr val="8C3333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algn="ctr">
              <a:buNone/>
              <a:defRPr sz="765" b="1">
                <a:solidFill>
                  <a:srgbClr val="8C3333"/>
                </a:solidFill>
                <a:latin typeface="Arial"/>
                <a:ea typeface="Arial"/>
                <a:cs typeface="Arial"/>
              </a:defRPr>
            </a:pPr>
            <a:r>
              <a:rPr sz="800" b="1">
                <a:solidFill>
                  <a:srgbClr val="8C3333"/>
                </a:solidFill>
                <a:latin typeface="Arial"/>
                <a:ea typeface="Arial"/>
                <a:cs typeface="Arial"/>
              </a:rPr>
              <a:t>residual omission</a:t>
            </a:r>
            <a:endParaRPr sz="800" b="1">
              <a:solidFill>
                <a:srgbClr val="8C3333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3" name="incomplete&#10;Top-k view">
            <a:extLst xmlns:a="http://schemas.openxmlformats.org/drawingml/2006/main">
              <a:ext uri="{FF2B5EF4-FFF2-40B4-BE49-F238E27FC236}">
                <a16:creationId xmlns:a16="http://schemas.microsoft.com/office/drawing/2014/main" id="{1AA09947-18D0-4062-8974-37B949CFD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6334125"/>
            <a:ext cx="933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76200" tIns="38100" rIns="762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775" b="0">
                <a:solidFill>
                  <a:srgbClr val="8C4B4B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8C4B4B"/>
                </a:solidFill>
                <a:latin typeface="Arial"/>
                <a:ea typeface="Arial"/>
                <a:cs typeface="Arial"/>
              </a:rPr>
              <a:t>incomplete</a:t>
            </a:r>
            <a:endParaRPr sz="800" b="0">
              <a:solidFill>
                <a:srgbClr val="8C4B4B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algn="ctr">
              <a:buNone/>
              <a:defRPr sz="775" b="0">
                <a:solidFill>
                  <a:srgbClr val="8C4B4B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8C4B4B"/>
                </a:solidFill>
                <a:latin typeface="Arial"/>
                <a:ea typeface="Arial"/>
                <a:cs typeface="Arial"/>
              </a:rPr>
              <a:t>Top-k view</a:t>
            </a:r>
            <a:endParaRPr sz="800" b="0">
              <a:solidFill>
                <a:srgbClr val="8C4B4B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6" name="任意多边形 145">
            <a:extLst xmlns:a="http://schemas.openxmlformats.org/drawingml/2006/main">
              <a:ext uri="{FF2B5EF4-FFF2-40B4-BE49-F238E27FC236}">
                <a16:creationId xmlns:a16="http://schemas.microsoft.com/office/drawing/2014/main" id="{EFE299B2-D2A1-4B61-92FD-ABBD36401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7105650"/>
            <a:ext cx="11315700" cy="9525"/>
          </a:xfrm>
          <a:custGeom xmlns:a="http://schemas.openxmlformats.org/drawingml/2006/main">
            <a:pathLst>
              <a:path w="11315700" h="9525">
                <a:moveTo>
                  <a:pt x="0" y="0"/>
                </a:moveTo>
                <a:lnTo>
                  <a:pt x="11315700" y="952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8E0E5"/>
            </a:solidFill>
            <a:prstDash val="solid"/>
          </a:ln>
        </p:spPr>
      </p:sp>
      <p:sp>
        <p:nvSpPr>
          <p:cNvPr id="147" name="Source-context only cue i">
            <a:extLst xmlns:a="http://schemas.openxmlformats.org/drawingml/2006/main">
              <a:ext uri="{FF2B5EF4-FFF2-40B4-BE49-F238E27FC236}">
                <a16:creationId xmlns:a16="http://schemas.microsoft.com/office/drawing/2014/main" id="{99D8B053-73D4-472B-81B7-82975B70A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7162800"/>
            <a:ext cx="11315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76200" tIns="38100" rIns="76200" bIns="381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B6872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B6872"/>
                </a:solidFill>
                <a:latin typeface="Arial"/>
                <a:ea typeface="Arial"/>
                <a:cs typeface="Arial"/>
              </a:rPr>
              <a:t>Source-context descriptors are structural and not gold-based. Offline residual omission is measured against gold evidence.</a:t>
            </a:r>
            <a:endParaRPr sz="1275" b="0">
              <a:solidFill>
                <a:srgbClr val="5B6872"/>
              </a:solidFill>
              <a:latin typeface="Arial"/>
              <a:ea typeface="Arial"/>
              <a:cs typeface="Arial"/>
            </a:endParaRPr>
          </a:p>
        </p:txBody>
      </p:sp>
      <p:cxnSp>
        <p:nvCxnSpPr>
          <p:cNvPr id="463" name=""/>
          <p:cNvCxnSpPr>
            <a:stCxn xmlns:a="http://schemas.openxmlformats.org/drawingml/2006/main" id="69" idx="3"/>
            <a:endCxn xmlns:a="http://schemas.openxmlformats.org/drawingml/2006/main" id="62" idx="1"/>
          </p:cNvCxnSpPr>
          <p:nvPr/>
        </p:nvCxnSpPr>
        <p:spPr>
          <a:xfrm xmlns:a="http://schemas.openxmlformats.org/drawingml/2006/main">
            <a:off x="5743575" y="4295775"/>
            <a:ext cx="47625" cy="15684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4288">
            <a:solidFill>
              <a:srgbClr val="176C64"/>
            </a:solidFill>
            <a:prstDash val="solid"/>
            <a:headEnd type="triangle" w="sm" len="sm"/>
          </a:ln>
        </p:spPr>
      </p:cxnSp>
      <p:cxnSp>
        <p:nvCxnSpPr>
          <p:cNvPr id="464" name=""/>
          <p:cNvCxnSpPr>
            <a:stCxn xmlns:a="http://schemas.openxmlformats.org/drawingml/2006/main" id="62" idx="3"/>
            <a:endCxn xmlns:a="http://schemas.openxmlformats.org/drawingml/2006/main" id="81" idx="1"/>
          </p:cNvCxnSpPr>
          <p:nvPr/>
        </p:nvCxnSpPr>
        <p:spPr>
          <a:xfrm xmlns:a="http://schemas.openxmlformats.org/drawingml/2006/main" flipV="1">
            <a:off x="6838950" y="3057525"/>
            <a:ext cx="514350" cy="139509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5240">
            <a:solidFill>
              <a:srgbClr val="4D728A"/>
            </a:solidFill>
            <a:prstDash val="solid"/>
            <a:headEnd type="triangle" w="sm" len="sm"/>
          </a:ln>
        </p:spPr>
      </p:cxnSp>
      <p:cxnSp>
        <p:nvCxnSpPr>
          <p:cNvPr id="465" name=""/>
          <p:cNvCxnSpPr>
            <a:stCxn xmlns:a="http://schemas.openxmlformats.org/drawingml/2006/main" id="62" idx="3"/>
            <a:endCxn xmlns:a="http://schemas.openxmlformats.org/drawingml/2006/main" id="104" idx="1"/>
          </p:cNvCxnSpPr>
          <p:nvPr/>
        </p:nvCxnSpPr>
        <p:spPr>
          <a:xfrm xmlns:a="http://schemas.openxmlformats.org/drawingml/2006/main">
            <a:off x="6838950" y="4452620"/>
            <a:ext cx="514350" cy="32893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5240">
            <a:solidFill>
              <a:srgbClr val="4D728A"/>
            </a:solidFill>
            <a:prstDash val="solid"/>
            <a:headEnd type="triangle" w="sm" len="sm"/>
          </a:ln>
        </p:spPr>
      </p:cxnSp>
      <p:cxnSp>
        <p:nvCxnSpPr>
          <p:cNvPr id="466" name=""/>
          <p:cNvCxnSpPr>
            <a:stCxn xmlns:a="http://schemas.openxmlformats.org/drawingml/2006/main" id="131" idx="3"/>
            <a:endCxn xmlns:a="http://schemas.openxmlformats.org/drawingml/2006/main" id="111" idx="1"/>
          </p:cNvCxnSpPr>
          <p:nvPr/>
        </p:nvCxnSpPr>
        <p:spPr>
          <a:xfrm xmlns:a="http://schemas.openxmlformats.org/drawingml/2006/main">
            <a:off x="8153400" y="5124450"/>
            <a:ext cx="38100" cy="130493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4288">
            <a:solidFill>
              <a:srgbClr val="6B7280"/>
            </a:solidFill>
            <a:prstDash val="solid"/>
            <a:headEnd type="triangle" w="sm" len="sm"/>
          </a:ln>
        </p:spPr>
      </p:cxnSp>
      <p:cxnSp>
        <p:nvCxnSpPr>
          <p:cNvPr id="467" name=""/>
          <p:cNvCxnSpPr>
            <a:stCxn xmlns:a="http://schemas.openxmlformats.org/drawingml/2006/main" id="119" idx="3"/>
            <a:endCxn xmlns:a="http://schemas.openxmlformats.org/drawingml/2006/main" id="136" idx="1"/>
          </p:cNvCxnSpPr>
          <p:nvPr/>
        </p:nvCxnSpPr>
        <p:spPr>
          <a:xfrm xmlns:a="http://schemas.openxmlformats.org/drawingml/2006/main" flipV="1">
            <a:off x="10515600" y="4505325"/>
            <a:ext cx="209550" cy="749618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7145">
            <a:solidFill>
              <a:srgbClr val="37966F"/>
            </a:solidFill>
            <a:prstDash val="solid"/>
            <a:headEnd type="triangle" w="sm" len="sm"/>
          </a:ln>
        </p:spPr>
      </p:cxnSp>
      <p:cxnSp>
        <p:nvCxnSpPr>
          <p:cNvPr id="468" name=""/>
          <p:cNvCxnSpPr>
            <a:stCxn xmlns:a="http://schemas.openxmlformats.org/drawingml/2006/main" id="119" idx="3"/>
            <a:endCxn xmlns:a="http://schemas.openxmlformats.org/drawingml/2006/main" id="140" idx="1"/>
          </p:cNvCxnSpPr>
          <p:nvPr/>
        </p:nvCxnSpPr>
        <p:spPr>
          <a:xfrm xmlns:a="http://schemas.openxmlformats.org/drawingml/2006/main">
            <a:off x="10515600" y="5254943"/>
            <a:ext cx="209550" cy="717232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7145">
            <a:solidFill>
              <a:srgbClr val="D95555"/>
            </a:solidFill>
            <a:prstDash val="solid"/>
            <a:headEnd type="triangle" w="sm" len="sm"/>
          </a:ln>
        </p:spPr>
      </p:cxnSp>
    </p:spTree>
    <p:extLst>
      <p:ext uri="{BB962C8B-B14F-4D97-AF65-F5344CB8AC3E}">
        <p14:creationId xmlns:p14="http://schemas.microsoft.com/office/powerpoint/2010/main" val="129702261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Fixed-budget evidence visibili">
            <a:extLst xmlns:a="http://schemas.openxmlformats.org/drawingml/2006/main">
              <a:ext uri="{FF2B5EF4-FFF2-40B4-BE49-F238E27FC236}">
                <a16:creationId xmlns:a16="http://schemas.microsoft.com/office/drawing/2014/main" id="{AD17FF31-CED3-4F53-9AFF-9CEF95288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66700"/>
            <a:ext cx="11353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76200" tIns="38100" rIns="76200" bIns="381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75" b="1">
                <a:solidFill>
                  <a:srgbClr val="1B2733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1B2733"/>
                </a:solidFill>
                <a:latin typeface="Arial"/>
                <a:ea typeface="Arial"/>
                <a:cs typeface="Arial"/>
              </a:rPr>
              <a:t>Fixed-budget evidence visibility</a:t>
            </a:r>
            <a:endParaRPr sz="2475" b="1">
              <a:solidFill>
                <a:srgbClr val="1B2733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" name="Development subsets; panels us">
            <a:extLst xmlns:a="http://schemas.openxmlformats.org/drawingml/2006/main">
              <a:ext uri="{FF2B5EF4-FFF2-40B4-BE49-F238E27FC236}">
                <a16:creationId xmlns:a16="http://schemas.microsoft.com/office/drawing/2014/main" id="{2F975187-88F2-44BA-BF58-6F862875E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742950"/>
            <a:ext cx="11315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76200" tIns="38100" rIns="76200" bIns="381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5B6872"/>
                </a:solidFill>
                <a:latin typeface="Arial"/>
                <a:ea typeface="Arial"/>
                <a:cs typeface="Arial"/>
              </a:defRPr>
            </a:pPr>
            <a:r>
              <a:rPr sz="1400" b="0">
                <a:solidFill>
                  <a:srgbClr val="5B6872"/>
                </a:solidFill>
                <a:latin typeface="Arial"/>
                <a:ea typeface="Arial"/>
                <a:cs typeface="Arial"/>
              </a:rPr>
              <a:t>Development subsets; panels use task-specific metrics and share a 0–1 scale</a:t>
            </a:r>
            <a:endParaRPr sz="1400" b="0">
              <a:solidFill>
                <a:srgbClr val="5B6872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" name="任意多边形 2">
            <a:extLst xmlns:a="http://schemas.openxmlformats.org/drawingml/2006/main">
              <a:ext uri="{FF2B5EF4-FFF2-40B4-BE49-F238E27FC236}">
                <a16:creationId xmlns:a16="http://schemas.microsoft.com/office/drawing/2014/main" id="{CE0A78AD-94F8-45C5-B681-C915C0D89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1200150"/>
            <a:ext cx="11315700" cy="9525"/>
          </a:xfrm>
          <a:custGeom xmlns:a="http://schemas.openxmlformats.org/drawingml/2006/main">
            <a:pathLst>
              <a:path w="11315700" h="9525">
                <a:moveTo>
                  <a:pt x="0" y="0"/>
                </a:moveTo>
                <a:lnTo>
                  <a:pt x="11315700" y="9525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1B2733"/>
            </a:solidFill>
            <a:prstDash val="solid"/>
          </a:ln>
        </p:spPr>
      </p:sp>
      <p:sp>
        <p:nvSpPr>
          <p:cNvPr id="4" name="A  QASPER · 89 questions">
            <a:extLst xmlns:a="http://schemas.openxmlformats.org/drawingml/2006/main">
              <a:ext uri="{FF2B5EF4-FFF2-40B4-BE49-F238E27FC236}">
                <a16:creationId xmlns:a16="http://schemas.microsoft.com/office/drawing/2014/main" id="{A59B85F4-2300-4095-B815-1C26BC244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57325"/>
            <a:ext cx="5429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76200" tIns="38100" rIns="76200" bIns="381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B2733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B2733"/>
                </a:solidFill>
                <a:latin typeface="Arial"/>
                <a:ea typeface="Arial"/>
                <a:cs typeface="Arial"/>
              </a:rPr>
              <a:t>A  QASPER · 89 questions</a:t>
            </a:r>
            <a:endParaRPr sz="1800" b="1">
              <a:solidFill>
                <a:srgbClr val="1B2733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" name="Evidence-matching score">
            <a:extLst xmlns:a="http://schemas.openxmlformats.org/drawingml/2006/main">
              <a:ext uri="{FF2B5EF4-FFF2-40B4-BE49-F238E27FC236}">
                <a16:creationId xmlns:a16="http://schemas.microsoft.com/office/drawing/2014/main" id="{FCD8E5F9-9C89-446C-A052-456418335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809750"/>
            <a:ext cx="54292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76200" tIns="38100" rIns="76200" bIns="381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B687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B6872"/>
                </a:solidFill>
                <a:latin typeface="Arial"/>
                <a:ea typeface="Arial"/>
                <a:cs typeface="Arial"/>
              </a:rPr>
              <a:t>Evidence-matching score</a:t>
            </a:r>
            <a:endParaRPr sz="1350" b="0">
              <a:solidFill>
                <a:srgbClr val="5B6872"/>
              </a:solidFill>
              <a:latin typeface="Arial"/>
              <a:ea typeface="Arial"/>
              <a:cs typeface="Arial"/>
            </a:endParaRPr>
          </a:p>
        </p:txBody>
      </p:sp>
      <p:graphicFrame>
        <p:nvGraphicFramePr>
          <p:cNvPr id="20" name="Chart"/>
          <p:cNvGraphicFramePr/>
          <p:nvPr/>
        </p:nvGraphicFramePr>
        <p:xfrm>
          <a:off xmlns:a="http://schemas.openxmlformats.org/drawingml/2006/main" x="400050" y="2190750"/>
          <a:ext xmlns:a="http://schemas.openxmlformats.org/drawingml/2006/main" cx="5429250" cy="46863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2dec416115fa4188"/>
          </a:graphicData>
        </a:graphic>
      </p:graphicFrame>
      <p:sp>
        <p:nvSpPr>
          <p:cNvPr id="7" name="B  SciFact · 338 evidence sets">
            <a:extLst xmlns:a="http://schemas.openxmlformats.org/drawingml/2006/main">
              <a:ext uri="{FF2B5EF4-FFF2-40B4-BE49-F238E27FC236}">
                <a16:creationId xmlns:a16="http://schemas.microsoft.com/office/drawing/2014/main" id="{F74EEE58-C4A7-4027-A78F-370A5E2D7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1457325"/>
            <a:ext cx="5429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76200" tIns="38100" rIns="76200" bIns="381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B2733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B2733"/>
                </a:solidFill>
                <a:latin typeface="Arial"/>
                <a:ea typeface="Arial"/>
                <a:cs typeface="Arial"/>
              </a:rPr>
              <a:t>B  SciFact · 338 evidence sets</a:t>
            </a:r>
            <a:endParaRPr sz="1800" b="1">
              <a:solidFill>
                <a:srgbClr val="1B2733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" name="Evidence-sentence recall">
            <a:extLst xmlns:a="http://schemas.openxmlformats.org/drawingml/2006/main">
              <a:ext uri="{FF2B5EF4-FFF2-40B4-BE49-F238E27FC236}">
                <a16:creationId xmlns:a16="http://schemas.microsoft.com/office/drawing/2014/main" id="{D77AC27B-A1BC-4C24-94B0-2CA1B9EF3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1809750"/>
            <a:ext cx="54292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76200" tIns="38100" rIns="76200" bIns="381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B687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B6872"/>
                </a:solidFill>
                <a:latin typeface="Arial"/>
                <a:ea typeface="Arial"/>
                <a:cs typeface="Arial"/>
              </a:rPr>
              <a:t>Evidence-sentence recall</a:t>
            </a:r>
            <a:endParaRPr sz="1350" b="0">
              <a:solidFill>
                <a:srgbClr val="5B6872"/>
              </a:solidFill>
              <a:latin typeface="Arial"/>
              <a:ea typeface="Arial"/>
              <a:cs typeface="Arial"/>
            </a:endParaRPr>
          </a:p>
        </p:txBody>
      </p:sp>
      <p:graphicFrame>
        <p:nvGraphicFramePr>
          <p:cNvPr id="23" name="Chart"/>
          <p:cNvGraphicFramePr/>
          <p:nvPr/>
        </p:nvGraphicFramePr>
        <p:xfrm>
          <a:off xmlns:a="http://schemas.openxmlformats.org/drawingml/2006/main" x="6334125" y="2190750"/>
          <a:ext xmlns:a="http://schemas.openxmlformats.org/drawingml/2006/main" cx="5429250" cy="46863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5244d1e427e5445f"/>
          </a:graphicData>
        </a:graphic>
      </p:graphicFrame>
      <p:sp>
        <p:nvSpPr>
          <p:cNvPr id="10" name="任意多边形 9">
            <a:extLst xmlns:a="http://schemas.openxmlformats.org/drawingml/2006/main">
              <a:ext uri="{FF2B5EF4-FFF2-40B4-BE49-F238E27FC236}">
                <a16:creationId xmlns:a16="http://schemas.microsoft.com/office/drawing/2014/main" id="{6173C177-D41C-4FFD-A234-BE73432E1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7105650"/>
            <a:ext cx="11315700" cy="9525"/>
          </a:xfrm>
          <a:custGeom xmlns:a="http://schemas.openxmlformats.org/drawingml/2006/main">
            <a:pathLst>
              <a:path w="11315700" h="9525">
                <a:moveTo>
                  <a:pt x="0" y="0"/>
                </a:moveTo>
                <a:lnTo>
                  <a:pt x="11315700" y="952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8E0E5"/>
            </a:solidFill>
            <a:prstDash val="solid"/>
          </a:ln>
        </p:spPr>
      </p:sp>
      <p:sp>
        <p:nvSpPr>
          <p:cNvPr id="11" name="Higher is better. Budgets cont">
            <a:extLst xmlns:a="http://schemas.openxmlformats.org/drawingml/2006/main">
              <a:ext uri="{FF2B5EF4-FFF2-40B4-BE49-F238E27FC236}">
                <a16:creationId xmlns:a16="http://schemas.microsoft.com/office/drawing/2014/main" id="{865B48F6-78C4-42A6-AA25-1B0ABFF55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7162800"/>
            <a:ext cx="11315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76200" tIns="38100" rIns="76200" bIns="381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B6872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B6872"/>
                </a:solidFill>
                <a:latin typeface="Arial"/>
                <a:ea typeface="Arial"/>
                <a:cs typeface="Arial"/>
              </a:rPr>
              <a:t>Higher is better. Budgets control snippet count, not total words, latency, or reading time.</a:t>
            </a:r>
            <a:endParaRPr sz="1275" b="0">
              <a:solidFill>
                <a:srgbClr val="5B6872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0023691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0" name="Paired gains over document-loc">
            <a:extLst xmlns:a="http://schemas.openxmlformats.org/drawingml/2006/main">
              <a:ext uri="{FF2B5EF4-FFF2-40B4-BE49-F238E27FC236}">
                <a16:creationId xmlns:a16="http://schemas.microsoft.com/office/drawing/2014/main" id="{E1654D1B-0623-40CE-BD55-3FE24C625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66700"/>
            <a:ext cx="11353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76200" tIns="38100" rIns="76200" bIns="381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75" b="1">
                <a:solidFill>
                  <a:srgbClr val="1B2733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1B2733"/>
                </a:solidFill>
                <a:latin typeface="Arial"/>
                <a:ea typeface="Arial"/>
                <a:cs typeface="Arial"/>
              </a:rPr>
              <a:t>Paired gains over document-local BM25</a:t>
            </a:r>
            <a:endParaRPr sz="2475" b="1">
              <a:solidFill>
                <a:srgbClr val="1B2733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" name="Mean neural-selector differenc">
            <a:extLst xmlns:a="http://schemas.openxmlformats.org/drawingml/2006/main">
              <a:ext uri="{FF2B5EF4-FFF2-40B4-BE49-F238E27FC236}">
                <a16:creationId xmlns:a16="http://schemas.microsoft.com/office/drawing/2014/main" id="{BDBDE604-EF3B-4BAC-8C6A-EC729700A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742950"/>
            <a:ext cx="11315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76200" tIns="38100" rIns="76200" bIns="381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5B6872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B6872"/>
                </a:solidFill>
                <a:latin typeface="Arial"/>
                <a:ea typeface="Arial"/>
                <a:cs typeface="Arial"/>
              </a:rPr>
              <a:t>Mean neural-selector </a:t>
            </a:r>
            <a:r>
              <a:rPr sz="1400" b="0">
                <a:solidFill>
                  <a:srgbClr val="5B6872"/>
                </a:solidFill>
                <a:latin typeface="Arial"/>
                <a:ea typeface="Arial"/>
                <a:cs typeface="Arial"/>
              </a:rPr>
              <a:t>difference </a:t>
            </a:r>
            <a:r>
              <a:rPr sz="1425" b="0">
                <a:solidFill>
                  <a:srgbClr val="5B6872"/>
                </a:solidFill>
                <a:latin typeface="Arial"/>
                <a:ea typeface="Arial"/>
                <a:cs typeface="Arial"/>
              </a:rPr>
              <a:t>at the same budget with cluster-bootstrap 95% intervals</a:t>
            </a:r>
            <a:endParaRPr sz="1425" b="0">
              <a:solidFill>
                <a:srgbClr val="5B6872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" name="任意多边形 2">
            <a:extLst xmlns:a="http://schemas.openxmlformats.org/drawingml/2006/main">
              <a:ext uri="{FF2B5EF4-FFF2-40B4-BE49-F238E27FC236}">
                <a16:creationId xmlns:a16="http://schemas.microsoft.com/office/drawing/2014/main" id="{51ED0DA7-5314-46C9-8ED0-27F3A06E8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1200150"/>
            <a:ext cx="11315700" cy="9525"/>
          </a:xfrm>
          <a:custGeom xmlns:a="http://schemas.openxmlformats.org/drawingml/2006/main">
            <a:pathLst>
              <a:path w="11315700" h="9525">
                <a:moveTo>
                  <a:pt x="0" y="0"/>
                </a:moveTo>
                <a:lnTo>
                  <a:pt x="11315700" y="9525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1B2733"/>
            </a:solidFill>
            <a:prstDash val="solid"/>
          </a:ln>
        </p:spPr>
      </p:sp>
      <p:sp>
        <p:nvSpPr>
          <p:cNvPr id="4" name="Model and budget">
            <a:extLst xmlns:a="http://schemas.openxmlformats.org/drawingml/2006/main">
              <a:ext uri="{FF2B5EF4-FFF2-40B4-BE49-F238E27FC236}">
                <a16:creationId xmlns:a16="http://schemas.microsoft.com/office/drawing/2014/main" id="{50AC083B-42D8-46E3-BA0F-ED37EF812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1476375"/>
            <a:ext cx="2333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76200" tIns="38100" rIns="76200" bIns="381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B273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B2733"/>
                </a:solidFill>
                <a:latin typeface="Arial"/>
                <a:ea typeface="Arial"/>
                <a:cs typeface="Arial"/>
              </a:rPr>
              <a:t>Model and budget</a:t>
            </a:r>
            <a:endParaRPr sz="1650" b="1">
              <a:solidFill>
                <a:srgbClr val="1B2733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" name="Metric difference">
            <a:extLst xmlns:a="http://schemas.openxmlformats.org/drawingml/2006/main">
              <a:ext uri="{FF2B5EF4-FFF2-40B4-BE49-F238E27FC236}">
                <a16:creationId xmlns:a16="http://schemas.microsoft.com/office/drawing/2014/main" id="{713CF6E2-4C87-4E44-BB8F-5E64B429A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1476375"/>
            <a:ext cx="3286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76200" tIns="38100" rIns="762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1B273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B2733"/>
                </a:solidFill>
                <a:latin typeface="Arial"/>
                <a:ea typeface="Arial"/>
                <a:cs typeface="Arial"/>
              </a:rPr>
              <a:t>Metric difference</a:t>
            </a:r>
            <a:endParaRPr sz="1650" b="1">
              <a:solidFill>
                <a:srgbClr val="1B2733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" name="Mean [95% interval]">
            <a:extLst xmlns:a="http://schemas.openxmlformats.org/drawingml/2006/main">
              <a:ext uri="{FF2B5EF4-FFF2-40B4-BE49-F238E27FC236}">
                <a16:creationId xmlns:a16="http://schemas.microsoft.com/office/drawing/2014/main" id="{B6CC2129-A314-414C-A96C-5DE88CF3A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1476375"/>
            <a:ext cx="2990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76200" tIns="38100" rIns="76200" bIns="381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B273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B2733"/>
                </a:solidFill>
                <a:latin typeface="Arial"/>
                <a:ea typeface="Arial"/>
                <a:cs typeface="Arial"/>
              </a:rPr>
              <a:t>Mean [95% interval]</a:t>
            </a:r>
            <a:endParaRPr sz="1650" b="1">
              <a:solidFill>
                <a:srgbClr val="1B2733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" name="任意多边形 6">
            <a:extLst xmlns:a="http://schemas.openxmlformats.org/drawingml/2006/main">
              <a:ext uri="{FF2B5EF4-FFF2-40B4-BE49-F238E27FC236}">
                <a16:creationId xmlns:a16="http://schemas.microsoft.com/office/drawing/2014/main" id="{F5A24DCE-9896-4355-8B04-8175D5F5B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1952625"/>
            <a:ext cx="9525" cy="4276725"/>
          </a:xfrm>
          <a:custGeom xmlns:a="http://schemas.openxmlformats.org/drawingml/2006/main">
            <a:pathLst>
              <a:path w="9525" h="4276725">
                <a:moveTo>
                  <a:pt x="0" y="0"/>
                </a:moveTo>
                <a:lnTo>
                  <a:pt x="9525" y="427672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8E0E5"/>
            </a:solidFill>
            <a:prstDash val="solid"/>
          </a:ln>
        </p:spPr>
      </p:sp>
      <p:sp>
        <p:nvSpPr>
          <p:cNvPr id="8" name="-0.1">
            <a:extLst xmlns:a="http://schemas.openxmlformats.org/drawingml/2006/main">
              <a:ext uri="{FF2B5EF4-FFF2-40B4-BE49-F238E27FC236}">
                <a16:creationId xmlns:a16="http://schemas.microsoft.com/office/drawing/2014/main" id="{709A2839-CF4C-42BD-B57F-4DE411C3B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6296025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76200" tIns="38100" rIns="762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0">
                <a:solidFill>
                  <a:srgbClr val="5B687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B6872"/>
                </a:solidFill>
                <a:latin typeface="Arial"/>
                <a:ea typeface="Arial"/>
                <a:cs typeface="Arial"/>
              </a:rPr>
              <a:t>-0.1</a:t>
            </a:r>
            <a:endParaRPr sz="1350" b="0">
              <a:solidFill>
                <a:srgbClr val="5B6872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" name="任意多边形 8">
            <a:extLst xmlns:a="http://schemas.openxmlformats.org/drawingml/2006/main">
              <a:ext uri="{FF2B5EF4-FFF2-40B4-BE49-F238E27FC236}">
                <a16:creationId xmlns:a16="http://schemas.microsoft.com/office/drawing/2014/main" id="{8C800D91-1C5B-43CD-98DD-CACBDD3A3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1952625"/>
            <a:ext cx="9525" cy="4276725"/>
          </a:xfrm>
          <a:custGeom xmlns:a="http://schemas.openxmlformats.org/drawingml/2006/main">
            <a:pathLst>
              <a:path w="9525" h="4276725">
                <a:moveTo>
                  <a:pt x="0" y="0"/>
                </a:moveTo>
                <a:lnTo>
                  <a:pt x="9525" y="4276725"/>
                </a:lnTo>
              </a:path>
            </a:pathLst>
          </a:custGeom>
          <a:noFill xmlns:a="http://schemas.openxmlformats.org/drawingml/2006/main"/>
          <a:ln xmlns:a="http://schemas.openxmlformats.org/drawingml/2006/main" w="17145">
            <a:solidFill>
              <a:srgbClr val="1B2733"/>
            </a:solidFill>
            <a:prstDash val="dash"/>
          </a:ln>
        </p:spPr>
      </p:sp>
      <p:sp>
        <p:nvSpPr>
          <p:cNvPr id="10" name="0.0">
            <a:extLst xmlns:a="http://schemas.openxmlformats.org/drawingml/2006/main">
              <a:ext uri="{FF2B5EF4-FFF2-40B4-BE49-F238E27FC236}">
                <a16:creationId xmlns:a16="http://schemas.microsoft.com/office/drawing/2014/main" id="{A9509431-0A6F-48B7-ACFD-35B1F0A13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6296025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76200" tIns="38100" rIns="762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0">
                <a:solidFill>
                  <a:srgbClr val="5B687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B6872"/>
                </a:solidFill>
                <a:latin typeface="Arial"/>
                <a:ea typeface="Arial"/>
                <a:cs typeface="Arial"/>
              </a:rPr>
              <a:t>0.0</a:t>
            </a:r>
            <a:endParaRPr sz="1350" b="0">
              <a:solidFill>
                <a:srgbClr val="5B6872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1" name="任意多边形 10">
            <a:extLst xmlns:a="http://schemas.openxmlformats.org/drawingml/2006/main">
              <a:ext uri="{FF2B5EF4-FFF2-40B4-BE49-F238E27FC236}">
                <a16:creationId xmlns:a16="http://schemas.microsoft.com/office/drawing/2014/main" id="{03D107BB-AD73-4C0A-BEDB-DA964229C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952625"/>
            <a:ext cx="9525" cy="4276725"/>
          </a:xfrm>
          <a:custGeom xmlns:a="http://schemas.openxmlformats.org/drawingml/2006/main">
            <a:pathLst>
              <a:path w="9525" h="4276725">
                <a:moveTo>
                  <a:pt x="0" y="0"/>
                </a:moveTo>
                <a:lnTo>
                  <a:pt x="9525" y="427672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8E0E5"/>
            </a:solidFill>
            <a:prstDash val="solid"/>
          </a:ln>
        </p:spPr>
      </p:sp>
      <p:sp>
        <p:nvSpPr>
          <p:cNvPr id="12" name="0.1">
            <a:extLst xmlns:a="http://schemas.openxmlformats.org/drawingml/2006/main">
              <a:ext uri="{FF2B5EF4-FFF2-40B4-BE49-F238E27FC236}">
                <a16:creationId xmlns:a16="http://schemas.microsoft.com/office/drawing/2014/main" id="{AE290A7A-0437-4E4B-B880-7C8A7B3C4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6296025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76200" tIns="38100" rIns="762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0">
                <a:solidFill>
                  <a:srgbClr val="5B687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B6872"/>
                </a:solidFill>
                <a:latin typeface="Arial"/>
                <a:ea typeface="Arial"/>
                <a:cs typeface="Arial"/>
              </a:rPr>
              <a:t>0.1</a:t>
            </a:r>
            <a:endParaRPr sz="1350" b="0">
              <a:solidFill>
                <a:srgbClr val="5B6872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" name="任意多边形 12">
            <a:extLst xmlns:a="http://schemas.openxmlformats.org/drawingml/2006/main">
              <a:ext uri="{FF2B5EF4-FFF2-40B4-BE49-F238E27FC236}">
                <a16:creationId xmlns:a16="http://schemas.microsoft.com/office/drawing/2014/main" id="{F1E57B53-2738-486D-989C-627400DBE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1952625"/>
            <a:ext cx="9525" cy="4276725"/>
          </a:xfrm>
          <a:custGeom xmlns:a="http://schemas.openxmlformats.org/drawingml/2006/main">
            <a:pathLst>
              <a:path w="9525" h="4276725">
                <a:moveTo>
                  <a:pt x="0" y="0"/>
                </a:moveTo>
                <a:lnTo>
                  <a:pt x="9525" y="427672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8E0E5"/>
            </a:solidFill>
            <a:prstDash val="solid"/>
          </a:ln>
        </p:spPr>
      </p:sp>
      <p:sp>
        <p:nvSpPr>
          <p:cNvPr id="14" name="0.2">
            <a:extLst xmlns:a="http://schemas.openxmlformats.org/drawingml/2006/main">
              <a:ext uri="{FF2B5EF4-FFF2-40B4-BE49-F238E27FC236}">
                <a16:creationId xmlns:a16="http://schemas.microsoft.com/office/drawing/2014/main" id="{AF8FD882-985B-4DD9-8E56-0A426CE71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6296025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76200" tIns="38100" rIns="762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0">
                <a:solidFill>
                  <a:srgbClr val="5B687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B6872"/>
                </a:solidFill>
                <a:latin typeface="Arial"/>
                <a:ea typeface="Arial"/>
                <a:cs typeface="Arial"/>
              </a:rPr>
              <a:t>0.2</a:t>
            </a:r>
            <a:endParaRPr sz="1350" b="0">
              <a:solidFill>
                <a:srgbClr val="5B6872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" name="任意多边形 14">
            <a:extLst xmlns:a="http://schemas.openxmlformats.org/drawingml/2006/main">
              <a:ext uri="{FF2B5EF4-FFF2-40B4-BE49-F238E27FC236}">
                <a16:creationId xmlns:a16="http://schemas.microsoft.com/office/drawing/2014/main" id="{166E3BCD-558C-4940-9A0D-CC18E62F2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952625"/>
            <a:ext cx="9525" cy="4276725"/>
          </a:xfrm>
          <a:custGeom xmlns:a="http://schemas.openxmlformats.org/drawingml/2006/main">
            <a:pathLst>
              <a:path w="9525" h="4276725">
                <a:moveTo>
                  <a:pt x="0" y="0"/>
                </a:moveTo>
                <a:lnTo>
                  <a:pt x="9525" y="427672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8E0E5"/>
            </a:solidFill>
            <a:prstDash val="solid"/>
          </a:ln>
        </p:spPr>
      </p:sp>
      <p:sp>
        <p:nvSpPr>
          <p:cNvPr id="16" name="0.3">
            <a:extLst xmlns:a="http://schemas.openxmlformats.org/drawingml/2006/main">
              <a:ext uri="{FF2B5EF4-FFF2-40B4-BE49-F238E27FC236}">
                <a16:creationId xmlns:a16="http://schemas.microsoft.com/office/drawing/2014/main" id="{B94D72F4-4CBB-4D63-8A18-E2572C40C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6296025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76200" tIns="38100" rIns="762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0">
                <a:solidFill>
                  <a:srgbClr val="5B687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B6872"/>
                </a:solidFill>
                <a:latin typeface="Arial"/>
                <a:ea typeface="Arial"/>
                <a:cs typeface="Arial"/>
              </a:rPr>
              <a:t>0.3</a:t>
            </a:r>
            <a:endParaRPr sz="1350" b="0">
              <a:solidFill>
                <a:srgbClr val="5B6872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" name="QASPER&#10;evidence‑matching&#10;score">
            <a:extLst xmlns:a="http://schemas.openxmlformats.org/drawingml/2006/main">
              <a:ext uri="{FF2B5EF4-FFF2-40B4-BE49-F238E27FC236}">
                <a16:creationId xmlns:a16="http://schemas.microsoft.com/office/drawing/2014/main" id="{85B5AFEC-A37E-4B91-ADE4-BA105EF6B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" y="2409825"/>
            <a:ext cx="148590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76200" tIns="38100" rIns="762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1B2733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B2733"/>
                </a:solidFill>
                <a:latin typeface="Arial"/>
                <a:ea typeface="Arial"/>
                <a:cs typeface="Arial"/>
              </a:rPr>
              <a:t>QASPER</a:t>
            </a:r>
            <a:endParaRPr sz="1125" b="1">
              <a:solidFill>
                <a:srgbClr val="1B2733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algn="ctr">
              <a:buNone/>
              <a:defRPr sz="1125" b="1">
                <a:solidFill>
                  <a:srgbClr val="1B2733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B2733"/>
                </a:solidFill>
                <a:latin typeface="Arial"/>
                <a:ea typeface="Arial"/>
                <a:cs typeface="Arial"/>
              </a:rPr>
              <a:t>evidence‑matching</a:t>
            </a:r>
            <a:endParaRPr sz="1125" b="1">
              <a:solidFill>
                <a:srgbClr val="1B2733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algn="ctr">
              <a:buNone/>
              <a:defRPr sz="1125" b="1">
                <a:solidFill>
                  <a:srgbClr val="1B2733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B2733"/>
                </a:solidFill>
                <a:latin typeface="Arial"/>
                <a:ea typeface="Arial"/>
                <a:cs typeface="Arial"/>
              </a:rPr>
              <a:t>score</a:t>
            </a:r>
            <a:endParaRPr sz="1125" b="1">
              <a:solidFill>
                <a:srgbClr val="1B2733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8" name="BGE  k = 2">
            <a:extLst xmlns:a="http://schemas.openxmlformats.org/drawingml/2006/main">
              <a:ext uri="{FF2B5EF4-FFF2-40B4-BE49-F238E27FC236}">
                <a16:creationId xmlns:a16="http://schemas.microsoft.com/office/drawing/2014/main" id="{CEAC96CB-7F13-45A2-B86B-C45BC23D6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2076450"/>
            <a:ext cx="2143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76200" tIns="38100" rIns="76200" bIns="381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0072B2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072B2"/>
                </a:solidFill>
                <a:latin typeface="Arial"/>
                <a:ea typeface="Arial"/>
                <a:cs typeface="Arial"/>
              </a:rPr>
              <a:t>BGE  k = 2</a:t>
            </a:r>
            <a:endParaRPr sz="1575" b="1">
              <a:solidFill>
                <a:srgbClr val="0072B2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9" name="任意多边形 18">
            <a:extLst xmlns:a="http://schemas.openxmlformats.org/drawingml/2006/main">
              <a:ext uri="{FF2B5EF4-FFF2-40B4-BE49-F238E27FC236}">
                <a16:creationId xmlns:a16="http://schemas.microsoft.com/office/drawing/2014/main" id="{04091E0D-3C19-4A6A-9E97-8947F1CBB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1628" y="2238375"/>
            <a:ext cx="1497183" cy="9525"/>
          </a:xfrm>
          <a:custGeom xmlns:a="http://schemas.openxmlformats.org/drawingml/2006/main">
            <a:pathLst>
              <a:path w="1497183" h="9525">
                <a:moveTo>
                  <a:pt x="0" y="0"/>
                </a:moveTo>
                <a:lnTo>
                  <a:pt x="1497183" y="9525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0072B2"/>
            </a:solidFill>
            <a:prstDash val="solid"/>
          </a:ln>
        </p:spPr>
      </p:sp>
      <p:sp>
        <p:nvSpPr>
          <p:cNvPr id="20" name="任意多边形 19">
            <a:extLst xmlns:a="http://schemas.openxmlformats.org/drawingml/2006/main">
              <a:ext uri="{FF2B5EF4-FFF2-40B4-BE49-F238E27FC236}">
                <a16:creationId xmlns:a16="http://schemas.microsoft.com/office/drawing/2014/main" id="{7FEF5D58-F8B5-4168-8ACA-57C11B0FB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1628" y="2171700"/>
            <a:ext cx="9525" cy="133350"/>
          </a:xfrm>
          <a:custGeom xmlns:a="http://schemas.openxmlformats.org/drawingml/2006/main">
            <a:pathLst>
              <a:path w="9525" h="133350">
                <a:moveTo>
                  <a:pt x="0" y="0"/>
                </a:moveTo>
                <a:lnTo>
                  <a:pt x="9525" y="13335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0072B2"/>
            </a:solidFill>
            <a:prstDash val="solid"/>
          </a:ln>
        </p:spPr>
      </p:sp>
      <p:sp>
        <p:nvSpPr>
          <p:cNvPr id="21" name="任意多边形 20">
            <a:extLst xmlns:a="http://schemas.openxmlformats.org/drawingml/2006/main">
              <a:ext uri="{FF2B5EF4-FFF2-40B4-BE49-F238E27FC236}">
                <a16:creationId xmlns:a16="http://schemas.microsoft.com/office/drawing/2014/main" id="{FDA84554-8C74-4DC0-AF62-19FA8F001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812" y="2171700"/>
            <a:ext cx="9525" cy="133350"/>
          </a:xfrm>
          <a:custGeom xmlns:a="http://schemas.openxmlformats.org/drawingml/2006/main">
            <a:pathLst>
              <a:path w="9525" h="133350">
                <a:moveTo>
                  <a:pt x="0" y="0"/>
                </a:moveTo>
                <a:lnTo>
                  <a:pt x="9525" y="13335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0072B2"/>
            </a:solidFill>
            <a:prstDash val="solid"/>
          </a:ln>
        </p:spPr>
      </p:sp>
      <p:sp>
        <p:nvSpPr>
          <p:cNvPr id="22" name="椭圆 21">
            <a:extLst xmlns:a="http://schemas.openxmlformats.org/drawingml/2006/main">
              <a:ext uri="{FF2B5EF4-FFF2-40B4-BE49-F238E27FC236}">
                <a16:creationId xmlns:a16="http://schemas.microsoft.com/office/drawing/2014/main" id="{D36D31B2-F7D7-4FCC-96C5-8A3DC3E39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29808" y="217170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3" name="+0.156  [+0.084, +0.230]">
            <a:extLst xmlns:a="http://schemas.openxmlformats.org/drawingml/2006/main">
              <a:ext uri="{FF2B5EF4-FFF2-40B4-BE49-F238E27FC236}">
                <a16:creationId xmlns:a16="http://schemas.microsoft.com/office/drawing/2014/main" id="{EC281586-B0AE-4E16-B5F0-F5C072173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2066925"/>
            <a:ext cx="3009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76200" tIns="38100" rIns="76200" bIns="381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1B2733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B2733"/>
                </a:solidFill>
                <a:latin typeface="Arial"/>
                <a:ea typeface="Arial"/>
                <a:cs typeface="Arial"/>
              </a:rPr>
              <a:t>+0.156  [+0.084, +0.230]</a:t>
            </a:r>
            <a:endParaRPr sz="1500" b="0">
              <a:solidFill>
                <a:srgbClr val="1B2733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4" name="BGE  k = 4">
            <a:extLst xmlns:a="http://schemas.openxmlformats.org/drawingml/2006/main">
              <a:ext uri="{FF2B5EF4-FFF2-40B4-BE49-F238E27FC236}">
                <a16:creationId xmlns:a16="http://schemas.microsoft.com/office/drawing/2014/main" id="{4F1B4DF3-4B56-47EE-8B72-4023934C2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2543175"/>
            <a:ext cx="2143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76200" tIns="38100" rIns="76200" bIns="381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0072B2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072B2"/>
                </a:solidFill>
                <a:latin typeface="Arial"/>
                <a:ea typeface="Arial"/>
                <a:cs typeface="Arial"/>
              </a:rPr>
              <a:t>BGE  k = 4</a:t>
            </a:r>
            <a:endParaRPr sz="1575" b="1">
              <a:solidFill>
                <a:srgbClr val="0072B2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5" name="任意多边形 24">
            <a:extLst xmlns:a="http://schemas.openxmlformats.org/drawingml/2006/main">
              <a:ext uri="{FF2B5EF4-FFF2-40B4-BE49-F238E27FC236}">
                <a16:creationId xmlns:a16="http://schemas.microsoft.com/office/drawing/2014/main" id="{DB1EAC7B-7062-42F5-8CF5-41262A6B3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1235" y="2705100"/>
            <a:ext cx="1717247" cy="9525"/>
          </a:xfrm>
          <a:custGeom xmlns:a="http://schemas.openxmlformats.org/drawingml/2006/main">
            <a:pathLst>
              <a:path w="1717247" h="9525">
                <a:moveTo>
                  <a:pt x="0" y="0"/>
                </a:moveTo>
                <a:lnTo>
                  <a:pt x="1717247" y="9525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0072B2"/>
            </a:solidFill>
            <a:prstDash val="solid"/>
          </a:ln>
        </p:spPr>
      </p:sp>
      <p:sp>
        <p:nvSpPr>
          <p:cNvPr id="26" name="任意多边形 25">
            <a:extLst xmlns:a="http://schemas.openxmlformats.org/drawingml/2006/main">
              <a:ext uri="{FF2B5EF4-FFF2-40B4-BE49-F238E27FC236}">
                <a16:creationId xmlns:a16="http://schemas.microsoft.com/office/drawing/2014/main" id="{B2D860C6-6F43-4E37-9FD3-0751DE717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1235" y="2638425"/>
            <a:ext cx="9525" cy="133350"/>
          </a:xfrm>
          <a:custGeom xmlns:a="http://schemas.openxmlformats.org/drawingml/2006/main">
            <a:pathLst>
              <a:path w="9525" h="133350">
                <a:moveTo>
                  <a:pt x="0" y="0"/>
                </a:moveTo>
                <a:lnTo>
                  <a:pt x="9525" y="13335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0072B2"/>
            </a:solidFill>
            <a:prstDash val="solid"/>
          </a:ln>
        </p:spPr>
      </p:sp>
      <p:sp>
        <p:nvSpPr>
          <p:cNvPr id="27" name="任意多边形 26">
            <a:extLst xmlns:a="http://schemas.openxmlformats.org/drawingml/2006/main">
              <a:ext uri="{FF2B5EF4-FFF2-40B4-BE49-F238E27FC236}">
                <a16:creationId xmlns:a16="http://schemas.microsoft.com/office/drawing/2014/main" id="{D8F44433-CCC2-429E-8233-67FAAD432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8482" y="2638425"/>
            <a:ext cx="9525" cy="133350"/>
          </a:xfrm>
          <a:custGeom xmlns:a="http://schemas.openxmlformats.org/drawingml/2006/main">
            <a:pathLst>
              <a:path w="9525" h="133350">
                <a:moveTo>
                  <a:pt x="0" y="0"/>
                </a:moveTo>
                <a:lnTo>
                  <a:pt x="9525" y="13335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0072B2"/>
            </a:solidFill>
            <a:prstDash val="solid"/>
          </a:ln>
        </p:spPr>
      </p:sp>
      <p:sp>
        <p:nvSpPr>
          <p:cNvPr id="28" name="椭圆 27">
            <a:extLst xmlns:a="http://schemas.openxmlformats.org/drawingml/2006/main">
              <a:ext uri="{FF2B5EF4-FFF2-40B4-BE49-F238E27FC236}">
                <a16:creationId xmlns:a16="http://schemas.microsoft.com/office/drawing/2014/main" id="{64B726B9-EA0B-4235-A173-17375AABD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9660" y="263842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9" name="+0.165  [+0.083, +0.250]">
            <a:extLst xmlns:a="http://schemas.openxmlformats.org/drawingml/2006/main">
              <a:ext uri="{FF2B5EF4-FFF2-40B4-BE49-F238E27FC236}">
                <a16:creationId xmlns:a16="http://schemas.microsoft.com/office/drawing/2014/main" id="{FAA257A7-20F1-4CC5-BA6E-55EF61343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2533650"/>
            <a:ext cx="3009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76200" tIns="38100" rIns="76200" bIns="381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1B2733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B2733"/>
                </a:solidFill>
                <a:latin typeface="Arial"/>
                <a:ea typeface="Arial"/>
                <a:cs typeface="Arial"/>
              </a:rPr>
              <a:t>+0.165  [+0.083, +0.250]</a:t>
            </a:r>
            <a:endParaRPr sz="1500" b="0">
              <a:solidFill>
                <a:srgbClr val="1B2733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0" name="MiniLM  k = 2">
            <a:extLst xmlns:a="http://schemas.openxmlformats.org/drawingml/2006/main">
              <a:ext uri="{FF2B5EF4-FFF2-40B4-BE49-F238E27FC236}">
                <a16:creationId xmlns:a16="http://schemas.microsoft.com/office/drawing/2014/main" id="{97C97B5E-8500-4856-BF9B-66F2A4453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3009900"/>
            <a:ext cx="2143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76200" tIns="38100" rIns="76200" bIns="381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009E73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009E73"/>
                </a:solidFill>
                <a:latin typeface="Arial"/>
                <a:ea typeface="Arial"/>
                <a:cs typeface="Arial"/>
              </a:rPr>
              <a:t>MiniLM  k = 2</a:t>
            </a:r>
            <a:endParaRPr sz="1575" b="0">
              <a:solidFill>
                <a:srgbClr val="009E73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1" name="任意多边形 30">
            <a:extLst xmlns:a="http://schemas.openxmlformats.org/drawingml/2006/main">
              <a:ext uri="{FF2B5EF4-FFF2-40B4-BE49-F238E27FC236}">
                <a16:creationId xmlns:a16="http://schemas.microsoft.com/office/drawing/2014/main" id="{4320BC86-26C2-4357-9C62-792503974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4865" y="3171825"/>
            <a:ext cx="1364328" cy="9525"/>
          </a:xfrm>
          <a:custGeom xmlns:a="http://schemas.openxmlformats.org/drawingml/2006/main">
            <a:pathLst>
              <a:path w="1364328" h="9525">
                <a:moveTo>
                  <a:pt x="0" y="0"/>
                </a:moveTo>
                <a:lnTo>
                  <a:pt x="1364328" y="9525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009E73"/>
            </a:solidFill>
            <a:prstDash val="solid"/>
          </a:ln>
        </p:spPr>
      </p:sp>
      <p:sp>
        <p:nvSpPr>
          <p:cNvPr id="32" name="任意多边形 31">
            <a:extLst xmlns:a="http://schemas.openxmlformats.org/drawingml/2006/main">
              <a:ext uri="{FF2B5EF4-FFF2-40B4-BE49-F238E27FC236}">
                <a16:creationId xmlns:a16="http://schemas.microsoft.com/office/drawing/2014/main" id="{D25BB719-8843-4985-ADC0-9D4109296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4865" y="3105150"/>
            <a:ext cx="9525" cy="133350"/>
          </a:xfrm>
          <a:custGeom xmlns:a="http://schemas.openxmlformats.org/drawingml/2006/main">
            <a:pathLst>
              <a:path w="9525" h="133350">
                <a:moveTo>
                  <a:pt x="0" y="0"/>
                </a:moveTo>
                <a:lnTo>
                  <a:pt x="9525" y="13335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009E73"/>
            </a:solidFill>
            <a:prstDash val="solid"/>
          </a:ln>
        </p:spPr>
      </p:sp>
      <p:sp>
        <p:nvSpPr>
          <p:cNvPr id="33" name="任意多边形 32">
            <a:extLst xmlns:a="http://schemas.openxmlformats.org/drawingml/2006/main">
              <a:ext uri="{FF2B5EF4-FFF2-40B4-BE49-F238E27FC236}">
                <a16:creationId xmlns:a16="http://schemas.microsoft.com/office/drawing/2014/main" id="{8177C64F-D165-42B1-A269-0B22D7DCD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192" y="3105150"/>
            <a:ext cx="9525" cy="133350"/>
          </a:xfrm>
          <a:custGeom xmlns:a="http://schemas.openxmlformats.org/drawingml/2006/main">
            <a:pathLst>
              <a:path w="9525" h="133350">
                <a:moveTo>
                  <a:pt x="0" y="0"/>
                </a:moveTo>
                <a:lnTo>
                  <a:pt x="9525" y="13335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009E73"/>
            </a:solidFill>
            <a:prstDash val="solid"/>
          </a:ln>
        </p:spPr>
      </p:sp>
      <p:sp>
        <p:nvSpPr>
          <p:cNvPr id="34" name="菱形 33">
            <a:extLst xmlns:a="http://schemas.openxmlformats.org/drawingml/2006/main">
              <a:ext uri="{FF2B5EF4-FFF2-40B4-BE49-F238E27FC236}">
                <a16:creationId xmlns:a16="http://schemas.microsoft.com/office/drawing/2014/main" id="{03C410F8-B3F4-40CD-BA4E-92A8FEA19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0749" y="3105150"/>
            <a:ext cx="133350" cy="13335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009E73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35" name="+0.041  [-0.023, +0.109]">
            <a:extLst xmlns:a="http://schemas.openxmlformats.org/drawingml/2006/main">
              <a:ext uri="{FF2B5EF4-FFF2-40B4-BE49-F238E27FC236}">
                <a16:creationId xmlns:a16="http://schemas.microsoft.com/office/drawing/2014/main" id="{49563F1D-43CF-4AF6-9C95-AC7482832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3000375"/>
            <a:ext cx="3009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76200" tIns="38100" rIns="76200" bIns="381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1B2733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B2733"/>
                </a:solidFill>
                <a:latin typeface="Arial"/>
                <a:ea typeface="Arial"/>
                <a:cs typeface="Arial"/>
              </a:rPr>
              <a:t>+0.041  [-0.023, +0.109]</a:t>
            </a:r>
            <a:endParaRPr sz="1500" b="0">
              <a:solidFill>
                <a:srgbClr val="1B2733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6" name="MiniLM  k = 4">
            <a:extLst xmlns:a="http://schemas.openxmlformats.org/drawingml/2006/main">
              <a:ext uri="{FF2B5EF4-FFF2-40B4-BE49-F238E27FC236}">
                <a16:creationId xmlns:a16="http://schemas.microsoft.com/office/drawing/2014/main" id="{B2C7B63A-4739-43B1-94B9-23FC4CD4A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3476625"/>
            <a:ext cx="2143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76200" tIns="38100" rIns="76200" bIns="381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009E73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009E73"/>
                </a:solidFill>
                <a:latin typeface="Arial"/>
                <a:ea typeface="Arial"/>
                <a:cs typeface="Arial"/>
              </a:rPr>
              <a:t>MiniLM  k = 4</a:t>
            </a:r>
            <a:endParaRPr sz="1575" b="0">
              <a:solidFill>
                <a:srgbClr val="009E73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7" name="任意多边形 36">
            <a:extLst xmlns:a="http://schemas.openxmlformats.org/drawingml/2006/main">
              <a:ext uri="{FF2B5EF4-FFF2-40B4-BE49-F238E27FC236}">
                <a16:creationId xmlns:a16="http://schemas.microsoft.com/office/drawing/2014/main" id="{11A14D78-17F3-43E9-A6D6-787F854F8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3494" y="3638550"/>
            <a:ext cx="1281611" cy="9525"/>
          </a:xfrm>
          <a:custGeom xmlns:a="http://schemas.openxmlformats.org/drawingml/2006/main">
            <a:pathLst>
              <a:path w="1281611" h="9525">
                <a:moveTo>
                  <a:pt x="0" y="0"/>
                </a:moveTo>
                <a:lnTo>
                  <a:pt x="1281611" y="9525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009E73"/>
            </a:solidFill>
            <a:prstDash val="solid"/>
          </a:ln>
        </p:spPr>
      </p:sp>
      <p:sp>
        <p:nvSpPr>
          <p:cNvPr id="38" name="任意多边形 37">
            <a:extLst xmlns:a="http://schemas.openxmlformats.org/drawingml/2006/main">
              <a:ext uri="{FF2B5EF4-FFF2-40B4-BE49-F238E27FC236}">
                <a16:creationId xmlns:a16="http://schemas.microsoft.com/office/drawing/2014/main" id="{4B561B79-6195-49A6-8F07-51E842CA6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3494" y="3571875"/>
            <a:ext cx="9525" cy="133350"/>
          </a:xfrm>
          <a:custGeom xmlns:a="http://schemas.openxmlformats.org/drawingml/2006/main">
            <a:pathLst>
              <a:path w="9525" h="133350">
                <a:moveTo>
                  <a:pt x="0" y="0"/>
                </a:moveTo>
                <a:lnTo>
                  <a:pt x="9525" y="13335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009E73"/>
            </a:solidFill>
            <a:prstDash val="solid"/>
          </a:ln>
        </p:spPr>
      </p:sp>
      <p:sp>
        <p:nvSpPr>
          <p:cNvPr id="39" name="任意多边形 38">
            <a:extLst xmlns:a="http://schemas.openxmlformats.org/drawingml/2006/main">
              <a:ext uri="{FF2B5EF4-FFF2-40B4-BE49-F238E27FC236}">
                <a16:creationId xmlns:a16="http://schemas.microsoft.com/office/drawing/2014/main" id="{64467227-80EF-4821-8586-6F19F4FD8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5104" y="3571875"/>
            <a:ext cx="9525" cy="133350"/>
          </a:xfrm>
          <a:custGeom xmlns:a="http://schemas.openxmlformats.org/drawingml/2006/main">
            <a:pathLst>
              <a:path w="9525" h="133350">
                <a:moveTo>
                  <a:pt x="0" y="0"/>
                </a:moveTo>
                <a:lnTo>
                  <a:pt x="9525" y="13335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009E73"/>
            </a:solidFill>
            <a:prstDash val="solid"/>
          </a:ln>
        </p:spPr>
      </p:sp>
      <p:sp>
        <p:nvSpPr>
          <p:cNvPr id="40" name="菱形 39">
            <a:extLst xmlns:a="http://schemas.openxmlformats.org/drawingml/2006/main">
              <a:ext uri="{FF2B5EF4-FFF2-40B4-BE49-F238E27FC236}">
                <a16:creationId xmlns:a16="http://schemas.microsoft.com/office/drawing/2014/main" id="{06BD0C99-00D9-4651-B38D-14E40CA5B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4945" y="3571875"/>
            <a:ext cx="133350" cy="13335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009E73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1" name="+0.034  [-0.027, +0.097]">
            <a:extLst xmlns:a="http://schemas.openxmlformats.org/drawingml/2006/main">
              <a:ext uri="{FF2B5EF4-FFF2-40B4-BE49-F238E27FC236}">
                <a16:creationId xmlns:a16="http://schemas.microsoft.com/office/drawing/2014/main" id="{349892EB-99B4-4FA1-887E-FD02CB0AE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3467100"/>
            <a:ext cx="3009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76200" tIns="38100" rIns="76200" bIns="381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1B2733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B2733"/>
                </a:solidFill>
                <a:latin typeface="Arial"/>
                <a:ea typeface="Arial"/>
                <a:cs typeface="Arial"/>
              </a:rPr>
              <a:t>+0.034  [-0.027, +0.097]</a:t>
            </a:r>
            <a:endParaRPr sz="1500" b="0">
              <a:solidFill>
                <a:srgbClr val="1B2733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2" name="SciFact&#10;evidence‑sentence&#10;reca">
            <a:extLst xmlns:a="http://schemas.openxmlformats.org/drawingml/2006/main">
              <a:ext uri="{FF2B5EF4-FFF2-40B4-BE49-F238E27FC236}">
                <a16:creationId xmlns:a16="http://schemas.microsoft.com/office/drawing/2014/main" id="{F4FF4D7C-03BE-4092-901E-523F7DC01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" y="4638675"/>
            <a:ext cx="148590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76200" tIns="38100" rIns="762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1B2733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B2733"/>
                </a:solidFill>
                <a:latin typeface="Arial"/>
                <a:ea typeface="Arial"/>
                <a:cs typeface="Arial"/>
              </a:rPr>
              <a:t>SciFact</a:t>
            </a:r>
            <a:endParaRPr sz="1125" b="1">
              <a:solidFill>
                <a:srgbClr val="1B2733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algn="ctr">
              <a:buNone/>
              <a:defRPr sz="1125" b="1">
                <a:solidFill>
                  <a:srgbClr val="1B2733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B2733"/>
                </a:solidFill>
                <a:latin typeface="Arial"/>
                <a:ea typeface="Arial"/>
                <a:cs typeface="Arial"/>
              </a:rPr>
              <a:t>evidence‑sentence</a:t>
            </a:r>
            <a:endParaRPr sz="1125" b="1">
              <a:solidFill>
                <a:srgbClr val="1B2733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algn="ctr">
              <a:buNone/>
              <a:defRPr sz="1125" b="1">
                <a:solidFill>
                  <a:srgbClr val="1B2733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B2733"/>
                </a:solidFill>
                <a:latin typeface="Arial"/>
                <a:ea typeface="Arial"/>
                <a:cs typeface="Arial"/>
              </a:rPr>
              <a:t>recall</a:t>
            </a:r>
            <a:endParaRPr sz="1125" b="1">
              <a:solidFill>
                <a:srgbClr val="1B2733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3" name="BGE  k = 2">
            <a:extLst xmlns:a="http://schemas.openxmlformats.org/drawingml/2006/main">
              <a:ext uri="{FF2B5EF4-FFF2-40B4-BE49-F238E27FC236}">
                <a16:creationId xmlns:a16="http://schemas.microsoft.com/office/drawing/2014/main" id="{3C844493-5CC5-4115-8F62-A5D2C01D6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4305300"/>
            <a:ext cx="2143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76200" tIns="38100" rIns="76200" bIns="381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0072B2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072B2"/>
                </a:solidFill>
                <a:latin typeface="Arial"/>
                <a:ea typeface="Arial"/>
                <a:cs typeface="Arial"/>
              </a:rPr>
              <a:t>BGE  k = 2</a:t>
            </a:r>
            <a:endParaRPr sz="1575" b="1">
              <a:solidFill>
                <a:srgbClr val="0072B2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4" name="任意多边形 43">
            <a:extLst xmlns:a="http://schemas.openxmlformats.org/drawingml/2006/main">
              <a:ext uri="{FF2B5EF4-FFF2-40B4-BE49-F238E27FC236}">
                <a16:creationId xmlns:a16="http://schemas.microsoft.com/office/drawing/2014/main" id="{691B1BB7-58F0-45AD-B2A1-2371DC688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220" y="4467225"/>
            <a:ext cx="906710" cy="9525"/>
          </a:xfrm>
          <a:custGeom xmlns:a="http://schemas.openxmlformats.org/drawingml/2006/main">
            <a:pathLst>
              <a:path w="906710" h="9525">
                <a:moveTo>
                  <a:pt x="0" y="0"/>
                </a:moveTo>
                <a:lnTo>
                  <a:pt x="906710" y="9525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0072B2"/>
            </a:solidFill>
            <a:prstDash val="solid"/>
          </a:ln>
        </p:spPr>
      </p:sp>
      <p:sp>
        <p:nvSpPr>
          <p:cNvPr id="45" name="任意多边形 44">
            <a:extLst xmlns:a="http://schemas.openxmlformats.org/drawingml/2006/main">
              <a:ext uri="{FF2B5EF4-FFF2-40B4-BE49-F238E27FC236}">
                <a16:creationId xmlns:a16="http://schemas.microsoft.com/office/drawing/2014/main" id="{191A96BA-65D8-45E7-A0F0-F1BB7C589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220" y="4400550"/>
            <a:ext cx="9525" cy="133350"/>
          </a:xfrm>
          <a:custGeom xmlns:a="http://schemas.openxmlformats.org/drawingml/2006/main">
            <a:pathLst>
              <a:path w="9525" h="133350">
                <a:moveTo>
                  <a:pt x="0" y="0"/>
                </a:moveTo>
                <a:lnTo>
                  <a:pt x="9525" y="13335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0072B2"/>
            </a:solidFill>
            <a:prstDash val="solid"/>
          </a:ln>
        </p:spPr>
      </p:sp>
      <p:sp>
        <p:nvSpPr>
          <p:cNvPr id="46" name="任意多边形 45">
            <a:extLst xmlns:a="http://schemas.openxmlformats.org/drawingml/2006/main">
              <a:ext uri="{FF2B5EF4-FFF2-40B4-BE49-F238E27FC236}">
                <a16:creationId xmlns:a16="http://schemas.microsoft.com/office/drawing/2014/main" id="{6C072101-10CE-4042-AC08-ACF28CDE4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2930" y="4400550"/>
            <a:ext cx="9525" cy="133350"/>
          </a:xfrm>
          <a:custGeom xmlns:a="http://schemas.openxmlformats.org/drawingml/2006/main">
            <a:pathLst>
              <a:path w="9525" h="133350">
                <a:moveTo>
                  <a:pt x="0" y="0"/>
                </a:moveTo>
                <a:lnTo>
                  <a:pt x="9525" y="13335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0072B2"/>
            </a:solidFill>
            <a:prstDash val="solid"/>
          </a:ln>
        </p:spPr>
      </p:sp>
      <p:sp>
        <p:nvSpPr>
          <p:cNvPr id="47" name="椭圆 46">
            <a:extLst xmlns:a="http://schemas.openxmlformats.org/drawingml/2006/main">
              <a:ext uri="{FF2B5EF4-FFF2-40B4-BE49-F238E27FC236}">
                <a16:creationId xmlns:a16="http://schemas.microsoft.com/office/drawing/2014/main" id="{3616572C-270D-4CB3-8D91-8783EAA1E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9229" y="440055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8" name="+0.102  [+0.057, +0.146]">
            <a:extLst xmlns:a="http://schemas.openxmlformats.org/drawingml/2006/main">
              <a:ext uri="{FF2B5EF4-FFF2-40B4-BE49-F238E27FC236}">
                <a16:creationId xmlns:a16="http://schemas.microsoft.com/office/drawing/2014/main" id="{6D11EFEB-3CD3-481D-87F3-ADB955E84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4295775"/>
            <a:ext cx="3009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76200" tIns="38100" rIns="76200" bIns="381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1B2733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B2733"/>
                </a:solidFill>
                <a:latin typeface="Arial"/>
                <a:ea typeface="Arial"/>
                <a:cs typeface="Arial"/>
              </a:rPr>
              <a:t>+0.102  [+0.057, +0.146]</a:t>
            </a:r>
            <a:endParaRPr sz="1500" b="0">
              <a:solidFill>
                <a:srgbClr val="1B2733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9" name="BGE  k = 4">
            <a:extLst xmlns:a="http://schemas.openxmlformats.org/drawingml/2006/main">
              <a:ext uri="{FF2B5EF4-FFF2-40B4-BE49-F238E27FC236}">
                <a16:creationId xmlns:a16="http://schemas.microsoft.com/office/drawing/2014/main" id="{9C2B5940-0138-4C42-9252-CEC033962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4772025"/>
            <a:ext cx="2143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76200" tIns="38100" rIns="76200" bIns="381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0072B2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072B2"/>
                </a:solidFill>
                <a:latin typeface="Arial"/>
                <a:ea typeface="Arial"/>
                <a:cs typeface="Arial"/>
              </a:rPr>
              <a:t>BGE  k = 4</a:t>
            </a:r>
            <a:endParaRPr sz="1575" b="1">
              <a:solidFill>
                <a:srgbClr val="0072B2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0" name="任意多边形 49">
            <a:extLst xmlns:a="http://schemas.openxmlformats.org/drawingml/2006/main">
              <a:ext uri="{FF2B5EF4-FFF2-40B4-BE49-F238E27FC236}">
                <a16:creationId xmlns:a16="http://schemas.microsoft.com/office/drawing/2014/main" id="{29929067-9467-4373-A77A-9144619BC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7415" y="4933950"/>
            <a:ext cx="962229" cy="9525"/>
          </a:xfrm>
          <a:custGeom xmlns:a="http://schemas.openxmlformats.org/drawingml/2006/main">
            <a:pathLst>
              <a:path w="962229" h="9525">
                <a:moveTo>
                  <a:pt x="0" y="0"/>
                </a:moveTo>
                <a:lnTo>
                  <a:pt x="962229" y="9525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0072B2"/>
            </a:solidFill>
            <a:prstDash val="solid"/>
          </a:ln>
        </p:spPr>
      </p:sp>
      <p:sp>
        <p:nvSpPr>
          <p:cNvPr id="51" name="任意多边形 50">
            <a:extLst xmlns:a="http://schemas.openxmlformats.org/drawingml/2006/main">
              <a:ext uri="{FF2B5EF4-FFF2-40B4-BE49-F238E27FC236}">
                <a16:creationId xmlns:a16="http://schemas.microsoft.com/office/drawing/2014/main" id="{96C3450F-CA40-4132-AF5F-0D50EC42E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7415" y="4867275"/>
            <a:ext cx="9525" cy="133350"/>
          </a:xfrm>
          <a:custGeom xmlns:a="http://schemas.openxmlformats.org/drawingml/2006/main">
            <a:pathLst>
              <a:path w="9525" h="133350">
                <a:moveTo>
                  <a:pt x="0" y="0"/>
                </a:moveTo>
                <a:lnTo>
                  <a:pt x="9525" y="13335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0072B2"/>
            </a:solidFill>
            <a:prstDash val="solid"/>
          </a:ln>
        </p:spPr>
      </p:sp>
      <p:sp>
        <p:nvSpPr>
          <p:cNvPr id="52" name="任意多边形 51">
            <a:extLst xmlns:a="http://schemas.openxmlformats.org/drawingml/2006/main">
              <a:ext uri="{FF2B5EF4-FFF2-40B4-BE49-F238E27FC236}">
                <a16:creationId xmlns:a16="http://schemas.microsoft.com/office/drawing/2014/main" id="{BA529BB3-3056-46DC-885E-0623CDB0E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9645" y="4867275"/>
            <a:ext cx="9525" cy="133350"/>
          </a:xfrm>
          <a:custGeom xmlns:a="http://schemas.openxmlformats.org/drawingml/2006/main">
            <a:pathLst>
              <a:path w="9525" h="133350">
                <a:moveTo>
                  <a:pt x="0" y="0"/>
                </a:moveTo>
                <a:lnTo>
                  <a:pt x="9525" y="13335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0072B2"/>
            </a:solidFill>
            <a:prstDash val="solid"/>
          </a:ln>
        </p:spPr>
      </p:sp>
      <p:sp>
        <p:nvSpPr>
          <p:cNvPr id="53" name="椭圆 52">
            <a:extLst xmlns:a="http://schemas.openxmlformats.org/drawingml/2006/main">
              <a:ext uri="{FF2B5EF4-FFF2-40B4-BE49-F238E27FC236}">
                <a16:creationId xmlns:a16="http://schemas.microsoft.com/office/drawing/2014/main" id="{CA8DFA55-36E8-44BB-B3D3-6E230E5E5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2564" y="486727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54" name="+0.125  [+0.078, +0.171]">
            <a:extLst xmlns:a="http://schemas.openxmlformats.org/drawingml/2006/main">
              <a:ext uri="{FF2B5EF4-FFF2-40B4-BE49-F238E27FC236}">
                <a16:creationId xmlns:a16="http://schemas.microsoft.com/office/drawing/2014/main" id="{AC76C534-4985-407A-880E-D2AAC17D7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4762500"/>
            <a:ext cx="3009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76200" tIns="38100" rIns="76200" bIns="381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1B2733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B2733"/>
                </a:solidFill>
                <a:latin typeface="Arial"/>
                <a:ea typeface="Arial"/>
                <a:cs typeface="Arial"/>
              </a:rPr>
              <a:t>+0.125  [+0.078, +0.171]</a:t>
            </a:r>
            <a:endParaRPr sz="1500" b="0">
              <a:solidFill>
                <a:srgbClr val="1B2733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5" name="MiniLM  k = 2">
            <a:extLst xmlns:a="http://schemas.openxmlformats.org/drawingml/2006/main">
              <a:ext uri="{FF2B5EF4-FFF2-40B4-BE49-F238E27FC236}">
                <a16:creationId xmlns:a16="http://schemas.microsoft.com/office/drawing/2014/main" id="{7AAAC4CB-59A0-4929-9A46-3B4C1FDF6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5238750"/>
            <a:ext cx="2143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76200" tIns="38100" rIns="76200" bIns="381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009E73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009E73"/>
                </a:solidFill>
                <a:latin typeface="Arial"/>
                <a:ea typeface="Arial"/>
                <a:cs typeface="Arial"/>
              </a:rPr>
              <a:t>MiniLM  k = 2</a:t>
            </a:r>
            <a:endParaRPr sz="1575" b="0">
              <a:solidFill>
                <a:srgbClr val="009E73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6" name="任意多边形 55">
            <a:extLst xmlns:a="http://schemas.openxmlformats.org/drawingml/2006/main">
              <a:ext uri="{FF2B5EF4-FFF2-40B4-BE49-F238E27FC236}">
                <a16:creationId xmlns:a16="http://schemas.microsoft.com/office/drawing/2014/main" id="{B6DD4597-2C48-4D66-BACE-627A87173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5494" y="5400675"/>
            <a:ext cx="987676" cy="9525"/>
          </a:xfrm>
          <a:custGeom xmlns:a="http://schemas.openxmlformats.org/drawingml/2006/main">
            <a:pathLst>
              <a:path w="987676" h="9525">
                <a:moveTo>
                  <a:pt x="0" y="0"/>
                </a:moveTo>
                <a:lnTo>
                  <a:pt x="987676" y="9525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009E73"/>
            </a:solidFill>
            <a:prstDash val="solid"/>
          </a:ln>
        </p:spPr>
      </p:sp>
      <p:sp>
        <p:nvSpPr>
          <p:cNvPr id="57" name="任意多边形 56">
            <a:extLst xmlns:a="http://schemas.openxmlformats.org/drawingml/2006/main">
              <a:ext uri="{FF2B5EF4-FFF2-40B4-BE49-F238E27FC236}">
                <a16:creationId xmlns:a16="http://schemas.microsoft.com/office/drawing/2014/main" id="{70CE8614-F8AE-40FF-A46A-F3036C5ED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5494" y="5334000"/>
            <a:ext cx="9525" cy="133350"/>
          </a:xfrm>
          <a:custGeom xmlns:a="http://schemas.openxmlformats.org/drawingml/2006/main">
            <a:pathLst>
              <a:path w="9525" h="133350">
                <a:moveTo>
                  <a:pt x="0" y="0"/>
                </a:moveTo>
                <a:lnTo>
                  <a:pt x="9525" y="13335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009E73"/>
            </a:solidFill>
            <a:prstDash val="solid"/>
          </a:ln>
        </p:spPr>
      </p:sp>
      <p:sp>
        <p:nvSpPr>
          <p:cNvPr id="58" name="任意多边形 57">
            <a:extLst xmlns:a="http://schemas.openxmlformats.org/drawingml/2006/main">
              <a:ext uri="{FF2B5EF4-FFF2-40B4-BE49-F238E27FC236}">
                <a16:creationId xmlns:a16="http://schemas.microsoft.com/office/drawing/2014/main" id="{1F3FAEED-5462-469F-A7D5-34A2F47D7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93170" y="5334000"/>
            <a:ext cx="9525" cy="133350"/>
          </a:xfrm>
          <a:custGeom xmlns:a="http://schemas.openxmlformats.org/drawingml/2006/main">
            <a:pathLst>
              <a:path w="9525" h="133350">
                <a:moveTo>
                  <a:pt x="0" y="0"/>
                </a:moveTo>
                <a:lnTo>
                  <a:pt x="9525" y="13335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009E73"/>
            </a:solidFill>
            <a:prstDash val="solid"/>
          </a:ln>
        </p:spPr>
      </p:sp>
      <p:sp>
        <p:nvSpPr>
          <p:cNvPr id="59" name="菱形 58">
            <a:extLst xmlns:a="http://schemas.openxmlformats.org/drawingml/2006/main">
              <a:ext uri="{FF2B5EF4-FFF2-40B4-BE49-F238E27FC236}">
                <a16:creationId xmlns:a16="http://schemas.microsoft.com/office/drawing/2014/main" id="{E4799759-DF12-42A9-9943-6CC05BAA0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7197" y="5334000"/>
            <a:ext cx="133350" cy="13335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009E73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60" name="+0.020  [-0.028, +0.068]">
            <a:extLst xmlns:a="http://schemas.openxmlformats.org/drawingml/2006/main">
              <a:ext uri="{FF2B5EF4-FFF2-40B4-BE49-F238E27FC236}">
                <a16:creationId xmlns:a16="http://schemas.microsoft.com/office/drawing/2014/main" id="{64D6B5CA-B67D-492E-812B-93CFBE56F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5229225"/>
            <a:ext cx="3009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76200" tIns="38100" rIns="76200" bIns="381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1B2733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B2733"/>
                </a:solidFill>
                <a:latin typeface="Arial"/>
                <a:ea typeface="Arial"/>
                <a:cs typeface="Arial"/>
              </a:rPr>
              <a:t>+0.020  [-0.028, +0.068]</a:t>
            </a:r>
            <a:endParaRPr sz="1500" b="0">
              <a:solidFill>
                <a:srgbClr val="1B2733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1" name="MiniLM  k = 4">
            <a:extLst xmlns:a="http://schemas.openxmlformats.org/drawingml/2006/main">
              <a:ext uri="{FF2B5EF4-FFF2-40B4-BE49-F238E27FC236}">
                <a16:creationId xmlns:a16="http://schemas.microsoft.com/office/drawing/2014/main" id="{5E7F7774-5D2D-4ABB-9C06-8223BC97E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5705475"/>
            <a:ext cx="2143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76200" tIns="38100" rIns="76200" bIns="381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009E73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009E73"/>
                </a:solidFill>
                <a:latin typeface="Arial"/>
                <a:ea typeface="Arial"/>
                <a:cs typeface="Arial"/>
              </a:rPr>
              <a:t>MiniLM  k = 4</a:t>
            </a:r>
            <a:endParaRPr sz="1575" b="0">
              <a:solidFill>
                <a:srgbClr val="009E73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2" name="任意多边形 61">
            <a:extLst xmlns:a="http://schemas.openxmlformats.org/drawingml/2006/main">
              <a:ext uri="{FF2B5EF4-FFF2-40B4-BE49-F238E27FC236}">
                <a16:creationId xmlns:a16="http://schemas.microsoft.com/office/drawing/2014/main" id="{C843A91F-AE64-40BD-9F5E-1CD38692A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2910" y="5867400"/>
            <a:ext cx="1032896" cy="9525"/>
          </a:xfrm>
          <a:custGeom xmlns:a="http://schemas.openxmlformats.org/drawingml/2006/main">
            <a:pathLst>
              <a:path w="1032896" h="9525">
                <a:moveTo>
                  <a:pt x="0" y="0"/>
                </a:moveTo>
                <a:lnTo>
                  <a:pt x="1032896" y="9525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009E73"/>
            </a:solidFill>
            <a:prstDash val="solid"/>
          </a:ln>
        </p:spPr>
      </p:sp>
      <p:sp>
        <p:nvSpPr>
          <p:cNvPr id="63" name="任意多边形 62">
            <a:extLst xmlns:a="http://schemas.openxmlformats.org/drawingml/2006/main">
              <a:ext uri="{FF2B5EF4-FFF2-40B4-BE49-F238E27FC236}">
                <a16:creationId xmlns:a16="http://schemas.microsoft.com/office/drawing/2014/main" id="{4655EDAF-5A5F-4C13-A53C-245AAB9B7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2910" y="5800725"/>
            <a:ext cx="9525" cy="133350"/>
          </a:xfrm>
          <a:custGeom xmlns:a="http://schemas.openxmlformats.org/drawingml/2006/main">
            <a:pathLst>
              <a:path w="9525" h="133350">
                <a:moveTo>
                  <a:pt x="0" y="0"/>
                </a:moveTo>
                <a:lnTo>
                  <a:pt x="9525" y="13335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009E73"/>
            </a:solidFill>
            <a:prstDash val="solid"/>
          </a:ln>
        </p:spPr>
      </p:sp>
      <p:sp>
        <p:nvSpPr>
          <p:cNvPr id="64" name="任意多边形 63">
            <a:extLst xmlns:a="http://schemas.openxmlformats.org/drawingml/2006/main">
              <a:ext uri="{FF2B5EF4-FFF2-40B4-BE49-F238E27FC236}">
                <a16:creationId xmlns:a16="http://schemas.microsoft.com/office/drawing/2014/main" id="{23EE7A86-98B0-452B-9A95-733D07A63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5806" y="5800725"/>
            <a:ext cx="9525" cy="133350"/>
          </a:xfrm>
          <a:custGeom xmlns:a="http://schemas.openxmlformats.org/drawingml/2006/main">
            <a:pathLst>
              <a:path w="9525" h="133350">
                <a:moveTo>
                  <a:pt x="0" y="0"/>
                </a:moveTo>
                <a:lnTo>
                  <a:pt x="9525" y="13335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009E73"/>
            </a:solidFill>
            <a:prstDash val="solid"/>
          </a:ln>
        </p:spPr>
      </p:sp>
      <p:sp>
        <p:nvSpPr>
          <p:cNvPr id="65" name="菱形 64">
            <a:extLst xmlns:a="http://schemas.openxmlformats.org/drawingml/2006/main">
              <a:ext uri="{FF2B5EF4-FFF2-40B4-BE49-F238E27FC236}">
                <a16:creationId xmlns:a16="http://schemas.microsoft.com/office/drawing/2014/main" id="{447B42EF-0BC5-4151-B77D-48D2834AD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8358" y="5800725"/>
            <a:ext cx="133350" cy="13335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009E73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66" name="+0.062  [+0.011, +0.112]">
            <a:extLst xmlns:a="http://schemas.openxmlformats.org/drawingml/2006/main">
              <a:ext uri="{FF2B5EF4-FFF2-40B4-BE49-F238E27FC236}">
                <a16:creationId xmlns:a16="http://schemas.microsoft.com/office/drawing/2014/main" id="{EE394250-2355-4F92-AB33-645BD1144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5695950"/>
            <a:ext cx="3009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76200" tIns="38100" rIns="76200" bIns="381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1B2733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B2733"/>
                </a:solidFill>
                <a:latin typeface="Arial"/>
                <a:ea typeface="Arial"/>
                <a:cs typeface="Arial"/>
              </a:rPr>
              <a:t>+0.062  [+0.011, +0.112]</a:t>
            </a:r>
            <a:endParaRPr sz="1500" b="0">
              <a:solidFill>
                <a:srgbClr val="1B2733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7" name="任意多边形 66">
            <a:extLst xmlns:a="http://schemas.openxmlformats.org/drawingml/2006/main">
              <a:ext uri="{FF2B5EF4-FFF2-40B4-BE49-F238E27FC236}">
                <a16:creationId xmlns:a16="http://schemas.microsoft.com/office/drawing/2014/main" id="{BC5AA8CB-EF80-4804-822E-CFF727F18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4171950"/>
            <a:ext cx="11325225" cy="9525"/>
          </a:xfrm>
          <a:custGeom xmlns:a="http://schemas.openxmlformats.org/drawingml/2006/main">
            <a:pathLst>
              <a:path w="11325225" h="9525">
                <a:moveTo>
                  <a:pt x="0" y="0"/>
                </a:moveTo>
                <a:lnTo>
                  <a:pt x="11325225" y="952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8E0E5"/>
            </a:solidFill>
            <a:prstDash val="solid"/>
          </a:ln>
        </p:spPr>
      </p:sp>
      <p:sp>
        <p:nvSpPr>
          <p:cNvPr id="68" name="任意多边形 67">
            <a:extLst xmlns:a="http://schemas.openxmlformats.org/drawingml/2006/main">
              <a:ext uri="{FF2B5EF4-FFF2-40B4-BE49-F238E27FC236}">
                <a16:creationId xmlns:a16="http://schemas.microsoft.com/office/drawing/2014/main" id="{9430F570-FB90-4BBE-85CC-DC7CACBA9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7105650"/>
            <a:ext cx="11315700" cy="9525"/>
          </a:xfrm>
          <a:custGeom xmlns:a="http://schemas.openxmlformats.org/drawingml/2006/main">
            <a:pathLst>
              <a:path w="11315700" h="9525">
                <a:moveTo>
                  <a:pt x="0" y="0"/>
                </a:moveTo>
                <a:lnTo>
                  <a:pt x="11315700" y="952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8E0E5"/>
            </a:solidFill>
            <a:prstDash val="solid"/>
          </a:ln>
        </p:spPr>
      </p:sp>
      <p:sp>
        <p:nvSpPr>
          <p:cNvPr id="69" name="20,000 resamples; 75 paper clu">
            <a:extLst xmlns:a="http://schemas.openxmlformats.org/drawingml/2006/main">
              <a:ext uri="{FF2B5EF4-FFF2-40B4-BE49-F238E27FC236}">
                <a16:creationId xmlns:a16="http://schemas.microsoft.com/office/drawing/2014/main" id="{0D82B18F-BA8B-4D8D-8663-0BE6217A8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7162800"/>
            <a:ext cx="11315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76200" tIns="38100" rIns="76200" bIns="381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B6872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B6872"/>
                </a:solidFill>
                <a:latin typeface="Arial"/>
                <a:ea typeface="Arial"/>
                <a:cs typeface="Arial"/>
              </a:rPr>
              <a:t>20,000 resamples; 75 paper clusters for QASPER and 188 claim clusters for SciFact. Intervals are exploratory.</a:t>
            </a:r>
            <a:endParaRPr sz="1275" b="0">
              <a:solidFill>
                <a:srgbClr val="5B6872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53772078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Complete coverage and recovery">
            <a:extLst xmlns:a="http://schemas.openxmlformats.org/drawingml/2006/main">
              <a:ext uri="{FF2B5EF4-FFF2-40B4-BE49-F238E27FC236}">
                <a16:creationId xmlns:a16="http://schemas.microsoft.com/office/drawing/2014/main" id="{BEA6469E-318A-435B-ABD6-1C81CDD8B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66700"/>
            <a:ext cx="11353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76200" tIns="38100" rIns="76200" bIns="381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75" b="1">
                <a:solidFill>
                  <a:srgbClr val="1B2733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1B2733"/>
                </a:solidFill>
                <a:latin typeface="Arial"/>
                <a:ea typeface="Arial"/>
                <a:cs typeface="Arial"/>
              </a:rPr>
              <a:t>Complete coverage and recovery from a leading view</a:t>
            </a:r>
            <a:endParaRPr sz="2475" b="1">
              <a:solidFill>
                <a:srgbClr val="1B2733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" name="SciFact development subset; ea">
            <a:extLst xmlns:a="http://schemas.openxmlformats.org/drawingml/2006/main">
              <a:ext uri="{FF2B5EF4-FFF2-40B4-BE49-F238E27FC236}">
                <a16:creationId xmlns:a16="http://schemas.microsoft.com/office/drawing/2014/main" id="{961FC124-5A09-4346-A680-073EBF9E4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742950"/>
            <a:ext cx="11315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76200" tIns="38100" rIns="76200" bIns="381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5B6872"/>
                </a:solidFill>
                <a:latin typeface="Arial"/>
                <a:ea typeface="Arial"/>
                <a:cs typeface="Arial"/>
              </a:defRPr>
            </a:pPr>
            <a:r>
              <a:rPr sz="1400" b="0">
                <a:solidFill>
                  <a:srgbClr val="5B6872"/>
                </a:solidFill>
                <a:latin typeface="Arial"/>
                <a:ea typeface="Arial"/>
                <a:cs typeface="Arial"/>
              </a:rPr>
              <a:t>SciFact development subset; each observation is one annotated evidence set, n = 338</a:t>
            </a:r>
            <a:endParaRPr sz="1400" b="0">
              <a:solidFill>
                <a:srgbClr val="5B6872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" name="任意多边形 2">
            <a:extLst xmlns:a="http://schemas.openxmlformats.org/drawingml/2006/main">
              <a:ext uri="{FF2B5EF4-FFF2-40B4-BE49-F238E27FC236}">
                <a16:creationId xmlns:a16="http://schemas.microsoft.com/office/drawing/2014/main" id="{95FB4F16-FE1F-4E23-B390-C3F0B7C5D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1200150"/>
            <a:ext cx="11315700" cy="9525"/>
          </a:xfrm>
          <a:custGeom xmlns:a="http://schemas.openxmlformats.org/drawingml/2006/main">
            <a:pathLst>
              <a:path w="11315700" h="9525">
                <a:moveTo>
                  <a:pt x="0" y="0"/>
                </a:moveTo>
                <a:lnTo>
                  <a:pt x="11315700" y="9525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1B2733"/>
            </a:solidFill>
            <a:prstDash val="solid"/>
          </a:ln>
        </p:spPr>
      </p:sp>
      <p:sp>
        <p:nvSpPr>
          <p:cNvPr id="4" name="A  Complete coverage at equal ">
            <a:extLst xmlns:a="http://schemas.openxmlformats.org/drawingml/2006/main">
              <a:ext uri="{FF2B5EF4-FFF2-40B4-BE49-F238E27FC236}">
                <a16:creationId xmlns:a16="http://schemas.microsoft.com/office/drawing/2014/main" id="{92D4F256-26BD-423E-93EA-0CB2FA8C0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66850"/>
            <a:ext cx="5619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76200" tIns="38100" rIns="76200" bIns="381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B2733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B2733"/>
                </a:solidFill>
                <a:latin typeface="Arial"/>
                <a:ea typeface="Arial"/>
                <a:cs typeface="Arial"/>
              </a:rPr>
              <a:t>A  Complete coverage at equal budgets</a:t>
            </a:r>
            <a:endParaRPr sz="1800" b="1">
              <a:solidFill>
                <a:srgbClr val="1B2733"/>
              </a:solidFill>
              <a:latin typeface="Arial"/>
              <a:ea typeface="Arial"/>
              <a:cs typeface="Arial"/>
            </a:endParaRPr>
          </a:p>
        </p:txBody>
      </p:sp>
      <p:graphicFrame>
        <p:nvGraphicFramePr>
          <p:cNvPr id="21" name="Chart"/>
          <p:cNvGraphicFramePr/>
          <p:nvPr/>
        </p:nvGraphicFramePr>
        <p:xfrm>
          <a:off xmlns:a="http://schemas.openxmlformats.org/drawingml/2006/main" x="361950" y="2047875"/>
          <a:ext xmlns:a="http://schemas.openxmlformats.org/drawingml/2006/main" cx="5619750" cy="4762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32cb9079b08a4e22"/>
          </a:graphicData>
        </a:graphic>
      </p:graphicFrame>
      <p:sp>
        <p:nvSpPr>
          <p:cNvPr id="6" name="B  Lead-2 → BGE top-4 transiti">
            <a:extLst xmlns:a="http://schemas.openxmlformats.org/drawingml/2006/main">
              <a:ext uri="{FF2B5EF4-FFF2-40B4-BE49-F238E27FC236}">
                <a16:creationId xmlns:a16="http://schemas.microsoft.com/office/drawing/2014/main" id="{5AE97147-8AC1-4146-B9BD-8D7A8ADF4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1466850"/>
            <a:ext cx="5238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76200" tIns="38100" rIns="76200" bIns="381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B2733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B2733"/>
                </a:solidFill>
                <a:latin typeface="Arial"/>
                <a:ea typeface="Arial"/>
                <a:cs typeface="Arial"/>
              </a:rPr>
              <a:t>B  Lead-2 → BGE top-4 transition</a:t>
            </a:r>
            <a:endParaRPr sz="1725" b="1">
              <a:solidFill>
                <a:srgbClr val="1B2733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" name="Evidence-set counts">
            <a:extLst xmlns:a="http://schemas.openxmlformats.org/drawingml/2006/main">
              <a:ext uri="{FF2B5EF4-FFF2-40B4-BE49-F238E27FC236}">
                <a16:creationId xmlns:a16="http://schemas.microsoft.com/office/drawing/2014/main" id="{3E6BDD60-D5A9-4697-B045-30050C0CB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1885950"/>
            <a:ext cx="504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76200" tIns="38100" rIns="76200" bIns="381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B6872"/>
                </a:solidFill>
                <a:latin typeface="Arial"/>
                <a:ea typeface="Arial"/>
                <a:cs typeface="Arial"/>
              </a:defRPr>
            </a:pPr>
            <a:r>
              <a:rPr sz="1400" b="0">
                <a:solidFill>
                  <a:srgbClr val="5B6872"/>
                </a:solidFill>
                <a:latin typeface="Arial"/>
                <a:ea typeface="Arial"/>
                <a:cs typeface="Arial"/>
              </a:rPr>
              <a:t>Evidence</a:t>
            </a:r>
            <a:r>
              <a:rPr sz="1350" b="0">
                <a:solidFill>
                  <a:srgbClr val="5B6872"/>
                </a:solidFill>
                <a:latin typeface="Arial"/>
                <a:ea typeface="Arial"/>
                <a:cs typeface="Arial"/>
              </a:rPr>
              <a:t>-set counts</a:t>
            </a:r>
            <a:endParaRPr sz="1350" b="0">
              <a:solidFill>
                <a:srgbClr val="5B6872"/>
              </a:solidFill>
              <a:latin typeface="Arial"/>
              <a:ea typeface="Arial"/>
              <a:cs typeface="Arial"/>
            </a:endParaRPr>
          </a:p>
        </p:txBody>
      </p:sp>
      <p:graphicFrame>
        <p:nvGraphicFramePr>
          <p:cNvPr id="24" name="表格 20"/>
          <p:cNvGraphicFramePr/>
          <p:nvPr/>
        </p:nvGraphicFramePr>
        <p:xfrm>
          <a:off xmlns:a="http://schemas.openxmlformats.org/drawingml/2006/main" x="6524625" y="2314575"/>
          <a:ext xmlns:a="http://schemas.openxmlformats.org/drawingml/2006/main" cx="5143500" cy="23050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771650"/>
                <a:gridCol w="1685925"/>
                <a:gridCol w="1685925"/>
              </a:tblGrid>
              <a:tr h="768350">
                <a:tc>
                  <a:txBody>
                    <a:bodyPr/>
                    <a:lstStyle/>
                    <a:p>
                      <a:endParaRPr sz="1500" b="1">
                        <a:solidFill>
                          <a:srgbClr val="1B2733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76200" marR="76200" marT="95250" marB="95250" anchor="ctr"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500" b="1">
                          <a:solidFill>
                            <a:srgbClr val="1B2733"/>
                          </a:solidFill>
                          <a:latin typeface="Arial"/>
                          <a:ea typeface="Arial"/>
                          <a:cs typeface="Arial"/>
                        </a:rPr>
                        <a:t>BGE-4</a:t>
                      </a:r>
                      <a:endParaRPr sz="1500" b="1">
                        <a:solidFill>
                          <a:srgbClr val="1B2733"/>
                        </a:solidFill>
                        <a:latin typeface="Arial"/>
                        <a:ea typeface="Arial"/>
                        <a:cs typeface="Arial"/>
                      </a:endParaRPr>
                    </a:p>
                    <a:p>
                      <a:pPr algn="ctr">
                        <a:buNone/>
                      </a:pPr>
                      <a:r>
                        <a:rPr sz="1500" b="1">
                          <a:solidFill>
                            <a:srgbClr val="1B2733"/>
                          </a:solidFill>
                          <a:latin typeface="Arial"/>
                          <a:ea typeface="Arial"/>
                          <a:cs typeface="Arial"/>
                        </a:rPr>
                        <a:t>complete</a:t>
                      </a:r>
                      <a:endParaRPr sz="1500" b="1">
                        <a:solidFill>
                          <a:srgbClr val="1B2733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76200" marR="76200" marT="95250" marB="95250" anchor="ctr"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500" b="1">
                          <a:solidFill>
                            <a:srgbClr val="1B2733"/>
                          </a:solidFill>
                          <a:latin typeface="Arial"/>
                          <a:ea typeface="Arial"/>
                          <a:cs typeface="Arial"/>
                        </a:rPr>
                        <a:t>BGE-4</a:t>
                      </a:r>
                      <a:endParaRPr sz="1500" b="1">
                        <a:solidFill>
                          <a:srgbClr val="1B2733"/>
                        </a:solidFill>
                        <a:latin typeface="Arial"/>
                        <a:ea typeface="Arial"/>
                        <a:cs typeface="Arial"/>
                      </a:endParaRPr>
                    </a:p>
                    <a:p>
                      <a:pPr algn="ctr">
                        <a:buNone/>
                      </a:pPr>
                      <a:r>
                        <a:rPr sz="1500" b="1">
                          <a:solidFill>
                            <a:srgbClr val="1B2733"/>
                          </a:solidFill>
                          <a:latin typeface="Arial"/>
                          <a:ea typeface="Arial"/>
                          <a:cs typeface="Arial"/>
                        </a:rPr>
                        <a:t>incomplete</a:t>
                      </a:r>
                      <a:endParaRPr sz="1500" b="1">
                        <a:solidFill>
                          <a:srgbClr val="1B2733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76200" marR="76200" marT="95250" marB="95250" anchor="ctr">
                    <a:solidFill>
                      <a:srgbClr val="F4F7F9"/>
                    </a:solidFill>
                  </a:tcPr>
                </a:tc>
              </a:tr>
              <a:tr h="76835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500" b="1">
                          <a:solidFill>
                            <a:srgbClr val="1B2733"/>
                          </a:solidFill>
                          <a:latin typeface="Arial"/>
                          <a:ea typeface="Arial"/>
                          <a:cs typeface="Arial"/>
                        </a:rPr>
                        <a:t>Lead-2</a:t>
                      </a:r>
                      <a:endParaRPr sz="1500" b="1">
                        <a:solidFill>
                          <a:srgbClr val="1B2733"/>
                        </a:solidFill>
                        <a:latin typeface="Arial"/>
                        <a:ea typeface="Arial"/>
                        <a:cs typeface="Arial"/>
                      </a:endParaRPr>
                    </a:p>
                    <a:p>
                      <a:pPr algn="ctr">
                        <a:buNone/>
                      </a:pPr>
                      <a:r>
                        <a:rPr sz="1500" b="1">
                          <a:solidFill>
                            <a:srgbClr val="1B2733"/>
                          </a:solidFill>
                          <a:latin typeface="Arial"/>
                          <a:ea typeface="Arial"/>
                          <a:cs typeface="Arial"/>
                        </a:rPr>
                        <a:t>complete</a:t>
                      </a:r>
                      <a:endParaRPr sz="1500" b="1">
                        <a:solidFill>
                          <a:srgbClr val="1B2733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76200" marR="76200" marT="95250" marB="95250" anchor="ctr"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2325" b="0">
                          <a:solidFill>
                            <a:srgbClr val="1B2733"/>
                          </a:solidFill>
                          <a:latin typeface="Arial"/>
                          <a:ea typeface="Arial"/>
                          <a:cs typeface="Arial"/>
                        </a:rPr>
                        <a:t>27</a:t>
                      </a:r>
                      <a:endParaRPr sz="2325" b="0">
                        <a:solidFill>
                          <a:srgbClr val="1B2733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76200" marR="7620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2325" b="0">
                          <a:solidFill>
                            <a:srgbClr val="1B2733"/>
                          </a:solidFill>
                          <a:latin typeface="Arial"/>
                          <a:ea typeface="Arial"/>
                          <a:cs typeface="Arial"/>
                        </a:rPr>
                        <a:t>1</a:t>
                      </a:r>
                      <a:endParaRPr sz="2325" b="0">
                        <a:solidFill>
                          <a:srgbClr val="1B2733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76200" marR="76200" marT="95250" marB="95250" anchor="ctr">
                    <a:solidFill>
                      <a:srgbClr val="FFFFFF"/>
                    </a:solidFill>
                  </a:tcPr>
                </a:tc>
              </a:tr>
              <a:tr h="76835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500" b="1">
                          <a:solidFill>
                            <a:srgbClr val="1B2733"/>
                          </a:solidFill>
                          <a:latin typeface="Arial"/>
                          <a:ea typeface="Arial"/>
                          <a:cs typeface="Arial"/>
                        </a:rPr>
                        <a:t>Lead-2</a:t>
                      </a:r>
                      <a:endParaRPr sz="1500" b="1">
                        <a:solidFill>
                          <a:srgbClr val="1B2733"/>
                        </a:solidFill>
                        <a:latin typeface="Arial"/>
                        <a:ea typeface="Arial"/>
                        <a:cs typeface="Arial"/>
                      </a:endParaRPr>
                    </a:p>
                    <a:p>
                      <a:pPr algn="ctr">
                        <a:buNone/>
                      </a:pPr>
                      <a:r>
                        <a:rPr sz="1500" b="1">
                          <a:solidFill>
                            <a:srgbClr val="1B2733"/>
                          </a:solidFill>
                          <a:latin typeface="Arial"/>
                          <a:ea typeface="Arial"/>
                          <a:cs typeface="Arial"/>
                        </a:rPr>
                        <a:t>incomplete</a:t>
                      </a:r>
                      <a:endParaRPr sz="1500" b="1">
                        <a:solidFill>
                          <a:srgbClr val="1B2733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76200" marR="76200" marT="95250" marB="95250" anchor="ctr"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2325" b="0">
                          <a:solidFill>
                            <a:srgbClr val="0072B2"/>
                          </a:solidFill>
                          <a:latin typeface="Arial"/>
                          <a:ea typeface="Arial"/>
                          <a:cs typeface="Arial"/>
                        </a:rPr>
                        <a:t>234</a:t>
                      </a:r>
                      <a:endParaRPr sz="2325" b="0">
                        <a:solidFill>
                          <a:srgbClr val="0072B2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76200" marR="7620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2325" b="0">
                          <a:solidFill>
                            <a:srgbClr val="1B2733"/>
                          </a:solidFill>
                          <a:latin typeface="Arial"/>
                          <a:ea typeface="Arial"/>
                          <a:cs typeface="Arial"/>
                        </a:rPr>
                        <a:t>76</a:t>
                      </a:r>
                      <a:endParaRPr sz="2325" b="0">
                        <a:solidFill>
                          <a:srgbClr val="1B2733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76200" marR="76200" marT="95250" marB="952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234 / 310 = 75.5% recovered">
            <a:extLst xmlns:a="http://schemas.openxmlformats.org/drawingml/2006/main">
              <a:ext uri="{FF2B5EF4-FFF2-40B4-BE49-F238E27FC236}">
                <a16:creationId xmlns:a16="http://schemas.microsoft.com/office/drawing/2014/main" id="{DE1E8533-AB61-4FB0-9B66-31CB1D325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972050"/>
            <a:ext cx="50101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76200" tIns="38100" rIns="762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025" b="1">
                <a:solidFill>
                  <a:srgbClr val="0072B2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72B2"/>
                </a:solidFill>
                <a:latin typeface="Arial"/>
                <a:ea typeface="Arial"/>
                <a:cs typeface="Arial"/>
              </a:rPr>
              <a:t>234 / 310 = 75.5% recovered</a:t>
            </a:r>
            <a:endParaRPr sz="2025" b="1">
              <a:solidFill>
                <a:srgbClr val="0072B2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0" name="1 / 28 Lead-2 successes lost">
            <a:extLst xmlns:a="http://schemas.openxmlformats.org/drawingml/2006/main">
              <a:ext uri="{FF2B5EF4-FFF2-40B4-BE49-F238E27FC236}">
                <a16:creationId xmlns:a16="http://schemas.microsoft.com/office/drawing/2014/main" id="{4CA3F6D5-A6CF-4230-80F8-1CC9F5D89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5514975"/>
            <a:ext cx="5010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76200" tIns="38100" rIns="762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 b="0">
                <a:solidFill>
                  <a:srgbClr val="D55E00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D55E00"/>
                </a:solidFill>
                <a:latin typeface="Arial"/>
                <a:ea typeface="Arial"/>
                <a:cs typeface="Arial"/>
              </a:rPr>
              <a:t>1 / 28 Lead-2 successes lost</a:t>
            </a:r>
            <a:endParaRPr sz="1575" b="0">
              <a:solidFill>
                <a:srgbClr val="D55E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1" name="This transition changes both s">
            <a:extLst xmlns:a="http://schemas.openxmlformats.org/drawingml/2006/main">
              <a:ext uri="{FF2B5EF4-FFF2-40B4-BE49-F238E27FC236}">
                <a16:creationId xmlns:a16="http://schemas.microsoft.com/office/drawing/2014/main" id="{47FDC274-385D-4E3C-97D7-EC9277844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6115050"/>
            <a:ext cx="50101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6DE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76200" tIns="38100" rIns="762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0">
                <a:solidFill>
                  <a:srgbClr val="5B6872"/>
                </a:solidFill>
                <a:latin typeface="Arial"/>
                <a:ea typeface="Arial"/>
                <a:cs typeface="Arial"/>
              </a:defRPr>
            </a:pPr>
            <a:r>
              <a:rPr sz="1600" b="0">
                <a:solidFill>
                  <a:srgbClr val="5B6872"/>
                </a:solidFill>
                <a:latin typeface="Arial"/>
                <a:ea typeface="Arial"/>
                <a:cs typeface="Arial"/>
              </a:rPr>
              <a:t>This transition changes both selector and budget.</a:t>
            </a:r>
            <a:endParaRPr sz="1600" b="0">
              <a:solidFill>
                <a:srgbClr val="5B6872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" name="任意多边形 11">
            <a:extLst xmlns:a="http://schemas.openxmlformats.org/drawingml/2006/main">
              <a:ext uri="{FF2B5EF4-FFF2-40B4-BE49-F238E27FC236}">
                <a16:creationId xmlns:a16="http://schemas.microsoft.com/office/drawing/2014/main" id="{207BC9E9-7F23-4087-B13C-CE3388403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7105650"/>
            <a:ext cx="11315700" cy="9525"/>
          </a:xfrm>
          <a:custGeom xmlns:a="http://schemas.openxmlformats.org/drawingml/2006/main">
            <a:pathLst>
              <a:path w="11315700" h="9525">
                <a:moveTo>
                  <a:pt x="0" y="0"/>
                </a:moveTo>
                <a:lnTo>
                  <a:pt x="11315700" y="952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8E0E5"/>
            </a:solidFill>
            <a:prstDash val="solid"/>
          </a:ln>
        </p:spPr>
      </p:sp>
      <p:sp>
        <p:nvSpPr>
          <p:cNvPr id="13" name="Equal-budget performance is sh">
            <a:extLst xmlns:a="http://schemas.openxmlformats.org/drawingml/2006/main">
              <a:ext uri="{FF2B5EF4-FFF2-40B4-BE49-F238E27FC236}">
                <a16:creationId xmlns:a16="http://schemas.microsoft.com/office/drawing/2014/main" id="{E527505D-CBED-4239-8F7A-452FD339B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7162800"/>
            <a:ext cx="11315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76200" tIns="38100" rIns="76200" bIns="381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B6872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B6872"/>
                </a:solidFill>
                <a:latin typeface="Arial"/>
                <a:ea typeface="Arial"/>
                <a:cs typeface="Arial"/>
              </a:rPr>
              <a:t>Equal-budget performance is shown in Panel A; Panel B describes an interface replacement.</a:t>
            </a:r>
            <a:endParaRPr sz="1275" b="0">
              <a:solidFill>
                <a:srgbClr val="5B6872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8220426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Traceable source inspection ca">
            <a:extLst xmlns:a="http://schemas.openxmlformats.org/drawingml/2006/main">
              <a:ext uri="{FF2B5EF4-FFF2-40B4-BE49-F238E27FC236}">
                <a16:creationId xmlns:a16="http://schemas.microsoft.com/office/drawing/2014/main" id="{AA3774A1-9CD5-405D-B143-3DF79F4A4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66700"/>
            <a:ext cx="11353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76200" tIns="38100" rIns="76200" bIns="381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75" b="1">
                <a:solidFill>
                  <a:srgbClr val="1B2733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1B2733"/>
                </a:solidFill>
                <a:latin typeface="Arial"/>
                <a:ea typeface="Arial"/>
                <a:cs typeface="Arial"/>
              </a:rPr>
              <a:t>Traceable source inspection cases</a:t>
            </a:r>
            <a:endParaRPr sz="2475" b="1">
              <a:solidFill>
                <a:srgbClr val="1B2733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" name="A ranked short view can recove">
            <a:extLst xmlns:a="http://schemas.openxmlformats.org/drawingml/2006/main">
              <a:ext uri="{FF2B5EF4-FFF2-40B4-BE49-F238E27FC236}">
                <a16:creationId xmlns:a16="http://schemas.microsoft.com/office/drawing/2014/main" id="{769AF3BA-3DA0-4E24-AA8E-0D8DB6717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742950"/>
            <a:ext cx="11315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76200" tIns="38100" rIns="76200" bIns="381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5B6872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B6872"/>
                </a:solidFill>
                <a:latin typeface="Arial"/>
                <a:ea typeface="Arial"/>
                <a:cs typeface="Arial"/>
              </a:rPr>
              <a:t>A ranked short view can recover distant evidence, yet it cannot certify that all annotated evidence is visible.</a:t>
            </a:r>
            <a:endParaRPr sz="1425" b="0">
              <a:solidFill>
                <a:srgbClr val="5B6872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" name="任意多边形 2">
            <a:extLst xmlns:a="http://schemas.openxmlformats.org/drawingml/2006/main">
              <a:ext uri="{FF2B5EF4-FFF2-40B4-BE49-F238E27FC236}">
                <a16:creationId xmlns:a16="http://schemas.microsoft.com/office/drawing/2014/main" id="{698E7711-8C12-4701-96BE-F28CB3FD3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1200150"/>
            <a:ext cx="11315700" cy="9525"/>
          </a:xfrm>
          <a:custGeom xmlns:a="http://schemas.openxmlformats.org/drawingml/2006/main">
            <a:pathLst>
              <a:path w="11315700" h="9525">
                <a:moveTo>
                  <a:pt x="0" y="0"/>
                </a:moveTo>
                <a:lnTo>
                  <a:pt x="11315700" y="9525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1B2733"/>
            </a:solidFill>
            <a:prstDash val="solid"/>
          </a:ln>
        </p:spPr>
      </p:sp>
      <p:sp>
        <p:nvSpPr>
          <p:cNvPr id="4" name="Recovery case panel">
            <a:extLst xmlns:a="http://schemas.openxmlformats.org/drawingml/2006/main">
              <a:ext uri="{FF2B5EF4-FFF2-40B4-BE49-F238E27FC236}">
                <a16:creationId xmlns:a16="http://schemas.microsoft.com/office/drawing/2014/main" id="{8AC0683C-B6F2-4CD7-8E8D-F572F99A4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38275"/>
            <a:ext cx="5429250" cy="4486275"/>
          </a:xfrm>
          <a:prstGeom xmlns:a="http://schemas.openxmlformats.org/drawingml/2006/main" prst="roundRect">
            <a:avLst>
              <a:gd name="adj" fmla="val 1538"/>
            </a:avLst>
          </a:prstGeom>
          <a:solidFill xmlns:a="http://schemas.openxmlformats.org/drawingml/2006/main">
            <a:srgbClr val="EEF7FC"/>
          </a:solidFill>
          <a:ln xmlns:a="http://schemas.openxmlformats.org/drawingml/2006/main" w="11906">
            <a:solidFill>
              <a:srgbClr val="438DB8"/>
            </a:solidFill>
          </a:ln>
        </p:spPr>
        <p:txBody>
          <a:bodyPr xmlns:a="http://schemas.openxmlformats.org/drawingml/2006/main" wrap="square" lIns="76200" tIns="38100" rIns="76200" bIns="38100" anchor="ctr">
            <a:no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5" name="Residual omission case panel">
            <a:extLst xmlns:a="http://schemas.openxmlformats.org/drawingml/2006/main">
              <a:ext uri="{FF2B5EF4-FFF2-40B4-BE49-F238E27FC236}">
                <a16:creationId xmlns:a16="http://schemas.microsoft.com/office/drawing/2014/main" id="{F8C12F07-2C7F-488C-93C2-5F8DC534D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438275"/>
            <a:ext cx="5429250" cy="4486275"/>
          </a:xfrm>
          <a:prstGeom xmlns:a="http://schemas.openxmlformats.org/drawingml/2006/main" prst="roundRect">
            <a:avLst>
              <a:gd name="adj" fmla="val 1538"/>
            </a:avLst>
          </a:prstGeom>
          <a:solidFill xmlns:a="http://schemas.openxmlformats.org/drawingml/2006/main">
            <a:srgbClr val="FFF4EA"/>
          </a:solidFill>
          <a:ln xmlns:a="http://schemas.openxmlformats.org/drawingml/2006/main" w="11906">
            <a:solidFill>
              <a:srgbClr val="D89059"/>
            </a:solidFill>
          </a:ln>
        </p:spPr>
        <p:txBody>
          <a:bodyPr xmlns:a="http://schemas.openxmlformats.org/drawingml/2006/main" wrap="square" lIns="76200" tIns="38100" rIns="76200" bIns="38100" anchor="ctr">
            <a:no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6" name="A  RECOVERY">
            <a:extLst xmlns:a="http://schemas.openxmlformats.org/drawingml/2006/main">
              <a:ext uri="{FF2B5EF4-FFF2-40B4-BE49-F238E27FC236}">
                <a16:creationId xmlns:a16="http://schemas.microsoft.com/office/drawing/2014/main" id="{302B9953-011E-45D7-8020-DFAFA2944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38300"/>
            <a:ext cx="133350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0F9F9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19050" rIns="47625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  RECOVERY</a:t>
            </a:r>
            <a:endParaRPr sz="1050" b="1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" name="BGE finds evidence outside the">
            <a:extLst xmlns:a="http://schemas.openxmlformats.org/drawingml/2006/main">
              <a:ext uri="{FF2B5EF4-FFF2-40B4-BE49-F238E27FC236}">
                <a16:creationId xmlns:a16="http://schemas.microsoft.com/office/drawing/2014/main" id="{354EE69C-3305-4FEB-ACE9-FFB9BD918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71675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76200" tIns="38100" rIns="76200" bIns="381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1B2733"/>
                </a:solidFill>
                <a:latin typeface="Arial"/>
                <a:ea typeface="Arial"/>
                <a:cs typeface="Arial"/>
              </a:defRPr>
            </a:pPr>
            <a:r>
              <a:rPr sz="1600" b="1">
                <a:solidFill>
                  <a:srgbClr val="1B2733"/>
                </a:solidFill>
                <a:latin typeface="Arial"/>
                <a:ea typeface="Arial"/>
                <a:cs typeface="Arial"/>
              </a:rPr>
              <a:t>BGE finds evidence outside the lead view</a:t>
            </a:r>
            <a:endParaRPr sz="1600" b="1">
              <a:solidFill>
                <a:srgbClr val="1B2733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" name="QASPER paper 1709.05036">
            <a:extLst xmlns:a="http://schemas.openxmlformats.org/drawingml/2006/main">
              <a:ext uri="{FF2B5EF4-FFF2-40B4-BE49-F238E27FC236}">
                <a16:creationId xmlns:a16="http://schemas.microsoft.com/office/drawing/2014/main" id="{5343A270-C494-4B93-B713-F33FC6A0D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66950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76200" tIns="38100" rIns="76200" bIns="381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B6872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5B6872"/>
                </a:solidFill>
                <a:latin typeface="Arial"/>
                <a:ea typeface="Arial"/>
                <a:cs typeface="Arial"/>
              </a:rPr>
              <a:t>QASPER paper 1709.05036</a:t>
            </a:r>
            <a:endParaRPr sz="1000" b="0">
              <a:solidFill>
                <a:srgbClr val="5B6872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" name="Question: Was the model evalua">
            <a:extLst xmlns:a="http://schemas.openxmlformats.org/drawingml/2006/main">
              <a:ext uri="{FF2B5EF4-FFF2-40B4-BE49-F238E27FC236}">
                <a16:creationId xmlns:a16="http://schemas.microsoft.com/office/drawing/2014/main" id="{FCFDC22E-1EF7-4AF1-AA47-4D596B4DC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33650"/>
            <a:ext cx="5010150" cy="428625"/>
          </a:xfrm>
          <a:prstGeom xmlns:a="http://schemas.openxmlformats.org/drawingml/2006/main" prst="roundRect">
            <a:avLst>
              <a:gd name="adj" fmla="val 1777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906">
            <a:solidFill>
              <a:srgbClr val="D1DCE2"/>
            </a:solidFill>
          </a:ln>
        </p:spPr>
        <p:txBody>
          <a:bodyPr xmlns:a="http://schemas.openxmlformats.org/drawingml/2006/main" wrap="square" lIns="76200" tIns="38100" rIns="76200" bIns="381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1B273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B2733"/>
                </a:solidFill>
                <a:latin typeface="Arial"/>
                <a:ea typeface="Arial"/>
                <a:cs typeface="Arial"/>
              </a:rPr>
              <a:t>Question: Was the model evaluated beyond MovieQA?</a:t>
            </a:r>
            <a:endParaRPr sz="1200" b="1">
              <a:solidFill>
                <a:srgbClr val="1B2733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0" name="圆角矩形 9">
            <a:extLst xmlns:a="http://schemas.openxmlformats.org/drawingml/2006/main">
              <a:ext uri="{FF2B5EF4-FFF2-40B4-BE49-F238E27FC236}">
                <a16:creationId xmlns:a16="http://schemas.microsoft.com/office/drawing/2014/main" id="{92A21342-BE0C-4780-A560-F738BE1B1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81350"/>
            <a:ext cx="22098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906">
            <a:solidFill>
              <a:srgbClr val="D1DCE2"/>
            </a:solidFill>
          </a:ln>
        </p:spPr>
        <p:txBody>
          <a:bodyPr xmlns:a="http://schemas.openxmlformats.org/drawingml/2006/main" wrap="square" lIns="76200" tIns="38100" rIns="76200" bIns="38100" anchor="ctr">
            <a:no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11" name="Leading short view">
            <a:extLst xmlns:a="http://schemas.openxmlformats.org/drawingml/2006/main">
              <a:ext uri="{FF2B5EF4-FFF2-40B4-BE49-F238E27FC236}">
                <a16:creationId xmlns:a16="http://schemas.microsoft.com/office/drawing/2014/main" id="{7FAF7E5C-7663-4718-81D3-30C7D5203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295650"/>
            <a:ext cx="1809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76200" tIns="38100" rIns="76200" bIns="381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5B6872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5B6872"/>
                </a:solidFill>
                <a:latin typeface="Arial"/>
                <a:ea typeface="Arial"/>
                <a:cs typeface="Arial"/>
              </a:rPr>
              <a:t>Leading short view</a:t>
            </a:r>
            <a:endParaRPr sz="1200" b="1">
              <a:solidFill>
                <a:srgbClr val="5B6872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" name="Lead-2: P1–P2&#10;Annotated eviden">
            <a:extLst xmlns:a="http://schemas.openxmlformats.org/drawingml/2006/main">
              <a:ext uri="{FF2B5EF4-FFF2-40B4-BE49-F238E27FC236}">
                <a16:creationId xmlns:a16="http://schemas.microsoft.com/office/drawing/2014/main" id="{2F6A308E-8357-4823-9507-68D7EC9A5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571875"/>
            <a:ext cx="1809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76200" tIns="38100" rIns="76200" bIns="381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1B2733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1B2733"/>
                </a:solidFill>
                <a:latin typeface="Arial"/>
                <a:ea typeface="Arial"/>
                <a:cs typeface="Arial"/>
              </a:rPr>
              <a:t>Lead-2: P1–P2</a:t>
            </a:r>
            <a:endParaRPr sz="1000" b="0">
              <a:solidFill>
                <a:srgbClr val="1B2733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algn="l">
              <a:buNone/>
              <a:defRPr sz="975" b="0">
                <a:solidFill>
                  <a:srgbClr val="1B2733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1B2733"/>
                </a:solidFill>
                <a:latin typeface="Arial"/>
                <a:ea typeface="Arial"/>
                <a:cs typeface="Arial"/>
              </a:rPr>
              <a:t>Annotated evidence at P27</a:t>
            </a:r>
            <a:endParaRPr sz="1000" b="0">
              <a:solidFill>
                <a:srgbClr val="1B2733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algn="l">
              <a:buNone/>
              <a:defRPr sz="975" b="0">
                <a:solidFill>
                  <a:srgbClr val="1B2733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1B2733"/>
                </a:solidFill>
                <a:latin typeface="Arial"/>
                <a:ea typeface="Arial"/>
                <a:cs typeface="Arial"/>
              </a:rPr>
              <a:t>remains outside this view</a:t>
            </a:r>
            <a:endParaRPr sz="1000" b="0">
              <a:solidFill>
                <a:srgbClr val="1B2733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" name="Recovery rerank arrow">
            <a:extLst xmlns:a="http://schemas.openxmlformats.org/drawingml/2006/main">
              <a:ext uri="{FF2B5EF4-FFF2-40B4-BE49-F238E27FC236}">
                <a16:creationId xmlns:a16="http://schemas.microsoft.com/office/drawing/2014/main" id="{1A56FC7B-BA3F-420A-A587-2D44AB5D0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3467100"/>
            <a:ext cx="514350" cy="3429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F9F9A"/>
          </a:solidFill>
          <a:ln xmlns:a="http://schemas.openxmlformats.org/drawingml/2006/main" w="0">
            <a:solidFill>
              <a:srgbClr val="0F9F9A"/>
            </a:solidFill>
          </a:ln>
        </p:spPr>
      </p:sp>
      <p:sp>
        <p:nvSpPr>
          <p:cNvPr id="14" name="rerank">
            <a:extLst xmlns:a="http://schemas.openxmlformats.org/drawingml/2006/main">
              <a:ext uri="{FF2B5EF4-FFF2-40B4-BE49-F238E27FC236}">
                <a16:creationId xmlns:a16="http://schemas.microsoft.com/office/drawing/2014/main" id="{1FA22697-D887-4625-9FC4-9664F6A88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4175" y="3857625"/>
            <a:ext cx="5524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76200" tIns="38100" rIns="762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790" b="1">
                <a:solidFill>
                  <a:srgbClr val="087B78"/>
                </a:solidFill>
                <a:latin typeface="Arial"/>
                <a:ea typeface="Arial"/>
                <a:cs typeface="Arial"/>
              </a:defRPr>
            </a:pPr>
            <a:r>
              <a:rPr sz="1000" b="1">
                <a:solidFill>
                  <a:srgbClr val="087B78"/>
                </a:solidFill>
                <a:latin typeface="Arial"/>
                <a:ea typeface="Arial"/>
                <a:cs typeface="Arial"/>
              </a:rPr>
              <a:t>rerank</a:t>
            </a:r>
            <a:endParaRPr sz="1000" b="1">
              <a:solidFill>
                <a:srgbClr val="087B78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" name="圆角矩形 14">
            <a:extLst xmlns:a="http://schemas.openxmlformats.org/drawingml/2006/main">
              <a:ext uri="{FF2B5EF4-FFF2-40B4-BE49-F238E27FC236}">
                <a16:creationId xmlns:a16="http://schemas.microsoft.com/office/drawing/2014/main" id="{EBFAF018-7542-4277-97D4-B6EEF79BD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3181350"/>
            <a:ext cx="203835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E0F5F2"/>
          </a:solidFill>
          <a:ln xmlns:a="http://schemas.openxmlformats.org/drawingml/2006/main" w="11906">
            <a:solidFill>
              <a:srgbClr val="0F9F9A"/>
            </a:solidFill>
          </a:ln>
        </p:spPr>
        <p:txBody>
          <a:bodyPr xmlns:a="http://schemas.openxmlformats.org/drawingml/2006/main" wrap="square" lIns="76200" tIns="38100" rIns="76200" bIns="38100" anchor="ctr">
            <a:no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16" name="BGE top-2">
            <a:extLst xmlns:a="http://schemas.openxmlformats.org/drawingml/2006/main">
              <a:ext uri="{FF2B5EF4-FFF2-40B4-BE49-F238E27FC236}">
                <a16:creationId xmlns:a16="http://schemas.microsoft.com/office/drawing/2014/main" id="{91EF048C-440B-4E02-87B7-A5AFDCE61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295650"/>
            <a:ext cx="152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76200" tIns="38100" rIns="76200" bIns="381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087B7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87B78"/>
                </a:solidFill>
                <a:latin typeface="Arial"/>
                <a:ea typeface="Arial"/>
                <a:cs typeface="Arial"/>
              </a:rPr>
              <a:t>BGE top-2</a:t>
            </a:r>
            <a:endParaRPr sz="1200" b="1">
              <a:solidFill>
                <a:srgbClr val="087B78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" name="P27  ·  names MCTest">
            <a:extLst xmlns:a="http://schemas.openxmlformats.org/drawingml/2006/main">
              <a:ext uri="{FF2B5EF4-FFF2-40B4-BE49-F238E27FC236}">
                <a16:creationId xmlns:a16="http://schemas.microsoft.com/office/drawing/2014/main" id="{BBCCA091-C51D-44B2-95DD-CCF76E7A4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581400"/>
            <a:ext cx="167640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906">
            <a:solidFill>
              <a:srgbClr val="0F9F9A"/>
            </a:solidFill>
          </a:ln>
        </p:spPr>
        <p:txBody>
          <a:bodyPr xmlns:a="http://schemas.openxmlformats.org/drawingml/2006/main" wrap="square" lIns="76200" tIns="38100" rIns="76200" bIns="381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40" b="1">
                <a:solidFill>
                  <a:srgbClr val="087B78"/>
                </a:solidFill>
                <a:latin typeface="Arial"/>
                <a:ea typeface="Arial"/>
                <a:cs typeface="Arial"/>
              </a:defRPr>
            </a:pPr>
            <a:r>
              <a:rPr sz="1000" b="1">
                <a:solidFill>
                  <a:srgbClr val="087B78"/>
                </a:solidFill>
                <a:latin typeface="Arial"/>
                <a:ea typeface="Arial"/>
                <a:cs typeface="Arial"/>
              </a:rPr>
              <a:t>P27  ·  names MCTest</a:t>
            </a:r>
            <a:endParaRPr sz="1000" b="1">
              <a:solidFill>
                <a:srgbClr val="087B78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8" name="P36 also selected">
            <a:extLst xmlns:a="http://schemas.openxmlformats.org/drawingml/2006/main">
              <a:ext uri="{FF2B5EF4-FFF2-40B4-BE49-F238E27FC236}">
                <a16:creationId xmlns:a16="http://schemas.microsoft.com/office/drawing/2014/main" id="{87C7428E-E5C7-403D-A35D-96E8548DB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962400"/>
            <a:ext cx="1524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76200" tIns="38100" rIns="76200" bIns="381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B6872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5B6872"/>
                </a:solidFill>
                <a:latin typeface="Arial"/>
                <a:ea typeface="Arial"/>
                <a:cs typeface="Arial"/>
              </a:rPr>
              <a:t>P36 also selected</a:t>
            </a:r>
            <a:endParaRPr sz="1000" b="0">
              <a:solidFill>
                <a:srgbClr val="5B6872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9" name="圆角矩形 18">
            <a:extLst xmlns:a="http://schemas.openxmlformats.org/drawingml/2006/main">
              <a:ext uri="{FF2B5EF4-FFF2-40B4-BE49-F238E27FC236}">
                <a16:creationId xmlns:a16="http://schemas.microsoft.com/office/drawing/2014/main" id="{4F6FE8FD-F065-4B88-B365-E003E952A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14850"/>
            <a:ext cx="501015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906">
            <a:solidFill>
              <a:srgbClr val="D1DCE2"/>
            </a:solidFill>
          </a:ln>
        </p:spPr>
        <p:txBody>
          <a:bodyPr xmlns:a="http://schemas.openxmlformats.org/drawingml/2006/main" wrap="square" lIns="76200" tIns="38100" rIns="76200" bIns="38100" anchor="ctr">
            <a:no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20" name="Observed result: BGE top-2 sco">
            <a:extLst xmlns:a="http://schemas.openxmlformats.org/drawingml/2006/main">
              <a:ext uri="{FF2B5EF4-FFF2-40B4-BE49-F238E27FC236}">
                <a16:creationId xmlns:a16="http://schemas.microsoft.com/office/drawing/2014/main" id="{F4E1E7D8-7B66-430E-853C-FD67D5B1B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667250"/>
            <a:ext cx="47148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76200" tIns="38100" rIns="76200" bIns="381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1B2733"/>
                </a:solidFill>
                <a:latin typeface="Arial"/>
                <a:ea typeface="Arial"/>
                <a:cs typeface="Arial"/>
              </a:defRPr>
            </a:pPr>
            <a:r>
              <a:rPr sz="1000" b="1">
                <a:solidFill>
                  <a:srgbClr val="1B2733"/>
                </a:solidFill>
                <a:latin typeface="Arial"/>
                <a:ea typeface="Arial"/>
                <a:cs typeface="Arial"/>
              </a:rPr>
              <a:t>Observed result: BGE top-2 score 1.000   |   lexical 0.150   |   BM25 0.262</a:t>
            </a:r>
            <a:endParaRPr sz="1000" b="1">
              <a:solidFill>
                <a:srgbClr val="1B2733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1" name="Source-inspection cue: show po">
            <a:extLst xmlns:a="http://schemas.openxmlformats.org/drawingml/2006/main">
              <a:ext uri="{FF2B5EF4-FFF2-40B4-BE49-F238E27FC236}">
                <a16:creationId xmlns:a16="http://schemas.microsoft.com/office/drawing/2014/main" id="{B0B385CE-D86C-4873-BF34-EF5506583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81600"/>
            <a:ext cx="501015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E0F5F2"/>
          </a:solidFill>
          <a:ln xmlns:a="http://schemas.openxmlformats.org/drawingml/2006/main" w="11906">
            <a:solidFill>
              <a:srgbClr val="0F9F9A"/>
            </a:solidFill>
          </a:ln>
        </p:spPr>
        <p:txBody>
          <a:bodyPr xmlns:a="http://schemas.openxmlformats.org/drawingml/2006/main" wrap="square" lIns="76200" tIns="38100" rIns="762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087B7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87B78"/>
                </a:solidFill>
                <a:latin typeface="Arial"/>
                <a:ea typeface="Arial"/>
                <a:cs typeface="Arial"/>
              </a:rPr>
              <a:t>Source-context descriptor: show position P27 and open the original paper.</a:t>
            </a:r>
            <a:endParaRPr sz="1200" b="1">
              <a:solidFill>
                <a:srgbClr val="087B78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2" name="B  RESIDUAL OMISSION">
            <a:extLst xmlns:a="http://schemas.openxmlformats.org/drawingml/2006/main">
              <a:ext uri="{FF2B5EF4-FFF2-40B4-BE49-F238E27FC236}">
                <a16:creationId xmlns:a16="http://schemas.microsoft.com/office/drawing/2014/main" id="{77E51DAF-5574-4D70-A11A-D30B6EDEC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638300"/>
            <a:ext cx="180975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E97824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19050" rIns="47625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B  RESIDUAL OMISSION</a:t>
            </a:r>
            <a:endParaRPr sz="1050" b="1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3" name="A strong ranked view can still">
            <a:extLst xmlns:a="http://schemas.openxmlformats.org/drawingml/2006/main">
              <a:ext uri="{FF2B5EF4-FFF2-40B4-BE49-F238E27FC236}">
                <a16:creationId xmlns:a16="http://schemas.microsoft.com/office/drawing/2014/main" id="{F4F59629-1F36-4592-96DF-E75836120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971675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76200" tIns="38100" rIns="76200" bIns="381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1B2733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B2733"/>
                </a:solidFill>
                <a:latin typeface="Arial"/>
                <a:ea typeface="Arial"/>
                <a:cs typeface="Arial"/>
              </a:rPr>
              <a:t>A strong ranked view can still omit evidence</a:t>
            </a:r>
            <a:endParaRPr sz="1425" b="1">
              <a:solidFill>
                <a:srgbClr val="1B2733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4" name="SciFact dev claim 3  ·  docume">
            <a:extLst xmlns:a="http://schemas.openxmlformats.org/drawingml/2006/main">
              <a:ext uri="{FF2B5EF4-FFF2-40B4-BE49-F238E27FC236}">
                <a16:creationId xmlns:a16="http://schemas.microsoft.com/office/drawing/2014/main" id="{D1627730-EE63-4366-97A1-D2D39F049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266950"/>
            <a:ext cx="4857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76200" tIns="38100" rIns="76200" bIns="381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B6872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5B6872"/>
                </a:solidFill>
                <a:latin typeface="Arial"/>
                <a:ea typeface="Arial"/>
                <a:cs typeface="Arial"/>
              </a:rPr>
              <a:t>SciFact dev claim 3  ·  document 14717500  ·  8 abstract sentences</a:t>
            </a:r>
            <a:endParaRPr sz="1000" b="0">
              <a:solidFill>
                <a:srgbClr val="5B6872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5" name="Claim: rare variants can have ">
            <a:extLst xmlns:a="http://schemas.openxmlformats.org/drawingml/2006/main">
              <a:ext uri="{FF2B5EF4-FFF2-40B4-BE49-F238E27FC236}">
                <a16:creationId xmlns:a16="http://schemas.microsoft.com/office/drawing/2014/main" id="{22A62E4B-6B99-47C3-AC4C-35B0BC8B3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533650"/>
            <a:ext cx="5010150" cy="428625"/>
          </a:xfrm>
          <a:prstGeom xmlns:a="http://schemas.openxmlformats.org/drawingml/2006/main" prst="roundRect">
            <a:avLst>
              <a:gd name="adj" fmla="val 1777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906">
            <a:solidFill>
              <a:srgbClr val="D1DCE2"/>
            </a:solidFill>
          </a:ln>
        </p:spPr>
        <p:txBody>
          <a:bodyPr xmlns:a="http://schemas.openxmlformats.org/drawingml/2006/main" wrap="square" lIns="76200" tIns="38100" rIns="76200" bIns="381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15" b="1">
                <a:solidFill>
                  <a:srgbClr val="1B273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B2733"/>
                </a:solidFill>
                <a:latin typeface="Arial"/>
                <a:ea typeface="Arial"/>
                <a:cs typeface="Arial"/>
              </a:rPr>
              <a:t>Claim: rare variants can have larger penetrance effects than common variants.</a:t>
            </a:r>
            <a:endParaRPr sz="1200" b="1">
              <a:solidFill>
                <a:srgbClr val="1B2733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6" name="圆角矩形 25">
            <a:extLst xmlns:a="http://schemas.openxmlformats.org/drawingml/2006/main">
              <a:ext uri="{FF2B5EF4-FFF2-40B4-BE49-F238E27FC236}">
                <a16:creationId xmlns:a16="http://schemas.microsoft.com/office/drawing/2014/main" id="{C900F325-CB73-4F6B-9D92-BE4A58A28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181350"/>
            <a:ext cx="2171700" cy="12192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906">
            <a:solidFill>
              <a:srgbClr val="D1DCE2"/>
            </a:solidFill>
          </a:ln>
        </p:spPr>
        <p:txBody>
          <a:bodyPr xmlns:a="http://schemas.openxmlformats.org/drawingml/2006/main" wrap="square" lIns="76200" tIns="38100" rIns="76200" bIns="38100" anchor="ctr">
            <a:no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27" name="Offline audit only">
            <a:extLst xmlns:a="http://schemas.openxmlformats.org/drawingml/2006/main">
              <a:ext uri="{FF2B5EF4-FFF2-40B4-BE49-F238E27FC236}">
                <a16:creationId xmlns:a16="http://schemas.microsoft.com/office/drawing/2014/main" id="{DD727971-808D-4793-A55D-C141F2800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295650"/>
            <a:ext cx="17526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76200" tIns="38100" rIns="76200" bIns="381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D84F52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D84F52"/>
                </a:solidFill>
                <a:latin typeface="Arial"/>
                <a:ea typeface="Arial"/>
                <a:cs typeface="Arial"/>
              </a:rPr>
              <a:t>Offline audit only</a:t>
            </a:r>
            <a:endParaRPr sz="1200" b="1">
              <a:solidFill>
                <a:srgbClr val="D84F52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8" name="Gold evidence: S3 + S6&#10;BGE top">
            <a:extLst xmlns:a="http://schemas.openxmlformats.org/drawingml/2006/main">
              <a:ext uri="{FF2B5EF4-FFF2-40B4-BE49-F238E27FC236}">
                <a16:creationId xmlns:a16="http://schemas.microsoft.com/office/drawing/2014/main" id="{2CE205A8-1A37-4E5E-A32D-E32DDA964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571875"/>
            <a:ext cx="18859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76200" tIns="38100" rIns="76200" bIns="381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1B2733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1B2733"/>
                </a:solidFill>
                <a:latin typeface="Arial"/>
                <a:ea typeface="Arial"/>
                <a:cs typeface="Arial"/>
              </a:rPr>
              <a:t>Gold evidence: S3 + S6</a:t>
            </a:r>
            <a:endParaRPr sz="1000" b="0">
              <a:solidFill>
                <a:srgbClr val="1B2733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algn="l">
              <a:buNone/>
              <a:defRPr sz="975" b="0">
                <a:solidFill>
                  <a:srgbClr val="1B2733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1B2733"/>
                </a:solidFill>
                <a:latin typeface="Arial"/>
                <a:ea typeface="Arial"/>
                <a:cs typeface="Arial"/>
              </a:rPr>
              <a:t>BGE top-4: S8, S3, S1, S7</a:t>
            </a:r>
            <a:endParaRPr sz="1000" b="0">
              <a:solidFill>
                <a:srgbClr val="1B2733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algn="l">
              <a:buNone/>
              <a:defRPr sz="975" b="0">
                <a:solidFill>
                  <a:srgbClr val="1B2733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1B2733"/>
                </a:solidFill>
                <a:latin typeface="Arial"/>
                <a:ea typeface="Arial"/>
                <a:cs typeface="Arial"/>
              </a:rPr>
              <a:t>S3 is visible; S6 is absent</a:t>
            </a:r>
            <a:endParaRPr sz="1000" b="0">
              <a:solidFill>
                <a:srgbClr val="1B2733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9" name="Residual omission arrow">
            <a:extLst xmlns:a="http://schemas.openxmlformats.org/drawingml/2006/main">
              <a:ext uri="{FF2B5EF4-FFF2-40B4-BE49-F238E27FC236}">
                <a16:creationId xmlns:a16="http://schemas.microsoft.com/office/drawing/2014/main" id="{B8C66A29-C225-480C-890D-57716E246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7775" y="3524250"/>
            <a:ext cx="495300" cy="3429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84F52"/>
          </a:solidFill>
          <a:ln xmlns:a="http://schemas.openxmlformats.org/drawingml/2006/main" w="0">
            <a:solidFill>
              <a:srgbClr val="D84F52"/>
            </a:solidFill>
          </a:ln>
        </p:spPr>
      </p:sp>
      <p:sp>
        <p:nvSpPr>
          <p:cNvPr id="30" name="圆角矩形 29">
            <a:extLst xmlns:a="http://schemas.openxmlformats.org/drawingml/2006/main">
              <a:ext uri="{FF2B5EF4-FFF2-40B4-BE49-F238E27FC236}">
                <a16:creationId xmlns:a16="http://schemas.microsoft.com/office/drawing/2014/main" id="{693C8F88-A183-455C-8B7A-0EE2BC210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96425" y="3181350"/>
            <a:ext cx="2085975" cy="12192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DEBEC"/>
          </a:solidFill>
          <a:ln xmlns:a="http://schemas.openxmlformats.org/drawingml/2006/main" w="11906">
            <a:solidFill>
              <a:srgbClr val="D84F52"/>
            </a:solidFill>
          </a:ln>
        </p:spPr>
        <p:txBody>
          <a:bodyPr xmlns:a="http://schemas.openxmlformats.org/drawingml/2006/main" wrap="square" lIns="76200" tIns="38100" rIns="76200" bIns="38100" anchor="ctr">
            <a:no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31" name="Residual omission">
            <a:extLst xmlns:a="http://schemas.openxmlformats.org/drawingml/2006/main">
              <a:ext uri="{FF2B5EF4-FFF2-40B4-BE49-F238E27FC236}">
                <a16:creationId xmlns:a16="http://schemas.microsoft.com/office/drawing/2014/main" id="{12730FB5-9731-40DA-8FC9-F116AF01E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9775" y="3295650"/>
            <a:ext cx="171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76200" tIns="38100" rIns="76200" bIns="381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D84F52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D84F52"/>
                </a:solidFill>
                <a:latin typeface="Arial"/>
                <a:ea typeface="Arial"/>
                <a:cs typeface="Arial"/>
              </a:rPr>
              <a:t>Residual omission</a:t>
            </a:r>
            <a:endParaRPr sz="1200" b="1">
              <a:solidFill>
                <a:srgbClr val="D84F52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2" name="Evidence recall: 1/2&#10;Complete ">
            <a:extLst xmlns:a="http://schemas.openxmlformats.org/drawingml/2006/main">
              <a:ext uri="{FF2B5EF4-FFF2-40B4-BE49-F238E27FC236}">
                <a16:creationId xmlns:a16="http://schemas.microsoft.com/office/drawing/2014/main" id="{0A11AA99-57A8-4A3A-B1FF-7F1C48979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9775" y="3571875"/>
            <a:ext cx="17335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76200" tIns="38100" rIns="76200" bIns="381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1B2733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1B2733"/>
                </a:solidFill>
                <a:latin typeface="Arial"/>
                <a:ea typeface="Arial"/>
                <a:cs typeface="Arial"/>
              </a:rPr>
              <a:t>Evidence recall: 1/2</a:t>
            </a:r>
            <a:endParaRPr sz="1000" b="0">
              <a:solidFill>
                <a:srgbClr val="1B2733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algn="l">
              <a:buNone/>
              <a:defRPr sz="975" b="0">
                <a:solidFill>
                  <a:srgbClr val="1B2733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1B2733"/>
                </a:solidFill>
                <a:latin typeface="Arial"/>
                <a:ea typeface="Arial"/>
                <a:cs typeface="Arial"/>
              </a:rPr>
              <a:t>Complete coverage: no</a:t>
            </a:r>
            <a:endParaRPr sz="1000" b="0">
              <a:solidFill>
                <a:srgbClr val="1B2733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algn="l">
              <a:buNone/>
              <a:defRPr sz="975" b="0">
                <a:solidFill>
                  <a:srgbClr val="1B2733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1B2733"/>
                </a:solidFill>
                <a:latin typeface="Arial"/>
                <a:ea typeface="Arial"/>
                <a:cs typeface="Arial"/>
              </a:rPr>
              <a:t>Gold labels never enter</a:t>
            </a:r>
            <a:endParaRPr sz="1000" b="0">
              <a:solidFill>
                <a:srgbClr val="1B2733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algn="l">
              <a:buNone/>
              <a:defRPr sz="975" b="0">
                <a:solidFill>
                  <a:srgbClr val="1B2733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1B2733"/>
                </a:solidFill>
                <a:latin typeface="Arial"/>
                <a:ea typeface="Arial"/>
                <a:cs typeface="Arial"/>
              </a:rPr>
              <a:t>the online interface</a:t>
            </a:r>
            <a:endParaRPr sz="1000" b="0">
              <a:solidFill>
                <a:srgbClr val="1B2733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3" name="Aggregate result: 77 / 338 Sci">
            <a:extLst xmlns:a="http://schemas.openxmlformats.org/drawingml/2006/main">
              <a:ext uri="{FF2B5EF4-FFF2-40B4-BE49-F238E27FC236}">
                <a16:creationId xmlns:a16="http://schemas.microsoft.com/office/drawing/2014/main" id="{BDFC4F66-9871-44E6-8688-2CD33A56C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629150"/>
            <a:ext cx="50101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906">
            <a:solidFill>
              <a:srgbClr val="D1DCE2"/>
            </a:solidFill>
          </a:ln>
        </p:spPr>
        <p:txBody>
          <a:bodyPr xmlns:a="http://schemas.openxmlformats.org/drawingml/2006/main" wrap="square" lIns="76200" tIns="38100" rIns="762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1B2733"/>
                </a:solidFill>
                <a:latin typeface="Arial"/>
                <a:ea typeface="Arial"/>
                <a:cs typeface="Arial"/>
              </a:defRPr>
            </a:pPr>
            <a:r>
              <a:rPr sz="1000" b="1">
                <a:solidFill>
                  <a:srgbClr val="1B2733"/>
                </a:solidFill>
                <a:latin typeface="Arial"/>
                <a:ea typeface="Arial"/>
                <a:cs typeface="Arial"/>
              </a:rPr>
              <a:t>Aggregate result: 77 / 338 SciFact evidence sets are incomplete at BGE top-4.</a:t>
            </a:r>
            <a:endParaRPr sz="1000" b="1">
              <a:solidFill>
                <a:srgbClr val="1B2733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4" name="Potential-incompleteness cue: ">
            <a:extLst xmlns:a="http://schemas.openxmlformats.org/drawingml/2006/main">
              <a:ext uri="{FF2B5EF4-FFF2-40B4-BE49-F238E27FC236}">
                <a16:creationId xmlns:a16="http://schemas.microsoft.com/office/drawing/2014/main" id="{949FB1AB-403F-4452-8F98-7856660C0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5238750"/>
            <a:ext cx="501015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FFF0E5"/>
          </a:solidFill>
          <a:ln xmlns:a="http://schemas.openxmlformats.org/drawingml/2006/main" w="11906">
            <a:solidFill>
              <a:srgbClr val="E97824"/>
            </a:solidFill>
          </a:ln>
        </p:spPr>
        <p:txBody>
          <a:bodyPr xmlns:a="http://schemas.openxmlformats.org/drawingml/2006/main" wrap="square" lIns="76200" tIns="38100" rIns="762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A84D10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A84D10"/>
                </a:solidFill>
                <a:latin typeface="Arial"/>
                <a:ea typeface="Arial"/>
                <a:cs typeface="Arial"/>
              </a:rPr>
              <a:t>Source-context descriptor: open the source before relying on this fixed short view.</a:t>
            </a:r>
            <a:endParaRPr sz="1200" b="1">
              <a:solidFill>
                <a:srgbClr val="A84D1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5" name="任意多边形 34">
            <a:extLst xmlns:a="http://schemas.openxmlformats.org/drawingml/2006/main">
              <a:ext uri="{FF2B5EF4-FFF2-40B4-BE49-F238E27FC236}">
                <a16:creationId xmlns:a16="http://schemas.microsoft.com/office/drawing/2014/main" id="{AC2A574A-ED59-4099-AD59-5A7F98EE8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114415"/>
            <a:ext cx="11315700" cy="9525"/>
          </a:xfrm>
          <a:custGeom xmlns:a="http://schemas.openxmlformats.org/drawingml/2006/main">
            <a:pathLst>
              <a:path w="11315700" h="9525">
                <a:moveTo>
                  <a:pt x="0" y="0"/>
                </a:moveTo>
                <a:lnTo>
                  <a:pt x="11315700" y="952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8E0E5"/>
            </a:solidFill>
            <a:prstDash val="solid"/>
          </a:ln>
        </p:spPr>
      </p:sp>
      <p:sp>
        <p:nvSpPr>
          <p:cNvPr id="36" name="Gold annotations support offli">
            <a:extLst xmlns:a="http://schemas.openxmlformats.org/drawingml/2006/main">
              <a:ext uri="{FF2B5EF4-FFF2-40B4-BE49-F238E27FC236}">
                <a16:creationId xmlns:a16="http://schemas.microsoft.com/office/drawing/2014/main" id="{864779C2-C8EB-4947-8F44-D62115FF0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" y="6219825"/>
            <a:ext cx="11315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76200" tIns="38100" rIns="76200" bIns="381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B6872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B6872"/>
                </a:solidFill>
                <a:latin typeface="Arial"/>
                <a:ea typeface="Arial"/>
                <a:cs typeface="Arial"/>
              </a:rPr>
              <a:t>Gold annotations support offline measurement only. Source-context descriptors do not assess truth, study quality, or completeness.</a:t>
            </a:r>
            <a:endParaRPr sz="1275" b="0">
              <a:solidFill>
                <a:srgbClr val="5B6872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7763926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2026-09-15T06:26:59.0540000Z</dcterms:created>
  <dcterms:modified xsi:type="dcterms:W3CDTF">2026-09-15T06:26:59.0540000Z</dcterms:modified>
</coreProperties>
</file>