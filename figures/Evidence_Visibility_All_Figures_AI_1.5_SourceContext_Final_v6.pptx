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80825d26764c95" /><Relationship Type="http://schemas.openxmlformats.org/officeDocument/2006/relationships/extended-properties" Target="/docProps/app.xml" Id="R06521ad0344b41d9" /><Relationship Type="http://schemas.openxmlformats.org/officeDocument/2006/relationships/officeDocument" Target="/ppt/presentation.xml" Id="R7d1a16592df948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c5d088ab7642c9"/>
  </p:sldMasterIdLst>
  <p:notesMasterIdLst>
    <p:notesMasterId xmlns:r="http://schemas.openxmlformats.org/officeDocument/2006/relationships" r:id="R821a4a3ce89d48ae"/>
  </p:notesMasterIdLst>
  <p:sldIdLst>
    <p:sldId xmlns:r="http://schemas.openxmlformats.org/officeDocument/2006/relationships" id="256" r:id="Raebc2b9e82b64b3b"/>
    <p:sldId xmlns:r="http://schemas.openxmlformats.org/officeDocument/2006/relationships" id="257" r:id="R633dda190fce46e6"/>
    <p:sldId xmlns:r="http://schemas.openxmlformats.org/officeDocument/2006/relationships" id="258" r:id="Rb58f081e30f24a96"/>
    <p:sldId xmlns:r="http://schemas.openxmlformats.org/officeDocument/2006/relationships" id="259" r:id="Rede5305700f34c09"/>
    <p:sldId xmlns:r="http://schemas.openxmlformats.org/officeDocument/2006/relationships" id="260" r:id="Rdc3bf6cce68845d6"/>
  </p:sldIdLst>
  <p:sldSz cx="12192000" cy="762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742ef57425460a" /><Relationship Type="http://schemas.openxmlformats.org/officeDocument/2006/relationships/slideMaster" Target="/ppt/slideMasters/slideMaster1.xml" Id="R4cc5d088ab7642c9" /><Relationship Type="http://schemas.openxmlformats.org/officeDocument/2006/relationships/notesMaster" Target="/ppt/notesMasters/notesMaster1.xml" Id="R821a4a3ce89d48ae" /><Relationship Type="http://schemas.openxmlformats.org/officeDocument/2006/relationships/presProps" Target="/ppt/presProps.xml" Id="R141c2f5627d64e64" /><Relationship Type="http://schemas.openxmlformats.org/officeDocument/2006/relationships/viewProps" Target="/ppt/viewProps.xml" Id="Ra030a382f15c4296" /><Relationship Type="http://schemas.openxmlformats.org/officeDocument/2006/relationships/tableStyles" Target="/ppt/tableStyles.xml" Id="Ra96a31a7e6bb4270" /><Relationship Type="http://schemas.openxmlformats.org/officeDocument/2006/relationships/slide" Target="/ppt/slides/slide1.xml" Id="Raebc2b9e82b64b3b" /><Relationship Type="http://schemas.openxmlformats.org/officeDocument/2006/relationships/slide" Target="/ppt/slides/slide2.xml" Id="R633dda190fce46e6" /><Relationship Type="http://schemas.openxmlformats.org/officeDocument/2006/relationships/slide" Target="/ppt/slides/slide3.xml" Id="Rb58f081e30f24a96" /><Relationship Type="http://schemas.openxmlformats.org/officeDocument/2006/relationships/slide" Target="/ppt/slides/slide4.xml" Id="Rede5305700f34c09" /><Relationship Type="http://schemas.openxmlformats.org/officeDocument/2006/relationships/slide" Target="/ppt/slides/slide5.xml" Id="Rdc3bf6cce68845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400a5017a940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2459d9170b4a4a" /><Relationship Type="http://schemas.openxmlformats.org/officeDocument/2006/relationships/notesMaster" Target="/ppt/notesMasters/notesMaster1.xml" Id="R6422e2460a9147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81730c9d474a94" /><Relationship Type="http://schemas.openxmlformats.org/officeDocument/2006/relationships/notesMaster" Target="/ppt/notesMasters/notesMaster1.xml" Id="R82187407669046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885103f0024e99" /><Relationship Type="http://schemas.openxmlformats.org/officeDocument/2006/relationships/notesMaster" Target="/ppt/notesMasters/notesMaster1.xml" Id="R159eb40f1d7849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bed8b1f96d4a8f" /><Relationship Type="http://schemas.openxmlformats.org/officeDocument/2006/relationships/notesMaster" Target="/ppt/notesMasters/notesMaster1.xml" Id="Rd99df96749804b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5690ad513a4950" /><Relationship Type="http://schemas.openxmlformats.org/officeDocument/2006/relationships/notesMaster" Target="/ppt/notesMasters/notesMaster1.xml" Id="R01dcea3ac80f4e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revision: diagonal cross-stage links replaced with orthogonal source-to-target connectors; all original text and user-adjusted font sizes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5. Traceable source-inspection cases. A shows recovery of distant QASPER evidence. B shows a residual SciFact omission. Gold labels remain offline-only.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ad5e4a389447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c8235724c74bd8" /><Relationship Type="http://schemas.openxmlformats.org/officeDocument/2006/relationships/slideLayout" Target="/ppt/slideLayouts/slideLayout1.xml" Id="R7f5f64a278ff42b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5f64a278ff42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d06dc78864e3c" /><Relationship Type="http://schemas.openxmlformats.org/officeDocument/2006/relationships/image" Target="/ppt/media/image.png" Id="R24ad42d02a2a4241" /><Relationship Type="http://schemas.openxmlformats.org/officeDocument/2006/relationships/image" Target="/ppt/media/image.svg" Id="Rbba66d29e5074c18" /><Relationship Type="http://schemas.openxmlformats.org/officeDocument/2006/relationships/image" Target="/ppt/media/image2.png" Id="R514f7cfd15c14c78" /><Relationship Type="http://schemas.openxmlformats.org/officeDocument/2006/relationships/image" Target="/ppt/media/image2.svg" Id="R5e2de42bafa94967" /><Relationship Type="http://schemas.openxmlformats.org/officeDocument/2006/relationships/image" Target="/ppt/media/image3.png" Id="R2ca103f17d234500" /><Relationship Type="http://schemas.openxmlformats.org/officeDocument/2006/relationships/image" Target="/ppt/media/image3.svg" Id="Ra4eb9b6385bd4325" /><Relationship Type="http://schemas.openxmlformats.org/officeDocument/2006/relationships/image" Target="/ppt/media/image4.png" Id="R3bdb394d7ef341ca" /><Relationship Type="http://schemas.openxmlformats.org/officeDocument/2006/relationships/image" Target="/ppt/media/image4.svg" Id="R1322374e039742a2" /><Relationship Type="http://schemas.openxmlformats.org/officeDocument/2006/relationships/image" Target="/ppt/media/image5.png" Id="Rc48b14f7e5124af7" /><Relationship Type="http://schemas.openxmlformats.org/officeDocument/2006/relationships/image" Target="/ppt/media/image5.svg" Id="R277e0dc1804d4c3b" /><Relationship Type="http://schemas.openxmlformats.org/officeDocument/2006/relationships/image" Target="/ppt/media/image6.png" Id="Rb5fd95d0cca747a1" /><Relationship Type="http://schemas.openxmlformats.org/officeDocument/2006/relationships/image" Target="/ppt/media/image6.svg" Id="Re8a303014f63492d" /><Relationship Type="http://schemas.openxmlformats.org/officeDocument/2006/relationships/image" Target="/ppt/media/image7.png" Id="R431c7807767a49c8" /><Relationship Type="http://schemas.openxmlformats.org/officeDocument/2006/relationships/image" Target="/ppt/media/image7.svg" Id="R134afb51f3ea46da" /><Relationship Type="http://schemas.openxmlformats.org/officeDocument/2006/relationships/image" Target="/ppt/media/image8.png" Id="Rbf60afb60ffe4224" /><Relationship Type="http://schemas.openxmlformats.org/officeDocument/2006/relationships/image" Target="/ppt/media/image8.svg" Id="Rd579c376c45f4c77" /><Relationship Type="http://schemas.openxmlformats.org/officeDocument/2006/relationships/image" Target="/ppt/media/image9.png" Id="R817b3f78dbb347eb" /><Relationship Type="http://schemas.openxmlformats.org/officeDocument/2006/relationships/image" Target="/ppt/media/image9.svg" Id="R294350b953fd465e" /><Relationship Type="http://schemas.openxmlformats.org/officeDocument/2006/relationships/image" Target="/ppt/media/image10.png" Id="R03ac005e95084d1e" /><Relationship Type="http://schemas.openxmlformats.org/officeDocument/2006/relationships/image" Target="/ppt/media/image10.svg" Id="R559c951f05a74447" /><Relationship Type="http://schemas.openxmlformats.org/officeDocument/2006/relationships/image" Target="/ppt/media/image11.png" Id="R6c690637bd384ea9" /><Relationship Type="http://schemas.openxmlformats.org/officeDocument/2006/relationships/image" Target="/ppt/media/image11.svg" Id="R1a6faeb1b7a84fa4" /><Relationship Type="http://schemas.openxmlformats.org/officeDocument/2006/relationships/image" Target="/ppt/media/image12.png" Id="R066f60878f7d4e65" /><Relationship Type="http://schemas.openxmlformats.org/officeDocument/2006/relationships/image" Target="/ppt/media/image12.svg" Id="Ra4e8c146c688497a" /><Relationship Type="http://schemas.openxmlformats.org/officeDocument/2006/relationships/image" Target="/ppt/media/image13.png" Id="R10c7ac10a12b484e" /><Relationship Type="http://schemas.openxmlformats.org/officeDocument/2006/relationships/image" Target="/ppt/media/image13.svg" Id="Ref49c6922eb344d6" /><Relationship Type="http://schemas.openxmlformats.org/officeDocument/2006/relationships/image" Target="/ppt/media/image14.png" Id="Rbbda77a8ef664570" /><Relationship Type="http://schemas.openxmlformats.org/officeDocument/2006/relationships/image" Target="/ppt/media/image14.svg" Id="R48090d8ef6a849b2" /><Relationship Type="http://schemas.openxmlformats.org/officeDocument/2006/relationships/image" Target="/ppt/media/image15.png" Id="R45089609852844e8" /><Relationship Type="http://schemas.openxmlformats.org/officeDocument/2006/relationships/image" Target="/ppt/media/image15.svg" Id="R63c9584502044df8" /><Relationship Type="http://schemas.openxmlformats.org/officeDocument/2006/relationships/image" Target="/ppt/media/image16.png" Id="Rd6a76d03210e42cf" /><Relationship Type="http://schemas.openxmlformats.org/officeDocument/2006/relationships/image" Target="/ppt/media/image16.svg" Id="R63bed18404384039" /><Relationship Type="http://schemas.openxmlformats.org/officeDocument/2006/relationships/image" Target="/ppt/media/image17.png" Id="R93b9919ba4c8499e" /><Relationship Type="http://schemas.openxmlformats.org/officeDocument/2006/relationships/image" Target="/ppt/media/image17.svg" Id="Rbea04a9419c74d2d" /><Relationship Type="http://schemas.openxmlformats.org/officeDocument/2006/relationships/image" Target="/ppt/media/image18.png" Id="Rfacbf9fef5bb4d43" /><Relationship Type="http://schemas.openxmlformats.org/officeDocument/2006/relationships/image" Target="/ppt/media/image18.svg" Id="Raf6cbdab3d2941db" /><Relationship Type="http://schemas.openxmlformats.org/officeDocument/2006/relationships/image" Target="/ppt/media/image19.png" Id="R6301af596e334f8a" /><Relationship Type="http://schemas.openxmlformats.org/officeDocument/2006/relationships/image" Target="/ppt/media/image19.svg" Id="R707f8814dbe44c43" /><Relationship Type="http://schemas.openxmlformats.org/officeDocument/2006/relationships/image" Target="/ppt/media/image20.png" Id="R79f91d0e2dfd473e" /><Relationship Type="http://schemas.openxmlformats.org/officeDocument/2006/relationships/image" Target="/ppt/media/image20.svg" Id="Rcd065681ac9c4e97" /><Relationship Type="http://schemas.openxmlformats.org/officeDocument/2006/relationships/image" Target="/ppt/media/image21.png" Id="R19e619ae0e2342ff" /><Relationship Type="http://schemas.openxmlformats.org/officeDocument/2006/relationships/image" Target="/ppt/media/image21.svg" Id="Ra57f9e81203f460c" /><Relationship Type="http://schemas.openxmlformats.org/officeDocument/2006/relationships/notesSlide" Target="/ppt/notesSlides/notesSlide1.xml" Id="Ra88cf40fa52843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e6ff53d4340cb" /><Relationship Type="http://schemas.openxmlformats.org/officeDocument/2006/relationships/chart" Target="/ppt/slides/charts/chart1.xml" Id="R2dec416115fa4188" /><Relationship Type="http://schemas.openxmlformats.org/officeDocument/2006/relationships/chart" Target="/ppt/slides/charts/chart2.xml" Id="R5244d1e427e5445f" /><Relationship Type="http://schemas.openxmlformats.org/officeDocument/2006/relationships/notesSlide" Target="/ppt/notesSlides/notesSlide2.xml" Id="R85fbb03da9a745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8ebe0c7b944bd" /><Relationship Type="http://schemas.openxmlformats.org/officeDocument/2006/relationships/notesSlide" Target="/ppt/notesSlides/notesSlide3.xml" Id="R5621df28139649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04decc06047a3" /><Relationship Type="http://schemas.openxmlformats.org/officeDocument/2006/relationships/chart" Target="/ppt/slides/charts/chart3.xml" Id="R32cb9079b08a4e22" /><Relationship Type="http://schemas.openxmlformats.org/officeDocument/2006/relationships/notesSlide" Target="/ppt/notesSlides/notesSlide4.xml" Id="R3e40a64c0c5a42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abd5210d94178" /><Relationship Type="http://schemas.openxmlformats.org/officeDocument/2006/relationships/notesSlide" Target="/ppt/notesSlides/notesSlide5.xml" Id="R7aabdf0b84164a15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Lead-k</c:f>
              <c:strCache>
                <c:ptCount val="1"/>
                <c:pt idx="0">
                  <c:v>Lead-k</c:v>
                </c:pt>
              </c:strCache>
            </c:strRef>
          </c:tx>
          <c:spPr>
            <a:solidFill xmlns:a="http://schemas.openxmlformats.org/drawingml/2006/main">
              <a:srgbClr val="B9C2C9"/>
            </a:solidFill>
            <a:ln xmlns:a="http://schemas.openxmlformats.org/drawingml/2006/main" w="0">
              <a:solidFill>
                <a:srgbClr val="B9C2C9"/>
              </a:solidFill>
            </a:ln>
          </c:spPr>
          <c:dLbls>
            <c:delete val="1"/>
          </c:dLbls>
          <c:cat>
            <c:strRef>
              <c:f>'Chart Data'!$A$2:$A$3</c:f>
              <c:strCache>
                <c:ptCount val="2"/>
                <c:pt idx="0">
                  <c:v>2 paragraphs</c:v>
                </c:pt>
                <c:pt idx="1">
                  <c:v>4 paragraphs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0.128438355</c:v>
                </c:pt>
                <c:pt idx="1">
                  <c:v>0.222292014</c:v>
                </c:pt>
              </c:numCache>
            </c:numRef>
          </c:val>
        </c:ser>
        <c:ser>
          <c:idx val="1"/>
          <c:order val="1"/>
          <c:tx>
            <c:strRef>
              <c:f>Lexical</c:f>
              <c:strCache>
                <c:ptCount val="1"/>
                <c:pt idx="0">
                  <c:v>Lexical</c:v>
                </c:pt>
              </c:strCache>
            </c:strRef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0">
              <a:solidFill>
                <a:srgbClr val="777777"/>
              </a:solidFill>
            </a:ln>
          </c:spPr>
          <c:dLbls>
            <c:delete val="1"/>
          </c:dLbls>
          <c:cat>
            <c:strRef>
              <c:f>'Chart Data'!$C$2:$C$3</c:f>
              <c:strCache>
                <c:ptCount val="2"/>
                <c:pt idx="0">
                  <c:v>2 paragraphs</c:v>
                </c:pt>
                <c:pt idx="1">
                  <c:v>4 paragraphs</c:v>
                </c:pt>
              </c:strCache>
            </c:strRef>
          </c:cat>
          <c:val>
            <c:numRef>
              <c:f>'Chart Data'!$D$2:$D$3</c:f>
              <c:numCache>
                <c:formatCode>0.000</c:formatCode>
                <c:ptCount val="2"/>
                <c:pt idx="0">
                  <c:v>0.270007787</c:v>
                </c:pt>
                <c:pt idx="1">
                  <c:v>0.414446134</c:v>
                </c:pt>
              </c:numCache>
            </c:numRef>
          </c:val>
        </c:ser>
        <c:ser>
          <c:idx val="2"/>
          <c:order val="2"/>
          <c:tx>
            <c:strRef>
              <c:f>BM25</c:f>
              <c:strCache>
                <c:ptCount val="1"/>
                <c:pt idx="0">
                  <c:v>BM25</c:v>
                </c:pt>
              </c:strCache>
            </c:strRef>
          </c:tx>
          <c:spPr>
            <a:solidFill xmlns:a="http://schemas.openxmlformats.org/drawingml/2006/main">
              <a:srgbClr val="E69F00"/>
            </a:solidFill>
            <a:ln xmlns:a="http://schemas.openxmlformats.org/drawingml/2006/main" w="0">
              <a:solidFill>
                <a:srgbClr val="E69F00"/>
              </a:solidFill>
            </a:ln>
          </c:spPr>
          <c:dLbls>
            <c:delete val="1"/>
          </c:dLbls>
          <c:cat>
            <c:strRef>
              <c:f>'Chart Data'!$E$2:$E$3</c:f>
              <c:strCache>
                <c:ptCount val="2"/>
                <c:pt idx="0">
                  <c:v>2 paragraphs</c:v>
                </c:pt>
                <c:pt idx="1">
                  <c:v>4 paragraphs</c:v>
                </c:pt>
              </c:strCache>
            </c:strRef>
          </c:cat>
          <c:val>
            <c:numRef>
              <c:f>'Chart Data'!$F$2:$F$3</c:f>
              <c:numCache>
                <c:formatCode>0.000</c:formatCode>
                <c:ptCount val="2"/>
                <c:pt idx="0">
                  <c:v>0.285011587</c:v>
                </c:pt>
                <c:pt idx="1">
                  <c:v>0.39639841</c:v>
                </c:pt>
              </c:numCache>
            </c:numRef>
          </c:val>
        </c:ser>
        <c:ser>
          <c:idx val="3"/>
          <c:order val="3"/>
          <c:tx>
            <c:strRef>
              <c:f>MiniLM</c:f>
              <c:strCache>
                <c:ptCount val="1"/>
                <c:pt idx="0">
                  <c:v>MiniLM</c:v>
                </c:pt>
              </c:strCache>
            </c:strRef>
          </c:tx>
          <c:spPr>
            <a:solidFill xmlns:a="http://schemas.openxmlformats.org/drawingml/2006/main">
              <a:srgbClr val="009E73"/>
            </a:solidFill>
            <a:ln xmlns:a="http://schemas.openxmlformats.org/drawingml/2006/main" w="0">
              <a:solidFill>
                <a:srgbClr val="009E73"/>
              </a:solidFill>
            </a:ln>
          </c:spPr>
          <c:dLbls>
            <c:delete val="1"/>
          </c:dLbls>
          <c:cat>
            <c:strRef>
              <c:f>'Chart Data'!$G$2:$G$3</c:f>
              <c:strCache>
                <c:ptCount val="2"/>
                <c:pt idx="0">
                  <c:v>2 paragraphs</c:v>
                </c:pt>
                <c:pt idx="1">
                  <c:v>4 paragraphs</c:v>
                </c:pt>
              </c:strCache>
            </c:strRef>
          </c:cat>
          <c:val>
            <c:numRef>
              <c:f>'Chart Data'!$H$2:$H$3</c:f>
              <c:numCache>
                <c:formatCode>0.000</c:formatCode>
                <c:ptCount val="2"/>
                <c:pt idx="0">
                  <c:v>0.325987983</c:v>
                </c:pt>
                <c:pt idx="1">
                  <c:v>0.430005852</c:v>
                </c:pt>
              </c:numCache>
            </c:numRef>
          </c:val>
        </c:ser>
        <c:ser>
          <c:idx val="4"/>
          <c:order val="4"/>
          <c:tx>
            <c:strRef>
              <c:f>BGE</c:f>
              <c:strCache>
                <c:ptCount val="1"/>
                <c:pt idx="0">
                  <c:v>BGE</c:v>
                </c:pt>
              </c:strCache>
            </c:strRef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solidFill>
                <a:srgbClr val="0072B2"/>
              </a:solidFill>
            </a:ln>
          </c:spPr>
          <c:dLbls>
            <c:dLbl>
              <c:idx val="0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0" i="0" u="none">
                      <a:solidFill>
                        <a:srgbClr val="1B2733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0" i="0" u="none">
                      <a:solidFill>
                        <a:srgbClr val="1B2733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outEnd"/>
            <c:showLegendKey val="1"/>
            <c:showVal val="1"/>
            <c:showCatName val="1"/>
            <c:showSerName val="1"/>
            <c:showPercent val="1"/>
            <c:showBubbleSize val="1"/>
            <c:showLeaderLines val="0"/>
          </c:dLbls>
          <c:cat>
            <c:strRef>
              <c:f>'Chart Data'!$I$2:$I$3</c:f>
              <c:strCache>
                <c:ptCount val="2"/>
                <c:pt idx="0">
                  <c:v>2 paragraphs</c:v>
                </c:pt>
                <c:pt idx="1">
                  <c:v>4 paragraphs</c:v>
                </c:pt>
              </c:strCache>
            </c:strRef>
          </c:cat>
          <c:val>
            <c:numRef>
              <c:f>'Chart Data'!$J$2:$J$3</c:f>
              <c:numCache>
                <c:formatCode>0.000</c:formatCode>
                <c:ptCount val="2"/>
                <c:pt idx="0">
                  <c:v>0.440604402</c:v>
                </c:pt>
                <c:pt idx="1">
                  <c:v>0.561697788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5B6872"/>
            </a:solidFill>
            <a:prstDash val="solid"/>
          </a:ln>
        </c:spPr>
        <c:txPr>
          <a:bodyPr xmlns:a="http://schemas.openxmlformats.org/drawingml/2006/main" rot="-60000000" spcFirstLastPara="0" vert="horz" wrap="square" anchor="ctr" anchorCtr="1"/>
          <a:lstStyle xmlns:a="http://schemas.openxmlformats.org/drawingml/2006/main"/>
          <a:p xmlns:a="http://schemas.openxmlformats.org/drawingml/2006/main">
            <a:pPr>
              <a:defRPr sz="1500" b="0" i="0" u="none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5"/>
              </a:solidFill>
              <a:prstDash val="solid"/>
            </a:ln>
          </c:spPr>
        </c:majorGridlines>
        <c:numFmt formatCode="0.000" sourceLinked="1"/>
        <c:majorTickMark val="none"/>
        <c:minorTickMark val="none"/>
        <c:tickLblPos val="nextTo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350" b="0" i="0" u="none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425" b="0" i="0" u="none">
              <a:solidFill>
                <a:srgbClr val="1B273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Lead-k</c:f>
              <c:strCache>
                <c:ptCount val="1"/>
                <c:pt idx="0">
                  <c:v>Lead-k</c:v>
                </c:pt>
              </c:strCache>
            </c:strRef>
          </c:tx>
          <c:spPr>
            <a:solidFill xmlns:a="http://schemas.openxmlformats.org/drawingml/2006/main">
              <a:srgbClr val="B9C2C9"/>
            </a:solidFill>
            <a:ln xmlns:a="http://schemas.openxmlformats.org/drawingml/2006/main" w="0">
              <a:solidFill>
                <a:srgbClr val="B9C2C9"/>
              </a:solidFill>
            </a:ln>
          </c:spPr>
          <c:dLbls>
            <c:delete val="1"/>
          </c:dLbls>
          <c:cat>
            <c:strRef>
              <c:f>'Chart Data'!$A$2:$A$3</c:f>
              <c:strCache>
                <c:ptCount val="2"/>
                <c:pt idx="0">
                  <c:v>2 sentences</c:v>
                </c:pt>
                <c:pt idx="1">
                  <c:v>4 sentences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0.0882643</c:v>
                </c:pt>
                <c:pt idx="1">
                  <c:v>0.278599606</c:v>
                </c:pt>
              </c:numCache>
            </c:numRef>
          </c:val>
        </c:ser>
        <c:ser>
          <c:idx val="1"/>
          <c:order val="1"/>
          <c:tx>
            <c:strRef>
              <c:f>Lexical</c:f>
              <c:strCache>
                <c:ptCount val="1"/>
                <c:pt idx="0">
                  <c:v>Lexical</c:v>
                </c:pt>
              </c:strCache>
            </c:strRef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0">
              <a:solidFill>
                <a:srgbClr val="777777"/>
              </a:solidFill>
            </a:ln>
          </c:spPr>
          <c:dLbls>
            <c:delete val="1"/>
          </c:dLbls>
          <c:cat>
            <c:strRef>
              <c:f>'Chart Data'!$C$2:$C$3</c:f>
              <c:strCache>
                <c:ptCount val="2"/>
                <c:pt idx="0">
                  <c:v>2 sentences</c:v>
                </c:pt>
                <c:pt idx="1">
                  <c:v>4 sentences</c:v>
                </c:pt>
              </c:strCache>
            </c:strRef>
          </c:cat>
          <c:val>
            <c:numRef>
              <c:f>'Chart Data'!$D$2:$D$3</c:f>
              <c:numCache>
                <c:formatCode>0.000</c:formatCode>
                <c:ptCount val="2"/>
                <c:pt idx="0">
                  <c:v>0.436883629</c:v>
                </c:pt>
                <c:pt idx="1">
                  <c:v>0.656311637</c:v>
                </c:pt>
              </c:numCache>
            </c:numRef>
          </c:val>
        </c:ser>
        <c:ser>
          <c:idx val="2"/>
          <c:order val="2"/>
          <c:tx>
            <c:strRef>
              <c:f>BM25</c:f>
              <c:strCache>
                <c:ptCount val="1"/>
                <c:pt idx="0">
                  <c:v>BM25</c:v>
                </c:pt>
              </c:strCache>
            </c:strRef>
          </c:tx>
          <c:spPr>
            <a:solidFill xmlns:a="http://schemas.openxmlformats.org/drawingml/2006/main">
              <a:srgbClr val="E69F00"/>
            </a:solidFill>
            <a:ln xmlns:a="http://schemas.openxmlformats.org/drawingml/2006/main" w="0">
              <a:solidFill>
                <a:srgbClr val="E69F00"/>
              </a:solidFill>
            </a:ln>
          </c:spPr>
          <c:dLbls>
            <c:delete val="1"/>
          </c:dLbls>
          <c:cat>
            <c:strRef>
              <c:f>'Chart Data'!$E$2:$E$3</c:f>
              <c:strCache>
                <c:ptCount val="2"/>
                <c:pt idx="0">
                  <c:v>2 sentences</c:v>
                </c:pt>
                <c:pt idx="1">
                  <c:v>4 sentences</c:v>
                </c:pt>
              </c:strCache>
            </c:strRef>
          </c:cat>
          <c:val>
            <c:numRef>
              <c:f>'Chart Data'!$F$2:$F$3</c:f>
              <c:numCache>
                <c:formatCode>0.000</c:formatCode>
                <c:ptCount val="2"/>
                <c:pt idx="0">
                  <c:v>0.460552268</c:v>
                </c:pt>
                <c:pt idx="1">
                  <c:v>0.66321499</c:v>
                </c:pt>
              </c:numCache>
            </c:numRef>
          </c:val>
        </c:ser>
        <c:ser>
          <c:idx val="3"/>
          <c:order val="3"/>
          <c:tx>
            <c:strRef>
              <c:f>MiniLM</c:f>
              <c:strCache>
                <c:ptCount val="1"/>
                <c:pt idx="0">
                  <c:v>MiniLM</c:v>
                </c:pt>
              </c:strCache>
            </c:strRef>
          </c:tx>
          <c:spPr>
            <a:solidFill xmlns:a="http://schemas.openxmlformats.org/drawingml/2006/main">
              <a:srgbClr val="009E73"/>
            </a:solidFill>
            <a:ln xmlns:a="http://schemas.openxmlformats.org/drawingml/2006/main" w="0">
              <a:solidFill>
                <a:srgbClr val="009E73"/>
              </a:solidFill>
            </a:ln>
          </c:spPr>
          <c:dLbls>
            <c:delete val="1"/>
          </c:dLbls>
          <c:cat>
            <c:strRef>
              <c:f>'Chart Data'!$G$2:$G$3</c:f>
              <c:strCache>
                <c:ptCount val="2"/>
                <c:pt idx="0">
                  <c:v>2 sentences</c:v>
                </c:pt>
                <c:pt idx="1">
                  <c:v>4 sentences</c:v>
                </c:pt>
              </c:strCache>
            </c:strRef>
          </c:cat>
          <c:val>
            <c:numRef>
              <c:f>'Chart Data'!$H$2:$H$3</c:f>
              <c:numCache>
                <c:formatCode>0.000</c:formatCode>
                <c:ptCount val="2"/>
                <c:pt idx="0">
                  <c:v>0.480769231</c:v>
                </c:pt>
                <c:pt idx="1">
                  <c:v>0.725345168</c:v>
                </c:pt>
              </c:numCache>
            </c:numRef>
          </c:val>
        </c:ser>
        <c:ser>
          <c:idx val="4"/>
          <c:order val="4"/>
          <c:tx>
            <c:strRef>
              <c:f>BGE</c:f>
              <c:strCache>
                <c:ptCount val="1"/>
                <c:pt idx="0">
                  <c:v>BGE</c:v>
                </c:pt>
              </c:strCache>
            </c:strRef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solidFill>
                <a:srgbClr val="0072B2"/>
              </a:solidFill>
            </a:ln>
          </c:spPr>
          <c:dLbls>
            <c:dLbl>
              <c:idx val="0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0" i="0" u="none">
                      <a:solidFill>
                        <a:srgbClr val="1B2733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0" i="0" u="none">
                      <a:solidFill>
                        <a:srgbClr val="1B2733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outEnd"/>
            <c:showLegendKey val="1"/>
            <c:showVal val="1"/>
            <c:showCatName val="1"/>
            <c:showSerName val="1"/>
            <c:showPercent val="1"/>
            <c:showBubbleSize val="1"/>
            <c:showLeaderLines val="0"/>
          </c:dLbls>
          <c:cat>
            <c:strRef>
              <c:f>'Chart Data'!$I$2:$I$3</c:f>
              <c:strCache>
                <c:ptCount val="2"/>
                <c:pt idx="0">
                  <c:v>2 sentences</c:v>
                </c:pt>
                <c:pt idx="1">
                  <c:v>4 sentences</c:v>
                </c:pt>
              </c:strCache>
            </c:strRef>
          </c:cat>
          <c:val>
            <c:numRef>
              <c:f>'Chart Data'!$J$2:$J$3</c:f>
              <c:numCache>
                <c:formatCode>0.000</c:formatCode>
                <c:ptCount val="2"/>
                <c:pt idx="0">
                  <c:v>0.562623274</c:v>
                </c:pt>
                <c:pt idx="1">
                  <c:v>0.787968442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5B6872"/>
            </a:solidFill>
            <a:prstDash val="solid"/>
          </a:ln>
        </c:spPr>
        <c:txPr>
          <a:bodyPr xmlns:a="http://schemas.openxmlformats.org/drawingml/2006/main" rot="-60000000" spcFirstLastPara="0" vert="horz" wrap="square" anchor="ctr" anchorCtr="1"/>
          <a:lstStyle xmlns:a="http://schemas.openxmlformats.org/drawingml/2006/main"/>
          <a:p xmlns:a="http://schemas.openxmlformats.org/drawingml/2006/main">
            <a:pPr>
              <a:defRPr sz="1500" b="0" i="0" u="none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5"/>
              </a:solidFill>
              <a:prstDash val="solid"/>
            </a:ln>
          </c:spPr>
        </c:majorGridlines>
        <c:numFmt formatCode="0.000" sourceLinked="1"/>
        <c:majorTickMark val="none"/>
        <c:minorTickMark val="none"/>
        <c:tickLblPos val="nextTo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350" b="0" i="0" u="none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425" b="0" i="0" u="none">
              <a:solidFill>
                <a:srgbClr val="1B273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Lexical</c:f>
              <c:strCache>
                <c:ptCount val="1"/>
                <c:pt idx="0">
                  <c:v>Lexical</c:v>
                </c:pt>
              </c:strCache>
            </c:strRef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0">
              <a:solidFill>
                <a:srgbClr val="777777"/>
              </a:solidFill>
            </a:ln>
          </c:spPr>
          <c:dLbls>
            <c:delete val="1"/>
          </c:dLbls>
          <c:cat>
            <c:strRef>
              <c:f>'Chart Data'!$A$2:$A$3</c:f>
              <c:strCache>
                <c:ptCount val="2"/>
                <c:pt idx="0">
                  <c:v>2 sentences</c:v>
                </c:pt>
                <c:pt idx="1">
                  <c:v>4 sentences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0.420118343</c:v>
                </c:pt>
                <c:pt idx="1">
                  <c:v>0.636094675</c:v>
                </c:pt>
              </c:numCache>
            </c:numRef>
          </c:val>
        </c:ser>
        <c:ser>
          <c:idx val="1"/>
          <c:order val="1"/>
          <c:tx>
            <c:strRef>
              <c:f>BM25</c:f>
              <c:strCache>
                <c:ptCount val="1"/>
                <c:pt idx="0">
                  <c:v>BM25</c:v>
                </c:pt>
              </c:strCache>
            </c:strRef>
          </c:tx>
          <c:spPr>
            <a:solidFill xmlns:a="http://schemas.openxmlformats.org/drawingml/2006/main">
              <a:srgbClr val="E69F00"/>
            </a:solidFill>
            <a:ln xmlns:a="http://schemas.openxmlformats.org/drawingml/2006/main" w="0">
              <a:solidFill>
                <a:srgbClr val="E69F00"/>
              </a:solidFill>
            </a:ln>
          </c:spPr>
          <c:dLbls>
            <c:delete val="1"/>
          </c:dLbls>
          <c:cat>
            <c:strRef>
              <c:f>'Chart Data'!$C$2:$C$3</c:f>
              <c:strCache>
                <c:ptCount val="2"/>
                <c:pt idx="0">
                  <c:v>2 sentences</c:v>
                </c:pt>
                <c:pt idx="1">
                  <c:v>4 sentences</c:v>
                </c:pt>
              </c:strCache>
            </c:strRef>
          </c:cat>
          <c:val>
            <c:numRef>
              <c:f>'Chart Data'!$D$2:$D$3</c:f>
              <c:numCache>
                <c:formatCode>0.0%</c:formatCode>
                <c:ptCount val="2"/>
                <c:pt idx="0">
                  <c:v>0.443786982</c:v>
                </c:pt>
                <c:pt idx="1">
                  <c:v>0.642011834</c:v>
                </c:pt>
              </c:numCache>
            </c:numRef>
          </c:val>
        </c:ser>
        <c:ser>
          <c:idx val="2"/>
          <c:order val="2"/>
          <c:tx>
            <c:strRef>
              <c:f>MiniLM</c:f>
              <c:strCache>
                <c:ptCount val="1"/>
                <c:pt idx="0">
                  <c:v>MiniLM</c:v>
                </c:pt>
              </c:strCache>
            </c:strRef>
          </c:tx>
          <c:spPr>
            <a:solidFill xmlns:a="http://schemas.openxmlformats.org/drawingml/2006/main">
              <a:srgbClr val="009E73"/>
            </a:solidFill>
            <a:ln xmlns:a="http://schemas.openxmlformats.org/drawingml/2006/main" w="0">
              <a:solidFill>
                <a:srgbClr val="009E73"/>
              </a:solidFill>
            </a:ln>
          </c:spPr>
          <c:dLbls>
            <c:delete val="1"/>
          </c:dLbls>
          <c:cat>
            <c:strRef>
              <c:f>'Chart Data'!$E$2:$E$3</c:f>
              <c:strCache>
                <c:ptCount val="2"/>
                <c:pt idx="0">
                  <c:v>2 sentences</c:v>
                </c:pt>
                <c:pt idx="1">
                  <c:v>4 sentences</c:v>
                </c:pt>
              </c:strCache>
            </c:strRef>
          </c:cat>
          <c:val>
            <c:numRef>
              <c:f>'Chart Data'!$F$2:$F$3</c:f>
              <c:numCache>
                <c:formatCode>0.0%</c:formatCode>
                <c:ptCount val="2"/>
                <c:pt idx="0">
                  <c:v>0.461538462</c:v>
                </c:pt>
                <c:pt idx="1">
                  <c:v>0.704142012</c:v>
                </c:pt>
              </c:numCache>
            </c:numRef>
          </c:val>
        </c:ser>
        <c:ser>
          <c:idx val="3"/>
          <c:order val="3"/>
          <c:tx>
            <c:strRef>
              <c:f>BGE</c:f>
              <c:strCache>
                <c:ptCount val="1"/>
                <c:pt idx="0">
                  <c:v>BGE</c:v>
                </c:pt>
              </c:strCache>
            </c:strRef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solidFill>
                <a:srgbClr val="0072B2"/>
              </a:solidFill>
            </a:ln>
          </c:spPr>
          <c:dLbls>
            <c:dLbl>
              <c:idx val="0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0" i="0" u="none">
                      <a:solidFill>
                        <a:srgbClr val="1B2733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0" i="0" u="none">
                      <a:solidFill>
                        <a:srgbClr val="1B2733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outEnd"/>
            <c:showLegendKey val="1"/>
            <c:showVal val="1"/>
            <c:showCatName val="1"/>
            <c:showSerName val="1"/>
            <c:showPercent val="1"/>
            <c:showBubbleSize val="1"/>
            <c:showLeaderLines val="0"/>
          </c:dLbls>
          <c:cat>
            <c:strRef>
              <c:f>'Chart Data'!$G$2:$G$3</c:f>
              <c:strCache>
                <c:ptCount val="2"/>
                <c:pt idx="0">
                  <c:v>2 sentences</c:v>
                </c:pt>
                <c:pt idx="1">
                  <c:v>4 sentences</c:v>
                </c:pt>
              </c:strCache>
            </c:strRef>
          </c:cat>
          <c:val>
            <c:numRef>
              <c:f>'Chart Data'!$H$2:$H$3</c:f>
              <c:numCache>
                <c:formatCode>0.0%</c:formatCode>
                <c:ptCount val="2"/>
                <c:pt idx="0">
                  <c:v>0.538461538</c:v>
                </c:pt>
                <c:pt idx="1">
                  <c:v>0.772189349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5B6872"/>
            </a:solidFill>
            <a:prstDash val="solid"/>
          </a:ln>
        </c:spPr>
        <c:txPr>
          <a:bodyPr xmlns:a="http://schemas.openxmlformats.org/drawingml/2006/main" rot="-60000000" spcFirstLastPara="0" vert="horz" wrap="square" anchor="ctr" anchorCtr="1"/>
          <a:lstStyle xmlns:a="http://schemas.openxmlformats.org/drawingml/2006/main"/>
          <a:p xmlns:a="http://schemas.openxmlformats.org/drawingml/2006/main">
            <a:pPr>
              <a:defRPr sz="1500" b="0" i="0" u="none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5"/>
              </a:solidFill>
              <a:prstDash val="solid"/>
            </a:ln>
          </c:spPr>
        </c:majorGridlines>
        <c:numFmt formatCode="0.0%" sourceLinked="1"/>
        <c:majorTickMark val="none"/>
        <c:minorTickMark val="none"/>
        <c:tickLblPos val="nextTo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350" b="0" i="0" u="none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425" b="0" i="0" u="none">
              <a:solidFill>
                <a:srgbClr val="1B273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8" name="Fixed-budget evidence visibili">
            <a:extLst xmlns:a="http://schemas.openxmlformats.org/drawingml/2006/main">
              <a:ext uri="{FF2B5EF4-FFF2-40B4-BE49-F238E27FC236}">
                <a16:creationId xmlns:a16="http://schemas.microsoft.com/office/drawing/2014/main" id="{B4A9CCD9-937D-412D-A3D7-182371A4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135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Fixed-budget evidence visibility audit and Evidence Watchdog</a:t>
            </a:r>
            <a:endParaRPr sz="247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Known-document selection with ">
            <a:extLst xmlns:a="http://schemas.openxmlformats.org/drawingml/2006/main">
              <a:ext uri="{FF2B5EF4-FFF2-40B4-BE49-F238E27FC236}">
                <a16:creationId xmlns:a16="http://schemas.microsoft.com/office/drawing/2014/main" id="{22100324-311F-401E-8006-D82A3F51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42950"/>
            <a:ext cx="1131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Known-document selection with separate online inspection and gold-based offline evaluation</a:t>
            </a:r>
            <a:endParaRPr sz="1425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556A0155-9D36-42C7-B65B-37A22FB6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0150"/>
            <a:ext cx="11315700" cy="9525"/>
          </a:xfrm>
          <a:custGeom xmlns:a="http://schemas.openxmlformats.org/drawingml/2006/main">
            <a:pathLst>
              <a:path w="11315700" h="9525">
                <a:moveTo>
                  <a:pt x="0" y="0"/>
                </a:moveTo>
                <a:lnTo>
                  <a:pt x="113157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B2733"/>
            </a:solidFill>
            <a:prstDash val="solid"/>
          </a:ln>
        </p:spPr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2A5902AF-6684-4B99-A5B3-191C6C84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0"/>
            <a:ext cx="3524250" cy="5306695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19050">
            <a:solidFill>
              <a:srgbClr val="3A86B8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A">
            <a:extLst xmlns:a="http://schemas.openxmlformats.org/drawingml/2006/main">
              <a:ext uri="{FF2B5EF4-FFF2-40B4-BE49-F238E27FC236}">
                <a16:creationId xmlns:a16="http://schemas.microsoft.com/office/drawing/2014/main" id="{4A8418C0-97D6-4582-BAD2-A9A51497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430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A86B8"/>
          </a:solidFill>
          <a:ln xmlns:a="http://schemas.openxmlformats.org/drawingml/2006/main" w="11906">
            <a:solidFill>
              <a:srgbClr val="3A86B8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  <a:endParaRPr sz="1725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Authentic dataset records">
            <a:extLst xmlns:a="http://schemas.openxmlformats.org/drawingml/2006/main">
              <a:ext uri="{FF2B5EF4-FFF2-40B4-BE49-F238E27FC236}">
                <a16:creationId xmlns:a16="http://schemas.microsoft.com/office/drawing/2014/main" id="{4A665768-4623-4542-B360-85375ECD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1447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Authentic dataset records</a:t>
            </a:r>
            <a:endParaRPr sz="16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E136E568-B8D4-49EE-B6A2-8CFC911E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428750"/>
            <a:ext cx="3028950" cy="5306695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AF7F4"/>
          </a:solidFill>
          <a:ln xmlns:a="http://schemas.openxmlformats.org/drawingml/2006/main" w="19050">
            <a:solidFill>
              <a:srgbClr val="2A9789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B">
            <a:extLst xmlns:a="http://schemas.openxmlformats.org/drawingml/2006/main">
              <a:ext uri="{FF2B5EF4-FFF2-40B4-BE49-F238E27FC236}">
                <a16:creationId xmlns:a16="http://schemas.microsoft.com/office/drawing/2014/main" id="{C23497EA-CA63-46DC-806F-470760FB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430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A9789"/>
          </a:solidFill>
          <a:ln xmlns:a="http://schemas.openxmlformats.org/drawingml/2006/main" w="11906">
            <a:solidFill>
              <a:srgbClr val="2A9789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  <a:endParaRPr sz="1725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Fixed-budget selection">
            <a:extLst xmlns:a="http://schemas.openxmlformats.org/drawingml/2006/main">
              <a:ext uri="{FF2B5EF4-FFF2-40B4-BE49-F238E27FC236}">
                <a16:creationId xmlns:a16="http://schemas.microsoft.com/office/drawing/2014/main" id="{E45ECDF6-5295-41FB-9031-504E8200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514475"/>
            <a:ext cx="276288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Fixed-budget selection</a:t>
            </a:r>
            <a:endParaRPr sz="16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C25288D0-4A33-4330-BB28-BD8CB181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428750"/>
            <a:ext cx="4800600" cy="5306695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2F0FB"/>
          </a:solidFill>
          <a:ln xmlns:a="http://schemas.openxmlformats.org/drawingml/2006/main" w="19050">
            <a:solidFill>
              <a:srgbClr val="6667AB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C">
            <a:extLst xmlns:a="http://schemas.openxmlformats.org/drawingml/2006/main">
              <a:ext uri="{FF2B5EF4-FFF2-40B4-BE49-F238E27FC236}">
                <a16:creationId xmlns:a16="http://schemas.microsoft.com/office/drawing/2014/main" id="{D77725DB-C437-4FA7-A161-40D4F0A5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430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6667AB"/>
          </a:solidFill>
          <a:ln xmlns:a="http://schemas.openxmlformats.org/drawingml/2006/main" w="11906">
            <a:solidFill>
              <a:srgbClr val="6667AB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  <a:endParaRPr sz="1725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Evidence Watchdog">
            <a:extLst xmlns:a="http://schemas.openxmlformats.org/drawingml/2006/main">
              <a:ext uri="{FF2B5EF4-FFF2-40B4-BE49-F238E27FC236}">
                <a16:creationId xmlns:a16="http://schemas.microsoft.com/office/drawing/2014/main" id="{B443CBBB-08DD-4F32-81C6-CA67D95A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514475"/>
            <a:ext cx="405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Evidence Watchdog</a:t>
            </a:r>
            <a:endParaRPr sz="157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2AB8A55C-2693-4BF8-8B22-9BA7D2AC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76450"/>
            <a:ext cx="3257550" cy="1981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CC7E2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4" name="QASPER v0.3   ·   paper 1709.0">
            <a:extLst xmlns:a="http://schemas.openxmlformats.org/drawingml/2006/main">
              <a:ext uri="{FF2B5EF4-FFF2-40B4-BE49-F238E27FC236}">
                <a16:creationId xmlns:a16="http://schemas.microsoft.com/office/drawing/2014/main" id="{776D5A67-A088-4C91-B517-8478D466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76450"/>
            <a:ext cx="3257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ECFA"/>
          </a:solidFill>
          <a:ln xmlns:a="http://schemas.openxmlformats.org/drawingml/2006/main" w="11906">
            <a:solidFill>
              <a:srgbClr val="D9ECFA"/>
            </a:solidFill>
          </a:ln>
        </p:spPr>
        <p:txBody>
          <a:bodyPr xmlns:a="http://schemas.openxmlformats.org/drawingml/2006/main" wrap="square" lIns="1143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40" b="1">
                <a:solidFill>
                  <a:srgbClr val="163F59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163F59"/>
                </a:solidFill>
                <a:latin typeface="Arial"/>
                <a:ea typeface="Arial"/>
                <a:cs typeface="Arial"/>
              </a:rPr>
              <a:t>QASPER v0.3   ·   paper 1709.05036   ·   full paper</a:t>
            </a:r>
            <a:endParaRPr sz="1000" b="1">
              <a:solidFill>
                <a:srgbClr val="163F5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Query-based Attention CNN for ">
            <a:extLst xmlns:a="http://schemas.openxmlformats.org/drawingml/2006/main">
              <a:ext uri="{FF2B5EF4-FFF2-40B4-BE49-F238E27FC236}">
                <a16:creationId xmlns:a16="http://schemas.microsoft.com/office/drawing/2014/main" id="{6CB840C4-397C-45E5-881F-00D9484F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9525" rIns="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4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Query-based Attention CNN for Text Similarity Map</a:t>
            </a:r>
            <a:endParaRPr sz="94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QUESTION">
            <a:extLst xmlns:a="http://schemas.openxmlformats.org/drawingml/2006/main">
              <a:ext uri="{FF2B5EF4-FFF2-40B4-BE49-F238E27FC236}">
                <a16:creationId xmlns:a16="http://schemas.microsoft.com/office/drawing/2014/main" id="{0554A476-6302-4067-860A-4E167D71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25" y="2658110"/>
            <a:ext cx="861060" cy="140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0" b="1">
                <a:solidFill>
                  <a:srgbClr val="2F6F94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F6F94"/>
                </a:solidFill>
                <a:latin typeface="Arial"/>
                <a:ea typeface="Arial"/>
                <a:cs typeface="Arial"/>
              </a:rPr>
              <a:t>QUESTION</a:t>
            </a:r>
            <a:endParaRPr sz="1000" b="1">
              <a:solidFill>
                <a:srgbClr val="2F6F9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Do they experiment with their ">
            <a:extLst xmlns:a="http://schemas.openxmlformats.org/drawingml/2006/main">
              <a:ext uri="{FF2B5EF4-FFF2-40B4-BE49-F238E27FC236}">
                <a16:creationId xmlns:a16="http://schemas.microsoft.com/office/drawing/2014/main" id="{B440B0C5-5998-4521-A780-71EB3DF4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47975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9525" rIns="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Do they experiment with their proposed model on any other dataset other than MovieQA?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OFFLINE GOLD · ¶27">
            <a:extLst xmlns:a="http://schemas.openxmlformats.org/drawingml/2006/main">
              <a:ext uri="{FF2B5EF4-FFF2-40B4-BE49-F238E27FC236}">
                <a16:creationId xmlns:a16="http://schemas.microsoft.com/office/drawing/2014/main" id="{C9EA371C-52E4-4B8E-B97B-F30AD8E5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57550"/>
            <a:ext cx="17526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11906">
            <a:solidFill>
              <a:srgbClr val="D6922D"/>
            </a:solidFill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D6922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6922D"/>
                </a:solidFill>
                <a:latin typeface="Arial"/>
                <a:ea typeface="Arial"/>
                <a:cs typeface="Arial"/>
              </a:rPr>
              <a:t>OFFLINE GOLD · ¶27</a:t>
            </a:r>
            <a:endParaRPr sz="900" b="1">
              <a:solidFill>
                <a:srgbClr val="D6922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We also applied our model to M">
            <a:extLst xmlns:a="http://schemas.openxmlformats.org/drawingml/2006/main">
              <a:ext uri="{FF2B5EF4-FFF2-40B4-BE49-F238E27FC236}">
                <a16:creationId xmlns:a16="http://schemas.microsoft.com/office/drawing/2014/main" id="{39BA1491-9761-49A7-83EB-5F007638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3028950" cy="48577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11906">
            <a:solidFill>
              <a:srgbClr val="D6922D"/>
            </a:solidFill>
          </a:ln>
        </p:spPr>
        <p:txBody>
          <a:bodyPr xmlns:a="http://schemas.openxmlformats.org/drawingml/2006/main" wrap="square" lIns="66675" tIns="28575" rIns="6667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30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We also applied our model to MCTest dataset which requires machines to answer multiple-choice reading comprehension questions about fictional stories.</a:t>
            </a:r>
            <a:endParaRPr sz="9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2E1281FB-69AA-49C0-A8F5-545D7D58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80840"/>
            <a:ext cx="3257550" cy="2019935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CC7E2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1" name="SciFact dev   ·   claim 51   ·">
            <a:extLst xmlns:a="http://schemas.openxmlformats.org/drawingml/2006/main">
              <a:ext uri="{FF2B5EF4-FFF2-40B4-BE49-F238E27FC236}">
                <a16:creationId xmlns:a16="http://schemas.microsoft.com/office/drawing/2014/main" id="{2F22C595-36BC-4CBE-8ABF-339855D4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0"/>
            <a:ext cx="3257550" cy="2857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ECFA"/>
          </a:solidFill>
          <a:ln xmlns:a="http://schemas.openxmlformats.org/drawingml/2006/main" w="11906">
            <a:solidFill>
              <a:srgbClr val="D9ECFA"/>
            </a:solidFill>
          </a:ln>
        </p:spPr>
        <p:txBody>
          <a:bodyPr xmlns:a="http://schemas.openxmlformats.org/drawingml/2006/main" wrap="square" lIns="1143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40" b="1">
                <a:solidFill>
                  <a:srgbClr val="163F59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163F59"/>
                </a:solidFill>
                <a:latin typeface="Arial"/>
                <a:ea typeface="Arial"/>
                <a:cs typeface="Arial"/>
              </a:rPr>
              <a:t>SciFact dev   ·   claim 51   ·   document 45638119</a:t>
            </a:r>
            <a:endParaRPr sz="940" b="1">
              <a:solidFill>
                <a:srgbClr val="163F5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ALDH1 is a marker of normal an">
            <a:extLst xmlns:a="http://schemas.openxmlformats.org/drawingml/2006/main">
              <a:ext uri="{FF2B5EF4-FFF2-40B4-BE49-F238E27FC236}">
                <a16:creationId xmlns:a16="http://schemas.microsoft.com/office/drawing/2014/main" id="{1AEAC964-29DC-4A9E-A1B9-5FF76802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9525" rIns="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4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ALDH1 is a marker of normal and malignant human mammary stem cells…</a:t>
            </a:r>
            <a:endParaRPr sz="10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CLAIM">
            <a:extLst xmlns:a="http://schemas.openxmlformats.org/drawingml/2006/main">
              <a:ext uri="{FF2B5EF4-FFF2-40B4-BE49-F238E27FC236}">
                <a16:creationId xmlns:a16="http://schemas.microsoft.com/office/drawing/2014/main" id="{93062E6F-B2D3-4582-80B7-95D49240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25" y="48006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0" b="1">
                <a:solidFill>
                  <a:srgbClr val="2F6F94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F6F94"/>
                </a:solidFill>
                <a:latin typeface="Arial"/>
                <a:ea typeface="Arial"/>
                <a:cs typeface="Arial"/>
              </a:rPr>
              <a:t>CLAIM</a:t>
            </a:r>
            <a:endParaRPr sz="1000" b="1">
              <a:solidFill>
                <a:srgbClr val="2F6F9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ALDH1 expression is associated">
            <a:extLst xmlns:a="http://schemas.openxmlformats.org/drawingml/2006/main">
              <a:ext uri="{FF2B5EF4-FFF2-40B4-BE49-F238E27FC236}">
                <a16:creationId xmlns:a16="http://schemas.microsoft.com/office/drawing/2014/main" id="{09D9A419-59E2-4F38-A8D3-681E406A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81575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9525" rIns="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ALDH1 expression is associated with better breast cancer outcomes.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OFFLINE GOLD · CONTRADICT · S4">
            <a:extLst xmlns:a="http://schemas.openxmlformats.org/drawingml/2006/main">
              <a:ext uri="{FF2B5EF4-FFF2-40B4-BE49-F238E27FC236}">
                <a16:creationId xmlns:a16="http://schemas.microsoft.com/office/drawing/2014/main" id="{40B22C42-1583-4C3F-AF11-80E5F63D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53050"/>
            <a:ext cx="1752600" cy="26733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11906">
            <a:solidFill>
              <a:srgbClr val="D95555"/>
            </a:solidFill>
          </a:ln>
        </p:spPr>
        <p:txBody>
          <a:bodyPr xmlns:a="http://schemas.openxmlformats.org/drawingml/2006/main" wrap="square" lIns="28575" tIns="9525" rIns="28575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D95555"/>
                </a:solidFill>
                <a:latin typeface="Arial"/>
                <a:ea typeface="Arial"/>
                <a:cs typeface="Arial"/>
              </a:defRPr>
            </a:pPr>
            <a:r>
              <a:rPr sz="790" b="1">
                <a:solidFill>
                  <a:srgbClr val="D95555"/>
                </a:solidFill>
                <a:latin typeface="Arial"/>
                <a:ea typeface="Arial"/>
                <a:cs typeface="Arial"/>
              </a:rPr>
              <a:t>OFFLINE GOLD · CONTRADICT · S4</a:t>
            </a:r>
            <a:endParaRPr sz="790" b="1">
              <a:solidFill>
                <a:srgbClr val="D9555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In a series of 577 breast carc">
            <a:extLst xmlns:a="http://schemas.openxmlformats.org/drawingml/2006/main">
              <a:ext uri="{FF2B5EF4-FFF2-40B4-BE49-F238E27FC236}">
                <a16:creationId xmlns:a16="http://schemas.microsoft.com/office/drawing/2014/main" id="{257DF7DD-E793-4560-8C7C-FEE436C5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4355"/>
            <a:ext cx="3028950" cy="50863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11906">
            <a:solidFill>
              <a:srgbClr val="D95555"/>
            </a:solidFill>
          </a:ln>
        </p:spPr>
        <p:txBody>
          <a:bodyPr xmlns:a="http://schemas.openxmlformats.org/drawingml/2006/main" wrap="square" lIns="66675" tIns="28575" rIns="6667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30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In a series of 577 breast carcinomas, expression of ALDH1 detected by immunostaining correlated with poor prognosis.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3494A30C-E178-4004-A14E-9C707AB4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58560"/>
            <a:ext cx="32575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11906">
            <a:solidFill>
              <a:srgbClr val="9CC7E2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8" name="Ordered source units">
            <a:extLst xmlns:a="http://schemas.openxmlformats.org/drawingml/2006/main">
              <a:ext uri="{FF2B5EF4-FFF2-40B4-BE49-F238E27FC236}">
                <a16:creationId xmlns:a16="http://schemas.microsoft.com/office/drawing/2014/main" id="{482EBD16-EBCC-4046-BB2B-7A28F38D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48400"/>
            <a:ext cx="3048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5" b="1">
                <a:solidFill>
                  <a:srgbClr val="205B7C"/>
                </a:solidFill>
                <a:latin typeface="Arial"/>
                <a:ea typeface="Arial"/>
                <a:cs typeface="Arial"/>
              </a:defRPr>
            </a:pPr>
            <a:r>
              <a:rPr sz="865" b="1">
                <a:solidFill>
                  <a:srgbClr val="205B7C"/>
                </a:solidFill>
                <a:latin typeface="Arial"/>
                <a:ea typeface="Arial"/>
                <a:cs typeface="Arial"/>
              </a:rPr>
              <a:t>Ordered source units</a:t>
            </a:r>
            <a:endParaRPr sz="865" b="1">
              <a:solidFill>
                <a:srgbClr val="205B7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QASPER body paragraphs   ·   S">
            <a:extLst xmlns:a="http://schemas.openxmlformats.org/drawingml/2006/main">
              <a:ext uri="{FF2B5EF4-FFF2-40B4-BE49-F238E27FC236}">
                <a16:creationId xmlns:a16="http://schemas.microsoft.com/office/drawing/2014/main" id="{3E63C21B-2F0E-49DD-B5AA-80335C5C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0325"/>
            <a:ext cx="325818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6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QASPER body paragraphs   ·   SciFact abstract sentences</a:t>
            </a:r>
            <a:endParaRPr sz="90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B5EC18F3-39E4-4DA8-AB57-ED92204C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00375"/>
            <a:ext cx="133350" cy="9525"/>
          </a:xfrm>
          <a:custGeom xmlns:a="http://schemas.openxmlformats.org/drawingml/2006/main">
            <a:pathLst>
              <a:path w="133350" h="9525">
                <a:moveTo>
                  <a:pt x="0" y="0"/>
                </a:moveTo>
                <a:lnTo>
                  <a:pt x="13335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7A90"/>
            </a:solidFill>
            <a:prstDash val="solid"/>
          </a:ln>
        </p:spPr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0FBA8BB7-F910-442E-9005-10E70061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895850"/>
            <a:ext cx="133350" cy="9525"/>
          </a:xfrm>
          <a:custGeom xmlns:a="http://schemas.openxmlformats.org/drawingml/2006/main">
            <a:pathLst>
              <a:path w="133350" h="9525">
                <a:moveTo>
                  <a:pt x="0" y="0"/>
                </a:moveTo>
                <a:lnTo>
                  <a:pt x="13335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7A90"/>
            </a:solidFill>
            <a:prstDash val="solid"/>
          </a:ln>
        </p:spPr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BDCA6E47-C4C3-4C3F-B7B8-7A62033E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00375"/>
            <a:ext cx="9525" cy="3086100"/>
          </a:xfrm>
          <a:custGeom xmlns:a="http://schemas.openxmlformats.org/drawingml/2006/main">
            <a:pathLst>
              <a:path w="9525" h="3086100">
                <a:moveTo>
                  <a:pt x="0" y="0"/>
                </a:moveTo>
                <a:lnTo>
                  <a:pt x="9525" y="30861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7A90"/>
            </a:solidFill>
            <a:prstDash val="solid"/>
          </a:ln>
        </p:spPr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FD1AE515-4781-4D9A-83E0-A0C04349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086475"/>
            <a:ext cx="133350" cy="9525"/>
          </a:xfrm>
          <a:custGeom xmlns:a="http://schemas.openxmlformats.org/drawingml/2006/main">
            <a:pathLst>
              <a:path w="133350" h="9525">
                <a:moveTo>
                  <a:pt x="0" y="0"/>
                </a:moveTo>
                <a:lnTo>
                  <a:pt x="13335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57A90"/>
            </a:solidFill>
            <a:prstDash val="solid"/>
          </a:ln>
        </p:spPr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BD1E348F-030F-4D4D-9806-6FF6C001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76450"/>
            <a:ext cx="2762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CFB"/>
          </a:solidFill>
          <a:ln xmlns:a="http://schemas.openxmlformats.org/drawingml/2006/main" w="11906">
            <a:solidFill>
              <a:srgbClr val="8BCFC4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56" name="图片 18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d42d02a2a4241">
            <a:extLst>
              <a:ext uri="{96DAC541-7B7A-43D3-8B79-37D633B846F1}">
                <asvg:svgBlip xmlns:asvg="http://schemas.microsoft.com/office/drawing/2016/SVG/main" r:embed="Rbba66d29e5074c1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223837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6" name="Shared selector inputs">
            <a:extLst xmlns:a="http://schemas.openxmlformats.org/drawingml/2006/main">
              <a:ext uri="{FF2B5EF4-FFF2-40B4-BE49-F238E27FC236}">
                <a16:creationId xmlns:a16="http://schemas.microsoft.com/office/drawing/2014/main" id="{5B33FC08-DA3A-4B8C-A52E-B84CFB7C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14550"/>
            <a:ext cx="2171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Shared selector inputs</a:t>
            </a:r>
            <a:endParaRPr sz="12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question/claim + ordered sourc">
            <a:extLst xmlns:a="http://schemas.openxmlformats.org/drawingml/2006/main">
              <a:ext uri="{FF2B5EF4-FFF2-40B4-BE49-F238E27FC236}">
                <a16:creationId xmlns:a16="http://schemas.microsoft.com/office/drawing/2014/main" id="{7F9B4441-D795-4AB5-99DF-A7E182F0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22885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question/claim + ordered source units</a:t>
            </a:r>
            <a:endParaRPr sz="100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2EAD5BBA-AE76-4EDD-86D7-EB369BCD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907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cxnSp>
        <p:nvCxnSpPr>
          <p:cNvPr id="360" name="直接箭头连接符 185"/>
          <p:cNvCxnSpPr>
            <a:stCxn xmlns:a="http://schemas.openxmlformats.org/drawingml/2006/main" id="38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3886200" y="24003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86C7D"/>
            </a:solidFill>
            <a:prstDash val="solid"/>
            <a:tailEnd type="triangle" w="sm" len="sm"/>
          </a:ln>
        </p:spPr>
      </p:cxnSp>
      <p:sp>
        <p:nvSpPr>
          <p:cNvPr id="40" name="REFERENCE BASELINES">
            <a:extLst xmlns:a="http://schemas.openxmlformats.org/drawingml/2006/main">
              <a:ext uri="{FF2B5EF4-FFF2-40B4-BE49-F238E27FC236}">
                <a16:creationId xmlns:a16="http://schemas.microsoft.com/office/drawing/2014/main" id="{4A5DF068-CD56-478D-9926-AE766B22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479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0" b="1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B6872"/>
                </a:solidFill>
                <a:latin typeface="Arial"/>
                <a:ea typeface="Arial"/>
                <a:cs typeface="Arial"/>
              </a:rPr>
              <a:t>REFERENCE BASELINES</a:t>
            </a:r>
            <a:endParaRPr sz="1000" b="1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18A0285C-B436-4F46-8E57-4DA9FA05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71825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8BCFC4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4082BA19-A231-4705-B64F-D98FEC0F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5" y="3152775"/>
            <a:ext cx="57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7777"/>
          </a:solidFill>
          <a:ln xmlns:a="http://schemas.openxmlformats.org/drawingml/2006/main" w="11906">
            <a:solidFill>
              <a:srgbClr val="77777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64" name="图片 18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f7cfd15c14c78">
            <a:extLst>
              <a:ext uri="{96DAC541-7B7A-43D3-8B79-37D633B846F1}">
                <asvg:svgBlip xmlns:asvg="http://schemas.microsoft.com/office/drawing/2016/SVG/main" r:embed="R5e2de42bafa9496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324802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44" name="Lead-k">
            <a:extLst xmlns:a="http://schemas.openxmlformats.org/drawingml/2006/main">
              <a:ext uri="{FF2B5EF4-FFF2-40B4-BE49-F238E27FC236}">
                <a16:creationId xmlns:a16="http://schemas.microsoft.com/office/drawing/2014/main" id="{BEEACCC5-B8A1-4BF7-9685-14597686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920" y="3162300"/>
            <a:ext cx="116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Lead-k</a:t>
            </a:r>
            <a:endParaRPr sz="9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156202D8-D57E-4A78-84E3-EE06404C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57600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8BCFC4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E63CEAFF-48FC-43FF-82BE-5A0EF0E9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29025"/>
            <a:ext cx="57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7777"/>
          </a:solidFill>
          <a:ln xmlns:a="http://schemas.openxmlformats.org/drawingml/2006/main" w="11906">
            <a:solidFill>
              <a:srgbClr val="777777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68" name="图片 19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103f17d234500">
            <a:extLst>
              <a:ext uri="{96DAC541-7B7A-43D3-8B79-37D633B846F1}">
                <asvg:svgBlip xmlns:asvg="http://schemas.microsoft.com/office/drawing/2016/SVG/main" r:embed="Ra4eb9b6385bd432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3733800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48" name="Lexical overlap">
            <a:extLst xmlns:a="http://schemas.openxmlformats.org/drawingml/2006/main">
              <a:ext uri="{FF2B5EF4-FFF2-40B4-BE49-F238E27FC236}">
                <a16:creationId xmlns:a16="http://schemas.microsoft.com/office/drawing/2014/main" id="{1DAEBACD-75D7-44A1-973E-EF2EA24A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920" y="3695700"/>
            <a:ext cx="116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Lexical overlap</a:t>
            </a:r>
            <a:endParaRPr sz="9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5EE1DC2C-3849-4DE3-9A36-B7BA5110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143375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8BCFC4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0" name="圆角矩形 49">
            <a:extLst xmlns:a="http://schemas.openxmlformats.org/drawingml/2006/main">
              <a:ext uri="{FF2B5EF4-FFF2-40B4-BE49-F238E27FC236}">
                <a16:creationId xmlns:a16="http://schemas.microsoft.com/office/drawing/2014/main" id="{78C22DF3-A142-4A37-ABF6-5E677CEF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124325"/>
            <a:ext cx="57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9F00"/>
          </a:solidFill>
          <a:ln xmlns:a="http://schemas.openxmlformats.org/drawingml/2006/main" w="11906">
            <a:solidFill>
              <a:srgbClr val="E69F00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72" name="图片 19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b394d7ef341ca">
            <a:extLst>
              <a:ext uri="{96DAC541-7B7A-43D3-8B79-37D633B846F1}">
                <asvg:svgBlip xmlns:asvg="http://schemas.microsoft.com/office/drawing/2016/SVG/main" r:embed="R1322374e039742a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4191000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52" name="Document-local BM25">
            <a:extLst xmlns:a="http://schemas.openxmlformats.org/drawingml/2006/main">
              <a:ext uri="{FF2B5EF4-FFF2-40B4-BE49-F238E27FC236}">
                <a16:creationId xmlns:a16="http://schemas.microsoft.com/office/drawing/2014/main" id="{E18897FF-DE85-430C-8979-49D6F558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920" y="4152900"/>
            <a:ext cx="116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Document-local BM25</a:t>
            </a:r>
            <a:endParaRPr sz="9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圆角矩形 52">
            <a:extLst xmlns:a="http://schemas.openxmlformats.org/drawingml/2006/main">
              <a:ext uri="{FF2B5EF4-FFF2-40B4-BE49-F238E27FC236}">
                <a16:creationId xmlns:a16="http://schemas.microsoft.com/office/drawing/2014/main" id="{D7DA4330-9147-459D-BBA6-56614B34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905375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8BCFC4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41C6A76D-4668-4685-899B-88E9C480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890135"/>
            <a:ext cx="57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E73"/>
          </a:solidFill>
          <a:ln xmlns:a="http://schemas.openxmlformats.org/drawingml/2006/main" w="11906">
            <a:solidFill>
              <a:srgbClr val="009E73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76" name="图片 2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b14f7e5124af7">
            <a:extLst>
              <a:ext uri="{96DAC541-7B7A-43D3-8B79-37D633B846F1}">
                <asvg:svgBlip xmlns:asvg="http://schemas.microsoft.com/office/drawing/2016/SVG/main" r:embed="R277e0dc1804d4c3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4961890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56" name="MiniLM bi-encoder">
            <a:extLst xmlns:a="http://schemas.openxmlformats.org/drawingml/2006/main">
              <a:ext uri="{FF2B5EF4-FFF2-40B4-BE49-F238E27FC236}">
                <a16:creationId xmlns:a16="http://schemas.microsoft.com/office/drawing/2014/main" id="{C963CD78-72C3-40F4-88A8-A0AE2928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920" y="4905375"/>
            <a:ext cx="116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MiniLM bi-encoder</a:t>
            </a:r>
            <a:endParaRPr sz="9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7398F5D0-5573-4B9C-B236-B5E7E003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534025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8BCFC4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8" name="圆角矩形 57">
            <a:extLst xmlns:a="http://schemas.openxmlformats.org/drawingml/2006/main">
              <a:ext uri="{FF2B5EF4-FFF2-40B4-BE49-F238E27FC236}">
                <a16:creationId xmlns:a16="http://schemas.microsoft.com/office/drawing/2014/main" id="{F318A286-4A2A-4089-BF58-1A5CAF74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5" y="5524500"/>
            <a:ext cx="57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2B2"/>
          </a:solidFill>
          <a:ln xmlns:a="http://schemas.openxmlformats.org/drawingml/2006/main" w="11906">
            <a:solidFill>
              <a:srgbClr val="0072B2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80" name="图片 20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d95d0cca747a1">
            <a:extLst>
              <a:ext uri="{96DAC541-7B7A-43D3-8B79-37D633B846F1}">
                <asvg:svgBlip xmlns:asvg="http://schemas.microsoft.com/office/drawing/2016/SVG/main" r:embed="Re8a303014f63492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561022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60" name="BGE cross-encoder">
            <a:extLst xmlns:a="http://schemas.openxmlformats.org/drawingml/2006/main">
              <a:ext uri="{FF2B5EF4-FFF2-40B4-BE49-F238E27FC236}">
                <a16:creationId xmlns:a16="http://schemas.microsoft.com/office/drawing/2014/main" id="{21320217-8661-4982-81FB-539397E0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524500"/>
            <a:ext cx="116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BGE cross-encoder</a:t>
            </a:r>
            <a:endParaRPr sz="9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NEURAL SELECTORS">
            <a:extLst xmlns:a="http://schemas.openxmlformats.org/drawingml/2006/main">
              <a:ext uri="{FF2B5EF4-FFF2-40B4-BE49-F238E27FC236}">
                <a16:creationId xmlns:a16="http://schemas.microsoft.com/office/drawing/2014/main" id="{3DA6CF24-FA80-4916-8F98-E3CE5CF9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5" y="45910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0" b="1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790" b="1">
                <a:solidFill>
                  <a:srgbClr val="5B6872"/>
                </a:solidFill>
                <a:latin typeface="Arial"/>
                <a:ea typeface="Arial"/>
                <a:cs typeface="Arial"/>
              </a:rPr>
              <a:t>NEURAL SELECTORS</a:t>
            </a:r>
            <a:endParaRPr sz="790" b="1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圆角矩形 61">
            <a:extLst xmlns:a="http://schemas.openxmlformats.org/drawingml/2006/main">
              <a:ext uri="{FF2B5EF4-FFF2-40B4-BE49-F238E27FC236}">
                <a16:creationId xmlns:a16="http://schemas.microsoft.com/office/drawing/2014/main" id="{AE25F658-C2F3-4D8D-91F5-2DB0F47E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67050"/>
            <a:ext cx="1047750" cy="27711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FCFB"/>
          </a:solidFill>
          <a:ln xmlns:a="http://schemas.openxmlformats.org/drawingml/2006/main" w="11906">
            <a:solidFill>
              <a:srgbClr val="6EBBAD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384" name="图片 2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c7807767a49c8">
            <a:extLst>
              <a:ext uri="{96DAC541-7B7A-43D3-8B79-37D633B846F1}">
                <asvg:svgBlip xmlns:asvg="http://schemas.microsoft.com/office/drawing/2016/SVG/main" r:embed="R134afb51f3ea46d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05525" y="3209925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64" name="Score and&#10;rank units">
            <a:extLst xmlns:a="http://schemas.openxmlformats.org/drawingml/2006/main">
              <a:ext uri="{FF2B5EF4-FFF2-40B4-BE49-F238E27FC236}">
                <a16:creationId xmlns:a16="http://schemas.microsoft.com/office/drawing/2014/main" id="{C231C166-3248-4A92-B778-E6C97F95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76650"/>
            <a:ext cx="933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Score and</a:t>
            </a:r>
            <a:endParaRPr sz="105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105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rank units</a:t>
            </a:r>
            <a:endParaRPr sz="105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Top-k view">
            <a:extLst xmlns:a="http://schemas.openxmlformats.org/drawingml/2006/main">
              <a:ext uri="{FF2B5EF4-FFF2-40B4-BE49-F238E27FC236}">
                <a16:creationId xmlns:a16="http://schemas.microsoft.com/office/drawing/2014/main" id="{BA5CCDC9-DAFB-4E8A-9D6C-68F3C7E8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10075"/>
            <a:ext cx="8382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9F0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6C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C64"/>
                </a:solidFill>
                <a:latin typeface="Arial"/>
                <a:ea typeface="Arial"/>
                <a:cs typeface="Arial"/>
              </a:rPr>
              <a:t>Top-k view</a:t>
            </a:r>
            <a:endParaRPr sz="975" b="1">
              <a:solidFill>
                <a:srgbClr val="176C6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k = 2 or 4">
            <a:extLst xmlns:a="http://schemas.openxmlformats.org/drawingml/2006/main">
              <a:ext uri="{FF2B5EF4-FFF2-40B4-BE49-F238E27FC236}">
                <a16:creationId xmlns:a16="http://schemas.microsoft.com/office/drawing/2014/main" id="{3DA8FC2E-8F62-4FB9-8495-7A024F99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72025"/>
            <a:ext cx="8382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AF7F4"/>
          </a:solidFill>
          <a:ln xmlns:a="http://schemas.openxmlformats.org/drawingml/2006/main" w="11906">
            <a:solidFill>
              <a:srgbClr val="8BCFC4"/>
            </a:solidFill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6C6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C64"/>
                </a:solidFill>
                <a:latin typeface="Arial"/>
                <a:ea typeface="Arial"/>
                <a:cs typeface="Arial"/>
              </a:rPr>
              <a:t>k = 2 or 4</a:t>
            </a:r>
            <a:endParaRPr sz="975" b="1">
              <a:solidFill>
                <a:srgbClr val="176C6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#1, #2, …, #k">
            <a:extLst xmlns:a="http://schemas.openxmlformats.org/drawingml/2006/main">
              <a:ext uri="{FF2B5EF4-FFF2-40B4-BE49-F238E27FC236}">
                <a16:creationId xmlns:a16="http://schemas.microsoft.com/office/drawing/2014/main" id="{45FC9FA4-51B2-4ACF-A9E4-DB0EBA36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2445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CEFFC"/>
          </a:solidFill>
          <a:ln xmlns:a="http://schemas.openxmlformats.org/drawingml/2006/main" w="11906">
            <a:solidFill>
              <a:srgbClr val="AAC7DB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79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#1, #2, …, #k</a:t>
            </a:r>
            <a:endParaRPr sz="79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selected units">
            <a:extLst xmlns:a="http://schemas.openxmlformats.org/drawingml/2006/main">
              <a:ext uri="{FF2B5EF4-FFF2-40B4-BE49-F238E27FC236}">
                <a16:creationId xmlns:a16="http://schemas.microsoft.com/office/drawing/2014/main" id="{49581530-25AA-48F4-A6BB-EACA784B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48640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E5C7"/>
          </a:solidFill>
          <a:ln xmlns:a="http://schemas.openxmlformats.org/drawingml/2006/main" w="11906">
            <a:solidFill>
              <a:srgbClr val="E7B46E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selected units</a:t>
            </a:r>
            <a:endParaRPr sz="82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D1F358AE-3710-460E-ABBF-F08E9005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2862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0" name="任意多边形 69">
            <a:extLst xmlns:a="http://schemas.openxmlformats.org/drawingml/2006/main">
              <a:ext uri="{FF2B5EF4-FFF2-40B4-BE49-F238E27FC236}">
                <a16:creationId xmlns:a16="http://schemas.microsoft.com/office/drawing/2014/main" id="{CE6F30E1-5D07-47E3-A99F-D3AF226B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67075"/>
            <a:ext cx="38100" cy="9525"/>
          </a:xfrm>
          <a:custGeom xmlns:a="http://schemas.openxmlformats.org/drawingml/2006/main">
            <a:pathLst>
              <a:path w="38100" h="9525">
                <a:moveTo>
                  <a:pt x="0" y="0"/>
                </a:moveTo>
                <a:lnTo>
                  <a:pt x="381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4D817B"/>
            </a:solidFill>
            <a:prstDash val="solid"/>
          </a:ln>
        </p:spPr>
      </p:sp>
      <p:sp>
        <p:nvSpPr>
          <p:cNvPr id="71" name="任意多边形 70">
            <a:extLst xmlns:a="http://schemas.openxmlformats.org/drawingml/2006/main">
              <a:ext uri="{FF2B5EF4-FFF2-40B4-BE49-F238E27FC236}">
                <a16:creationId xmlns:a16="http://schemas.microsoft.com/office/drawing/2014/main" id="{CEDA0C05-032D-4205-A11D-CC205D46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24275"/>
            <a:ext cx="38100" cy="9525"/>
          </a:xfrm>
          <a:custGeom xmlns:a="http://schemas.openxmlformats.org/drawingml/2006/main">
            <a:pathLst>
              <a:path w="38100" h="9525">
                <a:moveTo>
                  <a:pt x="0" y="0"/>
                </a:moveTo>
                <a:lnTo>
                  <a:pt x="381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4D817B"/>
            </a:solidFill>
            <a:prstDash val="solid"/>
          </a:ln>
        </p:spPr>
      </p:sp>
      <p:sp>
        <p:nvSpPr>
          <p:cNvPr id="72" name="任意多边形 71">
            <a:extLst xmlns:a="http://schemas.openxmlformats.org/drawingml/2006/main">
              <a:ext uri="{FF2B5EF4-FFF2-40B4-BE49-F238E27FC236}">
                <a16:creationId xmlns:a16="http://schemas.microsoft.com/office/drawing/2014/main" id="{C263755F-2930-4FB0-9072-3529CC3E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81475"/>
            <a:ext cx="38100" cy="9525"/>
          </a:xfrm>
          <a:custGeom xmlns:a="http://schemas.openxmlformats.org/drawingml/2006/main">
            <a:pathLst>
              <a:path w="38100" h="9525">
                <a:moveTo>
                  <a:pt x="0" y="0"/>
                </a:moveTo>
                <a:lnTo>
                  <a:pt x="381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4D817B"/>
            </a:solidFill>
            <a:prstDash val="solid"/>
          </a:ln>
        </p:spPr>
      </p:sp>
      <p:sp>
        <p:nvSpPr>
          <p:cNvPr id="73" name="任意多边形 72">
            <a:extLst xmlns:a="http://schemas.openxmlformats.org/drawingml/2006/main">
              <a:ext uri="{FF2B5EF4-FFF2-40B4-BE49-F238E27FC236}">
                <a16:creationId xmlns:a16="http://schemas.microsoft.com/office/drawing/2014/main" id="{5F88A36A-AA2E-4BA2-841B-46932C07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895850"/>
            <a:ext cx="38100" cy="9525"/>
          </a:xfrm>
          <a:custGeom xmlns:a="http://schemas.openxmlformats.org/drawingml/2006/main">
            <a:pathLst>
              <a:path w="38100" h="9525">
                <a:moveTo>
                  <a:pt x="0" y="0"/>
                </a:moveTo>
                <a:lnTo>
                  <a:pt x="381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4D817B"/>
            </a:solidFill>
            <a:prstDash val="solid"/>
          </a:ln>
        </p:spPr>
      </p:sp>
      <p:sp>
        <p:nvSpPr>
          <p:cNvPr id="74" name="任意多边形 73">
            <a:extLst xmlns:a="http://schemas.openxmlformats.org/drawingml/2006/main">
              <a:ext uri="{FF2B5EF4-FFF2-40B4-BE49-F238E27FC236}">
                <a16:creationId xmlns:a16="http://schemas.microsoft.com/office/drawing/2014/main" id="{4DAB1765-2DC1-4A1B-9B81-37E65054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353050"/>
            <a:ext cx="38100" cy="9525"/>
          </a:xfrm>
          <a:custGeom xmlns:a="http://schemas.openxmlformats.org/drawingml/2006/main">
            <a:pathLst>
              <a:path w="38100" h="9525">
                <a:moveTo>
                  <a:pt x="0" y="0"/>
                </a:moveTo>
                <a:lnTo>
                  <a:pt x="381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4D817B"/>
            </a:solidFill>
            <a:prstDash val="solid"/>
          </a:ln>
        </p:spPr>
      </p:sp>
      <p:sp>
        <p:nvSpPr>
          <p:cNvPr id="75" name="任意多边形 74">
            <a:extLst xmlns:a="http://schemas.openxmlformats.org/drawingml/2006/main">
              <a:ext uri="{FF2B5EF4-FFF2-40B4-BE49-F238E27FC236}">
                <a16:creationId xmlns:a16="http://schemas.microsoft.com/office/drawing/2014/main" id="{C9CB1ABB-6480-41A7-B2C1-E4EFCB0B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67075"/>
            <a:ext cx="9525" cy="2085975"/>
          </a:xfrm>
          <a:custGeom xmlns:a="http://schemas.openxmlformats.org/drawingml/2006/main">
            <a:pathLst>
              <a:path w="9525" h="2085975">
                <a:moveTo>
                  <a:pt x="0" y="0"/>
                </a:moveTo>
                <a:lnTo>
                  <a:pt x="9525" y="208597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4D817B"/>
            </a:solidFill>
            <a:prstDash val="solid"/>
          </a:ln>
        </p:spPr>
      </p:sp>
      <p:sp>
        <p:nvSpPr>
          <p:cNvPr id="77" name="Same source units and output b">
            <a:extLst xmlns:a="http://schemas.openxmlformats.org/drawingml/2006/main">
              <a:ext uri="{FF2B5EF4-FFF2-40B4-BE49-F238E27FC236}">
                <a16:creationId xmlns:a16="http://schemas.microsoft.com/office/drawing/2014/main" id="{6A061DD4-539F-4102-BD34-3686419C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5" y="6143625"/>
            <a:ext cx="276225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8BCFC4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40" b="1">
                <a:solidFill>
                  <a:srgbClr val="176C64"/>
                </a:solidFill>
                <a:latin typeface="Arial"/>
                <a:ea typeface="Arial"/>
                <a:cs typeface="Arial"/>
              </a:defRPr>
            </a:pPr>
            <a:r>
              <a:rPr sz="940" b="1">
                <a:solidFill>
                  <a:srgbClr val="176C64"/>
                </a:solidFill>
                <a:latin typeface="Arial"/>
                <a:ea typeface="Arial"/>
                <a:cs typeface="Arial"/>
              </a:rPr>
              <a:t>Same source units and output budget</a:t>
            </a:r>
            <a:endParaRPr sz="940" b="1">
              <a:solidFill>
                <a:srgbClr val="176C6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圆角矩形 77">
            <a:extLst xmlns:a="http://schemas.openxmlformats.org/drawingml/2006/main">
              <a:ext uri="{FF2B5EF4-FFF2-40B4-BE49-F238E27FC236}">
                <a16:creationId xmlns:a16="http://schemas.microsoft.com/office/drawing/2014/main" id="{892AE9FA-4BC1-4293-BFB8-584DCDF9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76450"/>
            <a:ext cx="33909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EF4FC"/>
          </a:solidFill>
          <a:ln xmlns:a="http://schemas.openxmlformats.org/drawingml/2006/main" w="11906">
            <a:solidFill>
              <a:srgbClr val="9EA6D2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9" name="C1">
            <a:extLst xmlns:a="http://schemas.openxmlformats.org/drawingml/2006/main">
              <a:ext uri="{FF2B5EF4-FFF2-40B4-BE49-F238E27FC236}">
                <a16:creationId xmlns:a16="http://schemas.microsoft.com/office/drawing/2014/main" id="{C407FC8A-A4FD-4745-9042-CD820437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171700"/>
            <a:ext cx="400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6667A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C1</a:t>
            </a:r>
            <a:endParaRPr sz="12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Online source inspection">
            <a:extLst xmlns:a="http://schemas.openxmlformats.org/drawingml/2006/main">
              <a:ext uri="{FF2B5EF4-FFF2-40B4-BE49-F238E27FC236}">
                <a16:creationId xmlns:a16="http://schemas.microsoft.com/office/drawing/2014/main" id="{F949B786-5755-4211-BE15-E8DA4533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43125"/>
            <a:ext cx="2647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Online source inspection</a:t>
            </a:r>
            <a:endParaRPr sz="12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圆角矩形 80">
            <a:extLst xmlns:a="http://schemas.openxmlformats.org/drawingml/2006/main">
              <a:ext uri="{FF2B5EF4-FFF2-40B4-BE49-F238E27FC236}">
                <a16:creationId xmlns:a16="http://schemas.microsoft.com/office/drawing/2014/main" id="{E3E905D8-997D-412B-9B25-049AFD1C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62225"/>
            <a:ext cx="685800" cy="990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8BFDF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402" name="图片 2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0afb60ffe4224">
            <a:extLst>
              <a:ext uri="{96DAC541-7B7A-43D3-8B79-37D633B846F1}">
                <asvg:svgBlip xmlns:asvg="http://schemas.microsoft.com/office/drawing/2016/SVG/main" r:embed="Rd579c376c45f4c7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34275" y="26955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3" name="Selected&#10;unit">
            <a:extLst xmlns:a="http://schemas.openxmlformats.org/drawingml/2006/main">
              <a:ext uri="{FF2B5EF4-FFF2-40B4-BE49-F238E27FC236}">
                <a16:creationId xmlns:a16="http://schemas.microsoft.com/office/drawing/2014/main" id="{08B981D5-F814-42D4-B914-C2C599C1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76575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6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Selected</a:t>
            </a:r>
            <a:endParaRPr sz="86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86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6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unit</a:t>
            </a:r>
            <a:endParaRPr sz="86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圆角矩形 83">
            <a:extLst xmlns:a="http://schemas.openxmlformats.org/drawingml/2006/main">
              <a:ext uri="{FF2B5EF4-FFF2-40B4-BE49-F238E27FC236}">
                <a16:creationId xmlns:a16="http://schemas.microsoft.com/office/drawing/2014/main" id="{0D04C229-09ED-4A2F-8AE8-E3A04291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05075"/>
            <a:ext cx="838200" cy="11049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8792C6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5" name="¶27">
            <a:extLst xmlns:a="http://schemas.openxmlformats.org/drawingml/2006/main">
              <a:ext uri="{FF2B5EF4-FFF2-40B4-BE49-F238E27FC236}">
                <a16:creationId xmlns:a16="http://schemas.microsoft.com/office/drawing/2014/main" id="{0AA1698C-7A92-4B56-94D3-C63FB228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638425"/>
            <a:ext cx="6286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1906">
            <a:solidFill>
              <a:srgbClr val="B8BFDF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667A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67AB"/>
                </a:solidFill>
                <a:latin typeface="Arial"/>
                <a:ea typeface="Arial"/>
                <a:cs typeface="Arial"/>
              </a:rPr>
              <a:t>¶27</a:t>
            </a:r>
            <a:endParaRPr sz="900" b="1">
              <a:solidFill>
                <a:srgbClr val="6667A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Original text&#10;in context">
            <a:extLst xmlns:a="http://schemas.openxmlformats.org/drawingml/2006/main">
              <a:ext uri="{FF2B5EF4-FFF2-40B4-BE49-F238E27FC236}">
                <a16:creationId xmlns:a16="http://schemas.microsoft.com/office/drawing/2014/main" id="{03570612-64B8-4C54-A4C2-75FC934B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00375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Original text</a:t>
            </a:r>
            <a:endParaRPr sz="9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90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in context</a:t>
            </a:r>
            <a:endParaRPr sz="9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圆角矩形 86">
            <a:extLst xmlns:a="http://schemas.openxmlformats.org/drawingml/2006/main">
              <a:ext uri="{FF2B5EF4-FFF2-40B4-BE49-F238E27FC236}">
                <a16:creationId xmlns:a16="http://schemas.microsoft.com/office/drawing/2014/main" id="{95C8A60D-710C-42AF-B04E-BBA56D51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05075"/>
            <a:ext cx="14097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8BFDF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408" name="图片 2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7b3f78dbb347eb">
            <a:extLst>
              <a:ext uri="{96DAC541-7B7A-43D3-8B79-37D633B846F1}">
                <asvg:svgBlip xmlns:asvg="http://schemas.microsoft.com/office/drawing/2016/SVG/main" r:embed="R294350b953fd465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2100" y="2562225"/>
            <a:ext cx="161925" cy="161925"/>
          </a:xfrm>
          <a:prstGeom xmlns:a="http://schemas.openxmlformats.org/drawingml/2006/main" prst="rect">
            <a:avLst/>
          </a:prstGeom>
        </p:spPr>
      </p:pic>
      <p:sp>
        <p:nvSpPr>
          <p:cNvPr id="89" name="Source position">
            <a:extLst xmlns:a="http://schemas.openxmlformats.org/drawingml/2006/main">
              <a:ext uri="{FF2B5EF4-FFF2-40B4-BE49-F238E27FC236}">
                <a16:creationId xmlns:a16="http://schemas.microsoft.com/office/drawing/2014/main" id="{C10AD80D-B452-4649-B5BA-CC2CFFD7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52700"/>
            <a:ext cx="1028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Source position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10" name="图片 2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c005e95084d1e">
            <a:extLst>
              <a:ext uri="{96DAC541-7B7A-43D3-8B79-37D633B846F1}">
                <asvg:svgBlip xmlns:asvg="http://schemas.microsoft.com/office/drawing/2016/SVG/main" r:embed="R559c951f05a7444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2100" y="2762250"/>
            <a:ext cx="161925" cy="161925"/>
          </a:xfrm>
          <a:prstGeom xmlns:a="http://schemas.openxmlformats.org/drawingml/2006/main" prst="rect">
            <a:avLst/>
          </a:prstGeom>
        </p:spPr>
      </p:pic>
      <p:sp>
        <p:nvSpPr>
          <p:cNvPr id="91" name="Relevance score">
            <a:extLst xmlns:a="http://schemas.openxmlformats.org/drawingml/2006/main">
              <a:ext uri="{FF2B5EF4-FFF2-40B4-BE49-F238E27FC236}">
                <a16:creationId xmlns:a16="http://schemas.microsoft.com/office/drawing/2014/main" id="{8D4785D4-8048-48D2-A828-0C6612D4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52725"/>
            <a:ext cx="1028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Relevance score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12" name="图片 2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90637bd384ea9">
            <a:extLst>
              <a:ext uri="{96DAC541-7B7A-43D3-8B79-37D633B846F1}">
                <asvg:svgBlip xmlns:asvg="http://schemas.microsoft.com/office/drawing/2016/SVG/main" r:embed="R1a6faeb1b7a84fa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2100" y="2962275"/>
            <a:ext cx="161925" cy="161925"/>
          </a:xfrm>
          <a:prstGeom xmlns:a="http://schemas.openxmlformats.org/drawingml/2006/main" prst="rect">
            <a:avLst/>
          </a:prstGeom>
        </p:spPr>
      </p:pic>
      <p:sp>
        <p:nvSpPr>
          <p:cNvPr id="93" name="Descriptor">
            <a:extLst xmlns:a="http://schemas.openxmlformats.org/drawingml/2006/main">
              <a:ext uri="{FF2B5EF4-FFF2-40B4-BE49-F238E27FC236}">
                <a16:creationId xmlns:a16="http://schemas.microsoft.com/office/drawing/2014/main" id="{C7B12AF7-EAAB-40AD-83BC-1DA39C45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52750"/>
            <a:ext cx="1028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Descriptor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14" name="图片 2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f60878f7d4e65">
            <a:extLst>
              <a:ext uri="{96DAC541-7B7A-43D3-8B79-37D633B846F1}">
                <asvg:svgBlip xmlns:asvg="http://schemas.microsoft.com/office/drawing/2016/SVG/main" r:embed="Ra4e8c146c688497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2100" y="3162300"/>
            <a:ext cx="161925" cy="161925"/>
          </a:xfrm>
          <a:prstGeom xmlns:a="http://schemas.openxmlformats.org/drawingml/2006/main" prst="rect">
            <a:avLst/>
          </a:prstGeom>
        </p:spPr>
      </p:pic>
      <p:sp>
        <p:nvSpPr>
          <p:cNvPr id="95" name="Full-text link">
            <a:extLst xmlns:a="http://schemas.openxmlformats.org/drawingml/2006/main">
              <a:ext uri="{FF2B5EF4-FFF2-40B4-BE49-F238E27FC236}">
                <a16:creationId xmlns:a16="http://schemas.microsoft.com/office/drawing/2014/main" id="{6B312AD0-56D5-43CC-88A7-508F6F6D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52775"/>
            <a:ext cx="1028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Full-text link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16" name="图片 2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90637bd384ea9">
            <a:extLst>
              <a:ext uri="{96DAC541-7B7A-43D3-8B79-37D633B846F1}">
                <asvg:svgBlip xmlns:asvg="http://schemas.microsoft.com/office/drawing/2016/SVG/main" r:embed="R1a6faeb1b7a84fa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82100" y="3362325"/>
            <a:ext cx="161925" cy="161925"/>
          </a:xfrm>
          <a:prstGeom xmlns:a="http://schemas.openxmlformats.org/drawingml/2006/main" prst="rect">
            <a:avLst/>
          </a:prstGeom>
        </p:spPr>
      </p:pic>
      <p:sp>
        <p:nvSpPr>
          <p:cNvPr id="97" name="Source&#10;context only">
            <a:extLst xmlns:a="http://schemas.openxmlformats.org/drawingml/2006/main">
              <a:ext uri="{FF2B5EF4-FFF2-40B4-BE49-F238E27FC236}">
                <a16:creationId xmlns:a16="http://schemas.microsoft.com/office/drawing/2014/main" id="{5CF30AE0-65C6-41EE-B4B1-115014C1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14700"/>
            <a:ext cx="1028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90" b="1">
                <a:solidFill>
                  <a:srgbClr val="D95555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D95555"/>
                </a:solidFill>
                <a:latin typeface="Arial"/>
                <a:ea typeface="Arial"/>
                <a:cs typeface="Arial"/>
              </a:rPr>
              <a:t>Source</a:t>
            </a:r>
            <a:endParaRPr sz="1000" b="1">
              <a:solidFill>
                <a:srgbClr val="D95555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690" b="1">
                <a:solidFill>
                  <a:srgbClr val="D95555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D95555"/>
                </a:solidFill>
                <a:latin typeface="Arial"/>
                <a:ea typeface="Arial"/>
                <a:cs typeface="Arial"/>
              </a:rPr>
              <a:t>context only</a:t>
            </a:r>
            <a:endParaRPr sz="1000" b="1">
              <a:solidFill>
                <a:srgbClr val="D95555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18" name="直接箭头连接符 245"/>
          <p:cNvCxnSpPr>
            <a:stCxn xmlns:a="http://schemas.openxmlformats.org/drawingml/2006/main" id="81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8039100" y="30575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7AB"/>
            </a:solidFill>
            <a:prstDash val="solid"/>
            <a:tailEnd type="triangle" w="sm" len="sm"/>
          </a:ln>
        </p:spPr>
      </p:cxnSp>
      <p:cxnSp>
        <p:nvCxnSpPr>
          <p:cNvPr id="419" name="直接箭头连接符 246"/>
          <p:cNvCxnSpPr>
            <a:stCxn xmlns:a="http://schemas.openxmlformats.org/drawingml/2006/main" id="84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>
            <a:off x="8991600" y="30575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7AB"/>
            </a:solidFill>
            <a:prstDash val="solid"/>
            <a:tailEnd type="triangle" w="sm" len="sm"/>
          </a:ln>
        </p:spPr>
      </p:cxnSp>
      <p:sp>
        <p:nvSpPr>
          <p:cNvPr id="101" name="圆角矩形 100">
            <a:extLst xmlns:a="http://schemas.openxmlformats.org/drawingml/2006/main">
              <a:ext uri="{FF2B5EF4-FFF2-40B4-BE49-F238E27FC236}">
                <a16:creationId xmlns:a16="http://schemas.microsoft.com/office/drawing/2014/main" id="{CCE28F2E-E4A6-446E-9D63-4F1EF96B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3390900" cy="250444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3E9"/>
          </a:solidFill>
          <a:ln xmlns:a="http://schemas.openxmlformats.org/drawingml/2006/main" w="11906">
            <a:solidFill>
              <a:srgbClr val="E0A066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2" name="C2">
            <a:extLst xmlns:a="http://schemas.openxmlformats.org/drawingml/2006/main">
              <a:ext uri="{FF2B5EF4-FFF2-40B4-BE49-F238E27FC236}">
                <a16:creationId xmlns:a16="http://schemas.microsoft.com/office/drawing/2014/main" id="{A6D56475-2E68-4618-89DD-6AB9A283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114800"/>
            <a:ext cx="400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9772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C2</a:t>
            </a:r>
            <a:endParaRPr sz="12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Offline evidence-visibility au">
            <a:extLst xmlns:a="http://schemas.openxmlformats.org/drawingml/2006/main">
              <a:ext uri="{FF2B5EF4-FFF2-40B4-BE49-F238E27FC236}">
                <a16:creationId xmlns:a16="http://schemas.microsoft.com/office/drawing/2014/main" id="{3204381E-5407-46DE-BDBE-66205B8A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098290"/>
            <a:ext cx="2647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4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Offline evidence-visibility audit</a:t>
            </a:r>
            <a:endParaRPr sz="12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圆角矩形 103">
            <a:extLst xmlns:a="http://schemas.openxmlformats.org/drawingml/2006/main">
              <a:ext uri="{FF2B5EF4-FFF2-40B4-BE49-F238E27FC236}">
                <a16:creationId xmlns:a16="http://schemas.microsoft.com/office/drawing/2014/main" id="{609C949C-6F32-4E24-8F31-ABB91CA1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76750"/>
            <a:ext cx="7429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6FF"/>
          </a:solidFill>
          <a:ln xmlns:a="http://schemas.openxmlformats.org/drawingml/2006/main" w="11906">
            <a:solidFill>
              <a:srgbClr val="9EA6D2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424" name="图片 2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0afb60ffe4224">
            <a:extLst>
              <a:ext uri="{96DAC541-7B7A-43D3-8B79-37D633B846F1}">
                <asvg:svgBlip xmlns:asvg="http://schemas.microsoft.com/office/drawing/2016/SVG/main" r:embed="Rd579c376c45f4c7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10475" y="45434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06" name="Selected&#10;Top-k units">
            <a:extLst xmlns:a="http://schemas.openxmlformats.org/drawingml/2006/main">
              <a:ext uri="{FF2B5EF4-FFF2-40B4-BE49-F238E27FC236}">
                <a16:creationId xmlns:a16="http://schemas.microsoft.com/office/drawing/2014/main" id="{262F275B-34C0-4148-8B97-3CCBE8DF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7720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71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Selected</a:t>
            </a:r>
            <a:endParaRPr sz="71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71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71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Top-k units</a:t>
            </a:r>
            <a:endParaRPr sz="71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圆角矩形 106">
            <a:extLst xmlns:a="http://schemas.openxmlformats.org/drawingml/2006/main">
              <a:ext uri="{FF2B5EF4-FFF2-40B4-BE49-F238E27FC236}">
                <a16:creationId xmlns:a16="http://schemas.microsoft.com/office/drawing/2014/main" id="{2F9F8430-3200-4F77-B0D2-0FD6EA81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276850"/>
            <a:ext cx="742950" cy="756285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9F1"/>
          </a:solidFill>
          <a:ln xmlns:a="http://schemas.openxmlformats.org/drawingml/2006/main" w="11906">
            <a:solidFill>
              <a:srgbClr val="E3A35F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427" name="图片 2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a77a8ef664570">
            <a:extLst>
              <a:ext uri="{96DAC541-7B7A-43D3-8B79-37D633B846F1}">
                <asvg:svgBlip xmlns:asvg="http://schemas.microsoft.com/office/drawing/2016/SVG/main" r:embed="R48090d8ef6a849b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10475" y="529018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09" name="Gold evidence">
            <a:extLst xmlns:a="http://schemas.openxmlformats.org/drawingml/2006/main">
              <a:ext uri="{FF2B5EF4-FFF2-40B4-BE49-F238E27FC236}">
                <a16:creationId xmlns:a16="http://schemas.microsoft.com/office/drawing/2014/main" id="{0A147A17-79AE-401D-891B-DAD2BFE8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2035" y="5524500"/>
            <a:ext cx="64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71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Gold evidence</a:t>
            </a:r>
            <a:endParaRPr sz="71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offline only">
            <a:extLst xmlns:a="http://schemas.openxmlformats.org/drawingml/2006/main">
              <a:ext uri="{FF2B5EF4-FFF2-40B4-BE49-F238E27FC236}">
                <a16:creationId xmlns:a16="http://schemas.microsoft.com/office/drawing/2014/main" id="{4C413897-8E92-402D-BE30-6F7F8BFE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72150"/>
            <a:ext cx="5905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E1B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9D4E1D"/>
                </a:solidFill>
                <a:latin typeface="Arial"/>
                <a:ea typeface="Arial"/>
                <a:cs typeface="Arial"/>
              </a:defRPr>
            </a:pPr>
            <a:r>
              <a:rPr sz="660" b="1">
                <a:solidFill>
                  <a:srgbClr val="9D4E1D"/>
                </a:solidFill>
                <a:latin typeface="Arial"/>
                <a:ea typeface="Arial"/>
                <a:cs typeface="Arial"/>
              </a:rPr>
              <a:t>offline only</a:t>
            </a:r>
            <a:endParaRPr sz="660" b="1">
              <a:solidFill>
                <a:srgbClr val="9D4E1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圆角矩形 110">
            <a:extLst xmlns:a="http://schemas.openxmlformats.org/drawingml/2006/main">
              <a:ext uri="{FF2B5EF4-FFF2-40B4-BE49-F238E27FC236}">
                <a16:creationId xmlns:a16="http://schemas.microsoft.com/office/drawing/2014/main" id="{EC5F629A-6464-4DA9-B9DB-3C2C11D5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1390650" cy="1556385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5FBFA"/>
          </a:solidFill>
          <a:ln xmlns:a="http://schemas.openxmlformats.org/drawingml/2006/main" w="11906">
            <a:solidFill>
              <a:srgbClr val="8BCFC4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2" name="Visibility metrics">
            <a:extLst xmlns:a="http://schemas.openxmlformats.org/drawingml/2006/main">
              <a:ext uri="{FF2B5EF4-FFF2-40B4-BE49-F238E27FC236}">
                <a16:creationId xmlns:a16="http://schemas.microsoft.com/office/drawing/2014/main" id="{4A8313B7-20F6-43F2-8F23-A2EC349C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43425"/>
            <a:ext cx="123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Visibility metrics</a:t>
            </a:r>
            <a:endParaRPr sz="10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32" name="图片 2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089609852844e8">
            <a:extLst>
              <a:ext uri="{96DAC541-7B7A-43D3-8B79-37D633B846F1}">
                <asvg:svgBlip xmlns:asvg="http://schemas.microsoft.com/office/drawing/2016/SVG/main" r:embed="R63c9584502044df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67700" y="48387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14" name="Evidence-matching&#10;score">
            <a:extLst xmlns:a="http://schemas.openxmlformats.org/drawingml/2006/main">
              <a:ext uri="{FF2B5EF4-FFF2-40B4-BE49-F238E27FC236}">
                <a16:creationId xmlns:a16="http://schemas.microsoft.com/office/drawing/2014/main" id="{44408214-68E8-4DE1-9508-D7D72FFF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10125"/>
            <a:ext cx="1162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9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Evidence-matching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69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score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34" name="图片 26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76d03210e42cf">
            <a:extLst>
              <a:ext uri="{96DAC541-7B7A-43D3-8B79-37D633B846F1}">
                <asvg:svgBlip xmlns:asvg="http://schemas.microsoft.com/office/drawing/2016/SVG/main" r:embed="R63bed1840438403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67700" y="52006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16" name="Evidence-sentence&#10;recall">
            <a:extLst xmlns:a="http://schemas.openxmlformats.org/drawingml/2006/main">
              <a:ext uri="{FF2B5EF4-FFF2-40B4-BE49-F238E27FC236}">
                <a16:creationId xmlns:a16="http://schemas.microsoft.com/office/drawing/2014/main" id="{7C410321-4CD4-4090-B479-7925FA47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172075"/>
            <a:ext cx="109347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9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Evidence-sentence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69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recall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36" name="图片 26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9919ba4c8499e">
            <a:extLst>
              <a:ext uri="{96DAC541-7B7A-43D3-8B79-37D633B846F1}">
                <asvg:svgBlip xmlns:asvg="http://schemas.microsoft.com/office/drawing/2016/SVG/main" r:embed="Rbea04a9419c74d2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67700" y="55626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18" name="Complete coverage">
            <a:extLst xmlns:a="http://schemas.openxmlformats.org/drawingml/2006/main">
              <a:ext uri="{FF2B5EF4-FFF2-40B4-BE49-F238E27FC236}">
                <a16:creationId xmlns:a16="http://schemas.microsoft.com/office/drawing/2014/main" id="{DE7B0AD0-AE0A-4339-92EB-F5AB0464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534025"/>
            <a:ext cx="12103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9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Complete coverage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圆角矩形 118">
            <a:extLst xmlns:a="http://schemas.openxmlformats.org/drawingml/2006/main">
              <a:ext uri="{FF2B5EF4-FFF2-40B4-BE49-F238E27FC236}">
                <a16:creationId xmlns:a16="http://schemas.microsoft.com/office/drawing/2014/main" id="{97FB1C5C-D06B-4B00-BFD0-7DE87E89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76750"/>
            <a:ext cx="838200" cy="155638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4FC"/>
          </a:solidFill>
          <a:ln xmlns:a="http://schemas.openxmlformats.org/drawingml/2006/main" w="11906">
            <a:solidFill>
              <a:srgbClr val="B8A8D8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0" name="Uncertainty&#10;and strata">
            <a:extLst xmlns:a="http://schemas.openxmlformats.org/drawingml/2006/main">
              <a:ext uri="{FF2B5EF4-FFF2-40B4-BE49-F238E27FC236}">
                <a16:creationId xmlns:a16="http://schemas.microsoft.com/office/drawing/2014/main" id="{0DD45679-4AA8-46F3-9034-AF21A84A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524375"/>
            <a:ext cx="90106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Uncertainty</a:t>
            </a:r>
            <a:endParaRPr sz="10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79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and strata</a:t>
            </a:r>
            <a:endParaRPr sz="10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40" name="图片 26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bf9fef5bb4d43">
            <a:extLst>
              <a:ext uri="{96DAC541-7B7A-43D3-8B79-37D633B846F1}">
                <asvg:svgBlip xmlns:asvg="http://schemas.microsoft.com/office/drawing/2016/SVG/main" r:embed="Raf6cbdab3d2941d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25025" y="48577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22" name="Paired&#10;bootstrap">
            <a:extLst xmlns:a="http://schemas.openxmlformats.org/drawingml/2006/main">
              <a:ext uri="{FF2B5EF4-FFF2-40B4-BE49-F238E27FC236}">
                <a16:creationId xmlns:a16="http://schemas.microsoft.com/office/drawing/2014/main" id="{AA2F4B73-FF07-428C-BA6E-4E189000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585" y="4819650"/>
            <a:ext cx="62801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Paired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60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bootstrap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42" name="图片 26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01af596e334f8a">
            <a:extLst>
              <a:ext uri="{96DAC541-7B7A-43D3-8B79-37D633B846F1}">
                <asvg:svgBlip xmlns:asvg="http://schemas.microsoft.com/office/drawing/2016/SVG/main" r:embed="R707f8814dbe44c4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25025" y="521017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24" name="Position&#10;strata">
            <a:extLst xmlns:a="http://schemas.openxmlformats.org/drawingml/2006/main">
              <a:ext uri="{FF2B5EF4-FFF2-40B4-BE49-F238E27FC236}">
                <a16:creationId xmlns:a16="http://schemas.microsoft.com/office/drawing/2014/main" id="{214B1BFF-A9E3-44FD-B352-2701ADAC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8210" y="5172075"/>
            <a:ext cx="685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Position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60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strata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44" name="图片 27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91d0e2dfd473e">
            <a:extLst>
              <a:ext uri="{96DAC541-7B7A-43D3-8B79-37D633B846F1}">
                <asvg:svgBlip xmlns:asvg="http://schemas.microsoft.com/office/drawing/2016/SVG/main" r:embed="Rcd065681ac9c4e9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25025" y="55626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126" name="Claim label&#10;strata">
            <a:extLst xmlns:a="http://schemas.openxmlformats.org/drawingml/2006/main">
              <a:ext uri="{FF2B5EF4-FFF2-40B4-BE49-F238E27FC236}">
                <a16:creationId xmlns:a16="http://schemas.microsoft.com/office/drawing/2014/main" id="{731EA995-2DAC-403B-87E6-CFA91B9D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524500"/>
            <a:ext cx="533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Claim label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60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strata</a:t>
            </a:r>
            <a:endParaRPr sz="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任意多边形 127">
            <a:extLst xmlns:a="http://schemas.openxmlformats.org/drawingml/2006/main">
              <a:ext uri="{FF2B5EF4-FFF2-40B4-BE49-F238E27FC236}">
                <a16:creationId xmlns:a16="http://schemas.microsoft.com/office/drawing/2014/main" id="{DE53B24B-ABDF-45C0-A1C5-5FEC5F60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81550"/>
            <a:ext cx="47625" cy="9525"/>
          </a:xfrm>
          <a:custGeom xmlns:a="http://schemas.openxmlformats.org/drawingml/2006/main">
            <a:pathLst>
              <a:path w="47625" h="9525">
                <a:moveTo>
                  <a:pt x="0" y="0"/>
                </a:moveTo>
                <a:lnTo>
                  <a:pt x="47625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6667AB"/>
            </a:solidFill>
            <a:prstDash val="solid"/>
          </a:ln>
        </p:spPr>
      </p:sp>
      <p:sp>
        <p:nvSpPr>
          <p:cNvPr id="129" name="任意多边形 128">
            <a:extLst xmlns:a="http://schemas.openxmlformats.org/drawingml/2006/main">
              <a:ext uri="{FF2B5EF4-FFF2-40B4-BE49-F238E27FC236}">
                <a16:creationId xmlns:a16="http://schemas.microsoft.com/office/drawing/2014/main" id="{37D3F9B8-C5EF-49A6-BF76-9AC9C99F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67350"/>
            <a:ext cx="47625" cy="9525"/>
          </a:xfrm>
          <a:custGeom xmlns:a="http://schemas.openxmlformats.org/drawingml/2006/main">
            <a:pathLst>
              <a:path w="47625" h="9525">
                <a:moveTo>
                  <a:pt x="0" y="0"/>
                </a:moveTo>
                <a:lnTo>
                  <a:pt x="47625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B86124"/>
            </a:solidFill>
            <a:prstDash val="solid"/>
          </a:ln>
        </p:spPr>
      </p:sp>
      <p:sp>
        <p:nvSpPr>
          <p:cNvPr id="130" name="任意多边形 129">
            <a:extLst xmlns:a="http://schemas.openxmlformats.org/drawingml/2006/main">
              <a:ext uri="{FF2B5EF4-FFF2-40B4-BE49-F238E27FC236}">
                <a16:creationId xmlns:a16="http://schemas.microsoft.com/office/drawing/2014/main" id="{E4EB2216-0077-411F-9769-5676B57B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781550"/>
            <a:ext cx="9525" cy="685800"/>
          </a:xfrm>
          <a:custGeom xmlns:a="http://schemas.openxmlformats.org/drawingml/2006/main">
            <a:pathLst>
              <a:path w="9525" h="685800">
                <a:moveTo>
                  <a:pt x="0" y="0"/>
                </a:moveTo>
                <a:lnTo>
                  <a:pt x="9525" y="6858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6B7280"/>
            </a:solidFill>
            <a:prstDash val="solid"/>
          </a:ln>
        </p:spPr>
      </p:sp>
      <p:sp>
        <p:nvSpPr>
          <p:cNvPr id="131" name="矩形 130">
            <a:extLst xmlns:a="http://schemas.openxmlformats.org/drawingml/2006/main">
              <a:ext uri="{FF2B5EF4-FFF2-40B4-BE49-F238E27FC236}">
                <a16:creationId xmlns:a16="http://schemas.microsoft.com/office/drawing/2014/main" id="{A56698E7-7BC6-4AE3-9439-466D6DD7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149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cxnSp>
        <p:nvCxnSpPr>
          <p:cNvPr id="450" name="直接箭头连接符 279"/>
          <p:cNvCxnSpPr>
            <a:stCxn xmlns:a="http://schemas.openxmlformats.org/drawingml/2006/main" id="111" idx="3"/>
            <a:endCxn xmlns:a="http://schemas.openxmlformats.org/drawingml/2006/main" id="119" idx="1"/>
          </p:cNvCxnSpPr>
          <p:nvPr/>
        </p:nvCxnSpPr>
        <p:spPr>
          <a:xfrm xmlns:a="http://schemas.openxmlformats.org/drawingml/2006/main">
            <a:off x="9582150" y="525526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95493"/>
            </a:solidFill>
            <a:prstDash val="solid"/>
            <a:tailEnd type="triangle" w="sm" len="sm"/>
          </a:ln>
        </p:spPr>
      </p:cxnSp>
      <p:sp>
        <p:nvSpPr>
          <p:cNvPr id="134" name="Gold annotations never enter s">
            <a:extLst xmlns:a="http://schemas.openxmlformats.org/drawingml/2006/main">
              <a:ext uri="{FF2B5EF4-FFF2-40B4-BE49-F238E27FC236}">
                <a16:creationId xmlns:a16="http://schemas.microsoft.com/office/drawing/2014/main" id="{78C40118-C52A-410D-94C7-E29C4358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611441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0" b="1">
                <a:solidFill>
                  <a:srgbClr val="A7551E"/>
                </a:solidFill>
                <a:latin typeface="Arial"/>
                <a:ea typeface="Arial"/>
                <a:cs typeface="Arial"/>
              </a:defRPr>
            </a:pPr>
            <a:r>
              <a:rPr sz="790" b="1">
                <a:solidFill>
                  <a:srgbClr val="A7551E"/>
                </a:solidFill>
                <a:latin typeface="Arial"/>
                <a:ea typeface="Arial"/>
                <a:cs typeface="Arial"/>
              </a:rPr>
              <a:t>Gold annotations never enter selection</a:t>
            </a:r>
            <a:endParaRPr sz="790" b="1">
              <a:solidFill>
                <a:srgbClr val="A7551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OFFLINE&#10;OUTCOMES">
            <a:extLst xmlns:a="http://schemas.openxmlformats.org/drawingml/2006/main">
              <a:ext uri="{FF2B5EF4-FFF2-40B4-BE49-F238E27FC236}">
                <a16:creationId xmlns:a16="http://schemas.microsoft.com/office/drawing/2014/main" id="{396543E7-89B5-460F-8811-CE19003B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47662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B6872"/>
                </a:solidFill>
                <a:latin typeface="Arial"/>
                <a:ea typeface="Arial"/>
                <a:cs typeface="Arial"/>
              </a:rPr>
              <a:t>OFFLINE</a:t>
            </a:r>
            <a:endParaRPr sz="1000" b="1">
              <a:solidFill>
                <a:srgbClr val="5B687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750" b="1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5B6872"/>
                </a:solidFill>
                <a:latin typeface="Arial"/>
                <a:ea typeface="Arial"/>
                <a:cs typeface="Arial"/>
              </a:rPr>
              <a:t>OUTCOMES</a:t>
            </a:r>
            <a:endParaRPr sz="1000" b="1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圆角矩形 135">
            <a:extLst xmlns:a="http://schemas.openxmlformats.org/drawingml/2006/main">
              <a:ext uri="{FF2B5EF4-FFF2-40B4-BE49-F238E27FC236}">
                <a16:creationId xmlns:a16="http://schemas.microsoft.com/office/drawing/2014/main" id="{773EAD65-1D05-48F3-B8C3-C6B48E2D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810000"/>
            <a:ext cx="1047750" cy="13906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9050">
            <a:solidFill>
              <a:srgbClr val="37966F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454" name="图片 28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619ae0e2342ff">
            <a:extLst>
              <a:ext uri="{96DAC541-7B7A-43D3-8B79-37D633B846F1}">
                <asvg:svgBlip xmlns:asvg="http://schemas.microsoft.com/office/drawing/2016/SVG/main" r:embed="Ra57f9e81203f460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39475" y="395287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38" name="Paired gain over&#10;document-loca">
            <a:extLst xmlns:a="http://schemas.openxmlformats.org/drawingml/2006/main">
              <a:ext uri="{FF2B5EF4-FFF2-40B4-BE49-F238E27FC236}">
                <a16:creationId xmlns:a16="http://schemas.microsoft.com/office/drawing/2014/main" id="{E6414CAE-8521-4E94-A363-1D881492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371975"/>
            <a:ext cx="933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65" b="1">
                <a:solidFill>
                  <a:srgbClr val="235E47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35E47"/>
                </a:solidFill>
                <a:latin typeface="Arial"/>
                <a:ea typeface="Arial"/>
                <a:cs typeface="Arial"/>
              </a:rPr>
              <a:t>Paired gain over</a:t>
            </a:r>
            <a:endParaRPr sz="1000" b="1">
              <a:solidFill>
                <a:srgbClr val="235E47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765" b="1">
                <a:solidFill>
                  <a:srgbClr val="235E47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35E47"/>
                </a:solidFill>
                <a:latin typeface="Arial"/>
                <a:ea typeface="Arial"/>
                <a:cs typeface="Arial"/>
              </a:rPr>
              <a:t>document-local BM25</a:t>
            </a:r>
            <a:endParaRPr sz="1000" b="1">
              <a:solidFill>
                <a:srgbClr val="235E4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at fixed k">
            <a:extLst xmlns:a="http://schemas.openxmlformats.org/drawingml/2006/main">
              <a:ext uri="{FF2B5EF4-FFF2-40B4-BE49-F238E27FC236}">
                <a16:creationId xmlns:a16="http://schemas.microsoft.com/office/drawing/2014/main" id="{F41833A5-9849-4D95-9517-84C6A8EA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585" y="49530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90" b="0">
                <a:solidFill>
                  <a:srgbClr val="356B56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356B56"/>
                </a:solidFill>
                <a:latin typeface="Arial"/>
                <a:ea typeface="Arial"/>
                <a:cs typeface="Arial"/>
              </a:rPr>
              <a:t>at fixed k</a:t>
            </a:r>
            <a:endParaRPr sz="1000" b="0">
              <a:solidFill>
                <a:srgbClr val="356B5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圆角矩形 139">
            <a:extLst xmlns:a="http://schemas.openxmlformats.org/drawingml/2006/main">
              <a:ext uri="{FF2B5EF4-FFF2-40B4-BE49-F238E27FC236}">
                <a16:creationId xmlns:a16="http://schemas.microsoft.com/office/drawing/2014/main" id="{7A90D1AE-210D-49E2-91FF-F4D3C334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238750"/>
            <a:ext cx="1047750" cy="14668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19050">
            <a:solidFill>
              <a:srgbClr val="D95555"/>
            </a:solidFill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458" name="图片 2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c7ac10a12b484e">
            <a:extLst>
              <a:ext uri="{96DAC541-7B7A-43D3-8B79-37D633B846F1}">
                <asvg:svgBlip xmlns:asvg="http://schemas.microsoft.com/office/drawing/2016/SVG/main" r:embed="Ref49c6922eb344d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39475" y="540067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42" name="Gold-measured&#10;residual omissio">
            <a:extLst xmlns:a="http://schemas.openxmlformats.org/drawingml/2006/main">
              <a:ext uri="{FF2B5EF4-FFF2-40B4-BE49-F238E27FC236}">
                <a16:creationId xmlns:a16="http://schemas.microsoft.com/office/drawing/2014/main" id="{05B8B37B-8545-4174-A446-6451CF5C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857875"/>
            <a:ext cx="93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65" b="1">
                <a:solidFill>
                  <a:srgbClr val="8C33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8C3333"/>
                </a:solidFill>
                <a:latin typeface="Arial"/>
                <a:ea typeface="Arial"/>
                <a:cs typeface="Arial"/>
              </a:rPr>
              <a:t>Gold-measured</a:t>
            </a:r>
            <a:endParaRPr sz="800" b="1">
              <a:solidFill>
                <a:srgbClr val="8C33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765" b="1">
                <a:solidFill>
                  <a:srgbClr val="8C3333"/>
                </a:solidFill>
                <a:latin typeface="Arial"/>
                <a:ea typeface="Arial"/>
                <a:cs typeface="Arial"/>
              </a:defRPr>
            </a:pPr>
            <a:r>
              <a:rPr sz="800" b="1">
                <a:solidFill>
                  <a:srgbClr val="8C3333"/>
                </a:solidFill>
                <a:latin typeface="Arial"/>
                <a:ea typeface="Arial"/>
                <a:cs typeface="Arial"/>
              </a:rPr>
              <a:t>residual omission</a:t>
            </a:r>
            <a:endParaRPr sz="800" b="1">
              <a:solidFill>
                <a:srgbClr val="8C33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incomplete&#10;Top-k view">
            <a:extLst xmlns:a="http://schemas.openxmlformats.org/drawingml/2006/main">
              <a:ext uri="{FF2B5EF4-FFF2-40B4-BE49-F238E27FC236}">
                <a16:creationId xmlns:a16="http://schemas.microsoft.com/office/drawing/2014/main" id="{1AA09947-18D0-4062-8974-37B949CF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34125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75" b="0">
                <a:solidFill>
                  <a:srgbClr val="8C4B4B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8C4B4B"/>
                </a:solidFill>
                <a:latin typeface="Arial"/>
                <a:ea typeface="Arial"/>
                <a:cs typeface="Arial"/>
              </a:rPr>
              <a:t>incomplete</a:t>
            </a:r>
            <a:endParaRPr sz="800" b="0">
              <a:solidFill>
                <a:srgbClr val="8C4B4B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775" b="0">
                <a:solidFill>
                  <a:srgbClr val="8C4B4B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8C4B4B"/>
                </a:solidFill>
                <a:latin typeface="Arial"/>
                <a:ea typeface="Arial"/>
                <a:cs typeface="Arial"/>
              </a:rPr>
              <a:t>Top-k view</a:t>
            </a:r>
            <a:endParaRPr sz="800" b="0">
              <a:solidFill>
                <a:srgbClr val="8C4B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任意多边形 145">
            <a:extLst xmlns:a="http://schemas.openxmlformats.org/drawingml/2006/main">
              <a:ext uri="{FF2B5EF4-FFF2-40B4-BE49-F238E27FC236}">
                <a16:creationId xmlns:a16="http://schemas.microsoft.com/office/drawing/2014/main" id="{EFE299B2-D2A1-4B61-92FD-ABBD3640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05650"/>
            <a:ext cx="11315700" cy="9525"/>
          </a:xfrm>
          <a:custGeom xmlns:a="http://schemas.openxmlformats.org/drawingml/2006/main">
            <a:pathLst>
              <a:path w="11315700" h="9525">
                <a:moveTo>
                  <a:pt x="0" y="0"/>
                </a:moveTo>
                <a:lnTo>
                  <a:pt x="113157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47" name="Source-context only cue i">
            <a:extLst xmlns:a="http://schemas.openxmlformats.org/drawingml/2006/main">
              <a:ext uri="{FF2B5EF4-FFF2-40B4-BE49-F238E27FC236}">
                <a16:creationId xmlns:a16="http://schemas.microsoft.com/office/drawing/2014/main" id="{99D8B053-73D4-472B-81B7-82975B70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62800"/>
            <a:ext cx="1131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Source-context descriptors are structural and not gold-based. Offline residual omission is measured against gold evidence.</a:t>
            </a:r>
            <a:endParaRPr sz="1275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63" name=""/>
          <p:cNvCxnSpPr>
            <a:stCxn xmlns:a="http://schemas.openxmlformats.org/drawingml/2006/main" id="69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5743575" y="4295775"/>
            <a:ext cx="47625" cy="15684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176C64"/>
            </a:solidFill>
            <a:prstDash val="solid"/>
            <a:headEnd type="triangle" w="sm" len="sm"/>
          </a:ln>
        </p:spPr>
      </p:cxnSp>
      <p:cxnSp>
        <p:nvCxnSpPr>
          <p:cNvPr id="464" name=""/>
          <p:cNvCxnSpPr>
            <a:stCxn xmlns:a="http://schemas.openxmlformats.org/drawingml/2006/main" id="62" idx="3"/>
            <a:endCxn xmlns:a="http://schemas.openxmlformats.org/drawingml/2006/main" id="81" idx="1"/>
          </p:cNvCxnSpPr>
          <p:nvPr/>
        </p:nvCxnSpPr>
        <p:spPr>
          <a:xfrm xmlns:a="http://schemas.openxmlformats.org/drawingml/2006/main" flipV="1">
            <a:off x="6838950" y="3057525"/>
            <a:ext cx="514350" cy="139509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4D728A"/>
            </a:solidFill>
            <a:prstDash val="solid"/>
            <a:headEnd type="triangle" w="sm" len="sm"/>
          </a:ln>
        </p:spPr>
      </p:cxnSp>
      <p:cxnSp>
        <p:nvCxnSpPr>
          <p:cNvPr id="465" name=""/>
          <p:cNvCxnSpPr>
            <a:stCxn xmlns:a="http://schemas.openxmlformats.org/drawingml/2006/main" id="62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6838950" y="4452620"/>
            <a:ext cx="514350" cy="32893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4D728A"/>
            </a:solidFill>
            <a:prstDash val="solid"/>
            <a:headEnd type="triangle" w="sm" len="sm"/>
          </a:ln>
        </p:spPr>
      </p:cxnSp>
      <p:cxnSp>
        <p:nvCxnSpPr>
          <p:cNvPr id="466" name=""/>
          <p:cNvCxnSpPr>
            <a:stCxn xmlns:a="http://schemas.openxmlformats.org/drawingml/2006/main" id="131" idx="3"/>
            <a:endCxn xmlns:a="http://schemas.openxmlformats.org/drawingml/2006/main" id="111" idx="1"/>
          </p:cNvCxnSpPr>
          <p:nvPr/>
        </p:nvCxnSpPr>
        <p:spPr>
          <a:xfrm xmlns:a="http://schemas.openxmlformats.org/drawingml/2006/main">
            <a:off x="8153400" y="5124450"/>
            <a:ext cx="38100" cy="13049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6B7280"/>
            </a:solidFill>
            <a:prstDash val="solid"/>
            <a:headEnd type="triangle" w="sm" len="sm"/>
          </a:ln>
        </p:spPr>
      </p:cxnSp>
      <p:cxnSp>
        <p:nvCxnSpPr>
          <p:cNvPr id="467" name=""/>
          <p:cNvCxnSpPr>
            <a:stCxn xmlns:a="http://schemas.openxmlformats.org/drawingml/2006/main" id="119" idx="3"/>
            <a:endCxn xmlns:a="http://schemas.openxmlformats.org/drawingml/2006/main" id="136" idx="1"/>
          </p:cNvCxnSpPr>
          <p:nvPr/>
        </p:nvCxnSpPr>
        <p:spPr>
          <a:xfrm xmlns:a="http://schemas.openxmlformats.org/drawingml/2006/main" flipV="1">
            <a:off x="10515600" y="4505325"/>
            <a:ext cx="209550" cy="74961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37966F"/>
            </a:solidFill>
            <a:prstDash val="solid"/>
            <a:headEnd type="triangle" w="sm" len="sm"/>
          </a:ln>
        </p:spPr>
      </p:cxnSp>
      <p:cxnSp>
        <p:nvCxnSpPr>
          <p:cNvPr id="468" name=""/>
          <p:cNvCxnSpPr>
            <a:stCxn xmlns:a="http://schemas.openxmlformats.org/drawingml/2006/main" id="119" idx="3"/>
            <a:endCxn xmlns:a="http://schemas.openxmlformats.org/drawingml/2006/main" id="140" idx="1"/>
          </p:cNvCxnSpPr>
          <p:nvPr/>
        </p:nvCxnSpPr>
        <p:spPr>
          <a:xfrm xmlns:a="http://schemas.openxmlformats.org/drawingml/2006/main">
            <a:off x="10515600" y="5254943"/>
            <a:ext cx="209550" cy="71723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D95555"/>
            </a:solidFill>
            <a:prstDash val="solid"/>
            <a:head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2970226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ixed-budget evidence visibili">
            <a:extLst xmlns:a="http://schemas.openxmlformats.org/drawingml/2006/main">
              <a:ext uri="{FF2B5EF4-FFF2-40B4-BE49-F238E27FC236}">
                <a16:creationId xmlns:a16="http://schemas.microsoft.com/office/drawing/2014/main" id="{AD17FF31-CED3-4F53-9AFF-9CEF9528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135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Fixed-budget evidence visibility</a:t>
            </a:r>
            <a:endParaRPr sz="247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Development subsets; panels us">
            <a:extLst xmlns:a="http://schemas.openxmlformats.org/drawingml/2006/main">
              <a:ext uri="{FF2B5EF4-FFF2-40B4-BE49-F238E27FC236}">
                <a16:creationId xmlns:a16="http://schemas.microsoft.com/office/drawing/2014/main" id="{2F975187-88F2-44BA-BF58-6F862875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42950"/>
            <a:ext cx="1131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Development subsets; panels use task-specific metrics and share a 0–1 scale</a:t>
            </a:r>
            <a:endParaRPr sz="140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CE0A78AD-94F8-45C5-B681-C915C0D8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0150"/>
            <a:ext cx="11315700" cy="9525"/>
          </a:xfrm>
          <a:custGeom xmlns:a="http://schemas.openxmlformats.org/drawingml/2006/main">
            <a:pathLst>
              <a:path w="11315700" h="9525">
                <a:moveTo>
                  <a:pt x="0" y="0"/>
                </a:moveTo>
                <a:lnTo>
                  <a:pt x="113157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B2733"/>
            </a:solidFill>
            <a:prstDash val="solid"/>
          </a:ln>
        </p:spPr>
      </p:sp>
      <p:sp>
        <p:nvSpPr>
          <p:cNvPr id="4" name="A  QASPER · 89 questions">
            <a:extLst xmlns:a="http://schemas.openxmlformats.org/drawingml/2006/main">
              <a:ext uri="{FF2B5EF4-FFF2-40B4-BE49-F238E27FC236}">
                <a16:creationId xmlns:a16="http://schemas.microsoft.com/office/drawing/2014/main" id="{A59B85F4-2300-4095-B815-1C26BC24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57325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A  QASPER · 89 questions</a:t>
            </a:r>
            <a:endParaRPr sz="1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Evidence-matching score">
            <a:extLst xmlns:a="http://schemas.openxmlformats.org/drawingml/2006/main">
              <a:ext uri="{FF2B5EF4-FFF2-40B4-BE49-F238E27FC236}">
                <a16:creationId xmlns:a16="http://schemas.microsoft.com/office/drawing/2014/main" id="{FCD8E5F9-9C89-446C-A052-45641833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42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Evidence-matching score</a:t>
            </a:r>
            <a:endParaRPr sz="135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400050" y="2190750"/>
          <a:ext xmlns:a="http://schemas.openxmlformats.org/drawingml/2006/main" cx="5429250" cy="4686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ec416115fa4188"/>
          </a:graphicData>
        </a:graphic>
      </p:graphicFrame>
      <p:sp>
        <p:nvSpPr>
          <p:cNvPr id="7" name="B  SciFact · 338 evidence sets">
            <a:extLst xmlns:a="http://schemas.openxmlformats.org/drawingml/2006/main">
              <a:ext uri="{FF2B5EF4-FFF2-40B4-BE49-F238E27FC236}">
                <a16:creationId xmlns:a16="http://schemas.microsoft.com/office/drawing/2014/main" id="{F74EEE58-C4A7-4027-A78F-370A5E2D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57325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B  SciFact · 338 evidence sets</a:t>
            </a:r>
            <a:endParaRPr sz="1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Evidence-sentence recall">
            <a:extLst xmlns:a="http://schemas.openxmlformats.org/drawingml/2006/main">
              <a:ext uri="{FF2B5EF4-FFF2-40B4-BE49-F238E27FC236}">
                <a16:creationId xmlns:a16="http://schemas.microsoft.com/office/drawing/2014/main" id="{D77AC27B-A1BC-4C24-94B0-2CA1B9EF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542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Evidence-sentence recall</a:t>
            </a:r>
            <a:endParaRPr sz="135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334125" y="2190750"/>
          <a:ext xmlns:a="http://schemas.openxmlformats.org/drawingml/2006/main" cx="5429250" cy="4686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44d1e427e5445f"/>
          </a:graphicData>
        </a:graphic>
      </p:graphicFrame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6173C177-D41C-4FFD-A234-BE73432E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05650"/>
            <a:ext cx="11315700" cy="9525"/>
          </a:xfrm>
          <a:custGeom xmlns:a="http://schemas.openxmlformats.org/drawingml/2006/main">
            <a:pathLst>
              <a:path w="11315700" h="9525">
                <a:moveTo>
                  <a:pt x="0" y="0"/>
                </a:moveTo>
                <a:lnTo>
                  <a:pt x="113157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1" name="Higher is better. Budgets cont">
            <a:extLst xmlns:a="http://schemas.openxmlformats.org/drawingml/2006/main">
              <a:ext uri="{FF2B5EF4-FFF2-40B4-BE49-F238E27FC236}">
                <a16:creationId xmlns:a16="http://schemas.microsoft.com/office/drawing/2014/main" id="{865B48F6-78C4-42A6-AA25-1B0ABFF5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62800"/>
            <a:ext cx="1131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Higher is better. Budgets control snippet count, not total words, latency, or reading time.</a:t>
            </a:r>
            <a:endParaRPr sz="1275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2369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Paired gains over document-loc">
            <a:extLst xmlns:a="http://schemas.openxmlformats.org/drawingml/2006/main">
              <a:ext uri="{FF2B5EF4-FFF2-40B4-BE49-F238E27FC236}">
                <a16:creationId xmlns:a16="http://schemas.microsoft.com/office/drawing/2014/main" id="{E1654D1B-0623-40CE-BD55-3FE24C62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135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Paired gains over document-local BM25</a:t>
            </a:r>
            <a:endParaRPr sz="247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Mean neural-selector differenc">
            <a:extLst xmlns:a="http://schemas.openxmlformats.org/drawingml/2006/main">
              <a:ext uri="{FF2B5EF4-FFF2-40B4-BE49-F238E27FC236}">
                <a16:creationId xmlns:a16="http://schemas.microsoft.com/office/drawing/2014/main" id="{BDBDE604-EF3B-4BAC-8C6A-EC729700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42950"/>
            <a:ext cx="1131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Mean neural-selector </a:t>
            </a:r>
            <a:r>
              <a:rPr sz="140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difference </a:t>
            </a:r>
            <a:r>
              <a:rPr sz="1425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at the same budget with cluster-bootstrap 95% intervals</a:t>
            </a:r>
            <a:endParaRPr sz="1425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51ED0DA7-5314-46C9-8ED0-27F3A06E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0150"/>
            <a:ext cx="11315700" cy="9525"/>
          </a:xfrm>
          <a:custGeom xmlns:a="http://schemas.openxmlformats.org/drawingml/2006/main">
            <a:pathLst>
              <a:path w="11315700" h="9525">
                <a:moveTo>
                  <a:pt x="0" y="0"/>
                </a:moveTo>
                <a:lnTo>
                  <a:pt x="113157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B2733"/>
            </a:solidFill>
            <a:prstDash val="solid"/>
          </a:ln>
        </p:spPr>
      </p:sp>
      <p:sp>
        <p:nvSpPr>
          <p:cNvPr id="4" name="Model and budget">
            <a:extLst xmlns:a="http://schemas.openxmlformats.org/drawingml/2006/main">
              <a:ext uri="{FF2B5EF4-FFF2-40B4-BE49-F238E27FC236}">
                <a16:creationId xmlns:a16="http://schemas.microsoft.com/office/drawing/2014/main" id="{50AC083B-42D8-46E3-BA0F-ED37EF81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4763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Model and budget</a:t>
            </a:r>
            <a:endParaRPr sz="165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Metric difference">
            <a:extLst xmlns:a="http://schemas.openxmlformats.org/drawingml/2006/main">
              <a:ext uri="{FF2B5EF4-FFF2-40B4-BE49-F238E27FC236}">
                <a16:creationId xmlns:a16="http://schemas.microsoft.com/office/drawing/2014/main" id="{713CF6E2-4C87-4E44-BB8F-5E64B429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476375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Metric difference</a:t>
            </a:r>
            <a:endParaRPr sz="165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Mean [95% interval]">
            <a:extLst xmlns:a="http://schemas.openxmlformats.org/drawingml/2006/main">
              <a:ext uri="{FF2B5EF4-FFF2-40B4-BE49-F238E27FC236}">
                <a16:creationId xmlns:a16="http://schemas.microsoft.com/office/drawing/2014/main" id="{B6CC2129-A314-414C-A96C-5DE88CF3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76375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Mean [95% interval]</a:t>
            </a:r>
            <a:endParaRPr sz="165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F5A24DCE-9896-4355-8B04-8175D5F5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52625"/>
            <a:ext cx="9525" cy="4276725"/>
          </a:xfrm>
          <a:custGeom xmlns:a="http://schemas.openxmlformats.org/drawingml/2006/main">
            <a:pathLst>
              <a:path w="9525" h="4276725">
                <a:moveTo>
                  <a:pt x="0" y="0"/>
                </a:moveTo>
                <a:lnTo>
                  <a:pt x="9525" y="42767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8" name="-0.1">
            <a:extLst xmlns:a="http://schemas.openxmlformats.org/drawingml/2006/main">
              <a:ext uri="{FF2B5EF4-FFF2-40B4-BE49-F238E27FC236}">
                <a16:creationId xmlns:a16="http://schemas.microsoft.com/office/drawing/2014/main" id="{709A2839-CF4C-42BD-B57F-4DE411C3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2960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-0.1</a:t>
            </a:r>
            <a:endParaRPr sz="135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8C800D91-1C5B-43CD-98DD-CACBDD3A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52625"/>
            <a:ext cx="9525" cy="4276725"/>
          </a:xfrm>
          <a:custGeom xmlns:a="http://schemas.openxmlformats.org/drawingml/2006/main">
            <a:pathLst>
              <a:path w="9525" h="4276725">
                <a:moveTo>
                  <a:pt x="0" y="0"/>
                </a:moveTo>
                <a:lnTo>
                  <a:pt x="9525" y="42767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B2733"/>
            </a:solidFill>
            <a:prstDash val="dash"/>
          </a:ln>
        </p:spPr>
      </p:sp>
      <p:sp>
        <p:nvSpPr>
          <p:cNvPr id="10" name="0.0">
            <a:extLst xmlns:a="http://schemas.openxmlformats.org/drawingml/2006/main">
              <a:ext uri="{FF2B5EF4-FFF2-40B4-BE49-F238E27FC236}">
                <a16:creationId xmlns:a16="http://schemas.microsoft.com/office/drawing/2014/main" id="{A9509431-0A6F-48B7-ACFD-35B1F0A1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2960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0.0</a:t>
            </a:r>
            <a:endParaRPr sz="135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03D107BB-AD73-4C0A-BEDB-DA964229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52625"/>
            <a:ext cx="9525" cy="4276725"/>
          </a:xfrm>
          <a:custGeom xmlns:a="http://schemas.openxmlformats.org/drawingml/2006/main">
            <a:pathLst>
              <a:path w="9525" h="4276725">
                <a:moveTo>
                  <a:pt x="0" y="0"/>
                </a:moveTo>
                <a:lnTo>
                  <a:pt x="9525" y="42767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2" name="0.1">
            <a:extLst xmlns:a="http://schemas.openxmlformats.org/drawingml/2006/main">
              <a:ext uri="{FF2B5EF4-FFF2-40B4-BE49-F238E27FC236}">
                <a16:creationId xmlns:a16="http://schemas.microsoft.com/office/drawing/2014/main" id="{AE290A7A-0437-4E4B-B880-7C8A7B3C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2960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0.1</a:t>
            </a:r>
            <a:endParaRPr sz="135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F1E57B53-2738-486D-989C-627400DB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52625"/>
            <a:ext cx="9525" cy="4276725"/>
          </a:xfrm>
          <a:custGeom xmlns:a="http://schemas.openxmlformats.org/drawingml/2006/main">
            <a:pathLst>
              <a:path w="9525" h="4276725">
                <a:moveTo>
                  <a:pt x="0" y="0"/>
                </a:moveTo>
                <a:lnTo>
                  <a:pt x="9525" y="42767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4" name="0.2">
            <a:extLst xmlns:a="http://schemas.openxmlformats.org/drawingml/2006/main">
              <a:ext uri="{FF2B5EF4-FFF2-40B4-BE49-F238E27FC236}">
                <a16:creationId xmlns:a16="http://schemas.microsoft.com/office/drawing/2014/main" id="{AF8FD882-985B-4DD9-8E56-0A426CE7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2960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0.2</a:t>
            </a:r>
            <a:endParaRPr sz="135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166E3BCD-558C-4940-9A0D-CC18E62F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52625"/>
            <a:ext cx="9525" cy="4276725"/>
          </a:xfrm>
          <a:custGeom xmlns:a="http://schemas.openxmlformats.org/drawingml/2006/main">
            <a:pathLst>
              <a:path w="9525" h="4276725">
                <a:moveTo>
                  <a:pt x="0" y="0"/>
                </a:moveTo>
                <a:lnTo>
                  <a:pt x="9525" y="42767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6" name="0.3">
            <a:extLst xmlns:a="http://schemas.openxmlformats.org/drawingml/2006/main">
              <a:ext uri="{FF2B5EF4-FFF2-40B4-BE49-F238E27FC236}">
                <a16:creationId xmlns:a16="http://schemas.microsoft.com/office/drawing/2014/main" id="{B94D72F4-4CBB-4D63-8A18-E2572C40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2960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0.3</a:t>
            </a:r>
            <a:endParaRPr sz="135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QASPER&#10;evidence‑matching&#10;score">
            <a:extLst xmlns:a="http://schemas.openxmlformats.org/drawingml/2006/main">
              <a:ext uri="{FF2B5EF4-FFF2-40B4-BE49-F238E27FC236}">
                <a16:creationId xmlns:a16="http://schemas.microsoft.com/office/drawing/2014/main" id="{85B5AFEC-A37E-4B91-ADE4-BA105EF6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409825"/>
            <a:ext cx="14859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QASPER</a:t>
            </a:r>
            <a:endParaRPr sz="112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11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evidence‑matching</a:t>
            </a:r>
            <a:endParaRPr sz="112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11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score</a:t>
            </a:r>
            <a:endParaRPr sz="112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BGE  k = 2">
            <a:extLst xmlns:a="http://schemas.openxmlformats.org/drawingml/2006/main">
              <a:ext uri="{FF2B5EF4-FFF2-40B4-BE49-F238E27FC236}">
                <a16:creationId xmlns:a16="http://schemas.microsoft.com/office/drawing/2014/main" id="{CEAC96CB-7F13-45A2-B86B-C45BC23D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764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BGE  k = 2</a:t>
            </a:r>
            <a:endParaRPr sz="1575" b="1">
              <a:solidFill>
                <a:srgbClr val="0072B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04091E0D-3C19-4A6A-9E97-8947F1CB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1628" y="2238375"/>
            <a:ext cx="1497183" cy="9525"/>
          </a:xfrm>
          <a:custGeom xmlns:a="http://schemas.openxmlformats.org/drawingml/2006/main">
            <a:pathLst>
              <a:path w="1497183" h="9525">
                <a:moveTo>
                  <a:pt x="0" y="0"/>
                </a:moveTo>
                <a:lnTo>
                  <a:pt x="1497183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72B2"/>
            </a:solidFill>
            <a:prstDash val="solid"/>
          </a:ln>
        </p:spPr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7FEF5D58-F8B5-4168-8ACA-57C11B0F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1628" y="2171700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72B2"/>
            </a:solidFill>
            <a:prstDash val="solid"/>
          </a:ln>
        </p:spPr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FDA84554-8C74-4DC0-AF62-19FA8F00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812" y="2171700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72B2"/>
            </a:solidFill>
            <a:prstDash val="solid"/>
          </a:ln>
        </p:spPr>
      </p:sp>
      <p:sp>
        <p:nvSpPr>
          <p:cNvPr id="22" name="椭圆 21">
            <a:extLst xmlns:a="http://schemas.openxmlformats.org/drawingml/2006/main">
              <a:ext uri="{FF2B5EF4-FFF2-40B4-BE49-F238E27FC236}">
                <a16:creationId xmlns:a16="http://schemas.microsoft.com/office/drawing/2014/main" id="{D36D31B2-F7D7-4FCC-96C5-8A3DC3E3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808" y="2171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" name="+0.156  [+0.084, +0.230]">
            <a:extLst xmlns:a="http://schemas.openxmlformats.org/drawingml/2006/main">
              <a:ext uri="{FF2B5EF4-FFF2-40B4-BE49-F238E27FC236}">
                <a16:creationId xmlns:a16="http://schemas.microsoft.com/office/drawing/2014/main" id="{EC281586-B0AE-4E16-B5F0-F5C07217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66925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+0.156  [+0.084, +0.230]</a:t>
            </a:r>
            <a:endParaRPr sz="15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BGE  k = 4">
            <a:extLst xmlns:a="http://schemas.openxmlformats.org/drawingml/2006/main">
              <a:ext uri="{FF2B5EF4-FFF2-40B4-BE49-F238E27FC236}">
                <a16:creationId xmlns:a16="http://schemas.microsoft.com/office/drawing/2014/main" id="{4F1B4DF3-4B56-47EE-8B72-4023934C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4317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BGE  k = 4</a:t>
            </a:r>
            <a:endParaRPr sz="1575" b="1">
              <a:solidFill>
                <a:srgbClr val="0072B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DB1EAC7B-7062-42F5-8CF5-41262A6B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235" y="2705100"/>
            <a:ext cx="1717247" cy="9525"/>
          </a:xfrm>
          <a:custGeom xmlns:a="http://schemas.openxmlformats.org/drawingml/2006/main">
            <a:pathLst>
              <a:path w="1717247" h="9525">
                <a:moveTo>
                  <a:pt x="0" y="0"/>
                </a:moveTo>
                <a:lnTo>
                  <a:pt x="1717247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72B2"/>
            </a:solidFill>
            <a:prstDash val="solid"/>
          </a:ln>
        </p:spPr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B2D860C6-6F43-4E37-9FD3-0751DE71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235" y="2638425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72B2"/>
            </a:solidFill>
            <a:prstDash val="solid"/>
          </a:ln>
        </p:spPr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D8F44433-CCC2-429E-8233-67FAAD43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8482" y="2638425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72B2"/>
            </a:solidFill>
            <a:prstDash val="solid"/>
          </a:ln>
        </p:spPr>
      </p:sp>
      <p:sp>
        <p:nvSpPr>
          <p:cNvPr id="28" name="椭圆 27">
            <a:extLst xmlns:a="http://schemas.openxmlformats.org/drawingml/2006/main">
              <a:ext uri="{FF2B5EF4-FFF2-40B4-BE49-F238E27FC236}">
                <a16:creationId xmlns:a16="http://schemas.microsoft.com/office/drawing/2014/main" id="{64B726B9-EA0B-4235-A173-17375AAB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660" y="2638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" name="+0.165  [+0.083, +0.250]">
            <a:extLst xmlns:a="http://schemas.openxmlformats.org/drawingml/2006/main">
              <a:ext uri="{FF2B5EF4-FFF2-40B4-BE49-F238E27FC236}">
                <a16:creationId xmlns:a16="http://schemas.microsoft.com/office/drawing/2014/main" id="{FAA257A7-20F1-4CC5-BA6E-55EF6134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3365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+0.165  [+0.083, +0.250]</a:t>
            </a:r>
            <a:endParaRPr sz="15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MiniLM  k = 2">
            <a:extLst xmlns:a="http://schemas.openxmlformats.org/drawingml/2006/main">
              <a:ext uri="{FF2B5EF4-FFF2-40B4-BE49-F238E27FC236}">
                <a16:creationId xmlns:a16="http://schemas.microsoft.com/office/drawing/2014/main" id="{97C97B5E-8500-4856-BF9B-66F2A445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099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9E73"/>
                </a:solidFill>
                <a:latin typeface="Arial"/>
                <a:ea typeface="Arial"/>
                <a:cs typeface="Arial"/>
              </a:rPr>
              <a:t>MiniLM  k = 2</a:t>
            </a:r>
            <a:endParaRPr sz="1575" b="0">
              <a:solidFill>
                <a:srgbClr val="009E7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4320BC86-26C2-4357-9C62-79250397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4865" y="3171825"/>
            <a:ext cx="1364328" cy="9525"/>
          </a:xfrm>
          <a:custGeom xmlns:a="http://schemas.openxmlformats.org/drawingml/2006/main">
            <a:pathLst>
              <a:path w="1364328" h="9525">
                <a:moveTo>
                  <a:pt x="0" y="0"/>
                </a:moveTo>
                <a:lnTo>
                  <a:pt x="1364328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9E73"/>
            </a:solidFill>
            <a:prstDash val="solid"/>
          </a:ln>
        </p:spPr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D25BB719-8843-4985-ADC0-9D410929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4865" y="3105150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9E73"/>
            </a:solidFill>
            <a:prstDash val="solid"/>
          </a:ln>
        </p:spPr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8177C64F-D165-42B1-A269-0B22D7DC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192" y="3105150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9E73"/>
            </a:solidFill>
            <a:prstDash val="solid"/>
          </a:ln>
        </p:spPr>
      </p:sp>
      <p:sp>
        <p:nvSpPr>
          <p:cNvPr id="34" name="菱形 33">
            <a:extLst xmlns:a="http://schemas.openxmlformats.org/drawingml/2006/main">
              <a:ext uri="{FF2B5EF4-FFF2-40B4-BE49-F238E27FC236}">
                <a16:creationId xmlns:a16="http://schemas.microsoft.com/office/drawing/2014/main" id="{03C410F8-B3F4-40CD-BA4E-92A8FEA1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749" y="310515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5" name="+0.041  [-0.023, +0.109]">
            <a:extLst xmlns:a="http://schemas.openxmlformats.org/drawingml/2006/main">
              <a:ext uri="{FF2B5EF4-FFF2-40B4-BE49-F238E27FC236}">
                <a16:creationId xmlns:a16="http://schemas.microsoft.com/office/drawing/2014/main" id="{49563F1D-43CF-4AF6-9C95-AC748283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00375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+0.041  [-0.023, +0.109]</a:t>
            </a:r>
            <a:endParaRPr sz="15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MiniLM  k = 4">
            <a:extLst xmlns:a="http://schemas.openxmlformats.org/drawingml/2006/main">
              <a:ext uri="{FF2B5EF4-FFF2-40B4-BE49-F238E27FC236}">
                <a16:creationId xmlns:a16="http://schemas.microsoft.com/office/drawing/2014/main" id="{B2C7B63A-4739-43B1-94B9-23FC4CD4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7662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9E73"/>
                </a:solidFill>
                <a:latin typeface="Arial"/>
                <a:ea typeface="Arial"/>
                <a:cs typeface="Arial"/>
              </a:rPr>
              <a:t>MiniLM  k = 4</a:t>
            </a:r>
            <a:endParaRPr sz="1575" b="0">
              <a:solidFill>
                <a:srgbClr val="009E7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11A14D78-17F3-43E9-A6D6-787F854F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494" y="3638550"/>
            <a:ext cx="1281611" cy="9525"/>
          </a:xfrm>
          <a:custGeom xmlns:a="http://schemas.openxmlformats.org/drawingml/2006/main">
            <a:pathLst>
              <a:path w="1281611" h="9525">
                <a:moveTo>
                  <a:pt x="0" y="0"/>
                </a:moveTo>
                <a:lnTo>
                  <a:pt x="1281611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9E73"/>
            </a:solidFill>
            <a:prstDash val="solid"/>
          </a:ln>
        </p:spPr>
      </p:sp>
      <p:sp>
        <p:nvSpPr>
          <p:cNvPr id="38" name="任意多边形 37">
            <a:extLst xmlns:a="http://schemas.openxmlformats.org/drawingml/2006/main">
              <a:ext uri="{FF2B5EF4-FFF2-40B4-BE49-F238E27FC236}">
                <a16:creationId xmlns:a16="http://schemas.microsoft.com/office/drawing/2014/main" id="{4B561B79-6195-49A6-8F07-51E842CA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494" y="3571875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9E73"/>
            </a:solidFill>
            <a:prstDash val="solid"/>
          </a:ln>
        </p:spPr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64467227-80EF-4821-8586-6F19F4F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104" y="3571875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9E73"/>
            </a:solidFill>
            <a:prstDash val="solid"/>
          </a:ln>
        </p:spPr>
      </p:sp>
      <p:sp>
        <p:nvSpPr>
          <p:cNvPr id="40" name="菱形 39">
            <a:extLst xmlns:a="http://schemas.openxmlformats.org/drawingml/2006/main">
              <a:ext uri="{FF2B5EF4-FFF2-40B4-BE49-F238E27FC236}">
                <a16:creationId xmlns:a16="http://schemas.microsoft.com/office/drawing/2014/main" id="{06BD0C99-00D9-4651-B38D-14E40CA5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945" y="357187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" name="+0.034  [-0.027, +0.097]">
            <a:extLst xmlns:a="http://schemas.openxmlformats.org/drawingml/2006/main">
              <a:ext uri="{FF2B5EF4-FFF2-40B4-BE49-F238E27FC236}">
                <a16:creationId xmlns:a16="http://schemas.microsoft.com/office/drawing/2014/main" id="{349892EB-99B4-4FA1-887E-FD02CB0A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671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+0.034  [-0.027, +0.097]</a:t>
            </a:r>
            <a:endParaRPr sz="15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SciFact&#10;evidence‑sentence&#10;reca">
            <a:extLst xmlns:a="http://schemas.openxmlformats.org/drawingml/2006/main">
              <a:ext uri="{FF2B5EF4-FFF2-40B4-BE49-F238E27FC236}">
                <a16:creationId xmlns:a16="http://schemas.microsoft.com/office/drawing/2014/main" id="{F4FF4D7C-03BE-4092-901E-523F7DC0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4638675"/>
            <a:ext cx="14859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SciFact</a:t>
            </a:r>
            <a:endParaRPr sz="112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11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evidence‑sentence</a:t>
            </a:r>
            <a:endParaRPr sz="112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11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recall</a:t>
            </a:r>
            <a:endParaRPr sz="112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BGE  k = 2">
            <a:extLst xmlns:a="http://schemas.openxmlformats.org/drawingml/2006/main">
              <a:ext uri="{FF2B5EF4-FFF2-40B4-BE49-F238E27FC236}">
                <a16:creationId xmlns:a16="http://schemas.microsoft.com/office/drawing/2014/main" id="{3C844493-5CC5-4115-8F62-A5D2C01D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053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BGE  k = 2</a:t>
            </a:r>
            <a:endParaRPr sz="1575" b="1">
              <a:solidFill>
                <a:srgbClr val="0072B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任意多边形 43">
            <a:extLst xmlns:a="http://schemas.openxmlformats.org/drawingml/2006/main">
              <a:ext uri="{FF2B5EF4-FFF2-40B4-BE49-F238E27FC236}">
                <a16:creationId xmlns:a16="http://schemas.microsoft.com/office/drawing/2014/main" id="{691B1BB7-58F0-45AD-B2A1-2371DC68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220" y="4467225"/>
            <a:ext cx="906710" cy="9525"/>
          </a:xfrm>
          <a:custGeom xmlns:a="http://schemas.openxmlformats.org/drawingml/2006/main">
            <a:pathLst>
              <a:path w="906710" h="9525">
                <a:moveTo>
                  <a:pt x="0" y="0"/>
                </a:moveTo>
                <a:lnTo>
                  <a:pt x="90671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72B2"/>
            </a:solidFill>
            <a:prstDash val="solid"/>
          </a:ln>
        </p:spPr>
      </p:sp>
      <p:sp>
        <p:nvSpPr>
          <p:cNvPr id="45" name="任意多边形 44">
            <a:extLst xmlns:a="http://schemas.openxmlformats.org/drawingml/2006/main">
              <a:ext uri="{FF2B5EF4-FFF2-40B4-BE49-F238E27FC236}">
                <a16:creationId xmlns:a16="http://schemas.microsoft.com/office/drawing/2014/main" id="{191A96BA-65D8-45E7-A0F0-F1BB7C58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220" y="4400550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72B2"/>
            </a:solidFill>
            <a:prstDash val="solid"/>
          </a:ln>
        </p:spPr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6C072101-10CE-4042-AC08-ACF28CDE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2930" y="4400550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72B2"/>
            </a:solidFill>
            <a:prstDash val="solid"/>
          </a:ln>
        </p:spPr>
      </p:sp>
      <p:sp>
        <p:nvSpPr>
          <p:cNvPr id="47" name="椭圆 46">
            <a:extLst xmlns:a="http://schemas.openxmlformats.org/drawingml/2006/main">
              <a:ext uri="{FF2B5EF4-FFF2-40B4-BE49-F238E27FC236}">
                <a16:creationId xmlns:a16="http://schemas.microsoft.com/office/drawing/2014/main" id="{3616572C-270D-4CB3-8D91-8783EAA1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229" y="4400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" name="+0.102  [+0.057, +0.146]">
            <a:extLst xmlns:a="http://schemas.openxmlformats.org/drawingml/2006/main">
              <a:ext uri="{FF2B5EF4-FFF2-40B4-BE49-F238E27FC236}">
                <a16:creationId xmlns:a16="http://schemas.microsoft.com/office/drawing/2014/main" id="{6D11EFEB-3CD3-481D-87F3-ADB955E8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95775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+0.102  [+0.057, +0.146]</a:t>
            </a:r>
            <a:endParaRPr sz="15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BGE  k = 4">
            <a:extLst xmlns:a="http://schemas.openxmlformats.org/drawingml/2006/main">
              <a:ext uri="{FF2B5EF4-FFF2-40B4-BE49-F238E27FC236}">
                <a16:creationId xmlns:a16="http://schemas.microsoft.com/office/drawing/2014/main" id="{9C2B5940-0138-4C42-9252-CEC03396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7202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BGE  k = 4</a:t>
            </a:r>
            <a:endParaRPr sz="1575" b="1">
              <a:solidFill>
                <a:srgbClr val="0072B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任意多边形 49">
            <a:extLst xmlns:a="http://schemas.openxmlformats.org/drawingml/2006/main">
              <a:ext uri="{FF2B5EF4-FFF2-40B4-BE49-F238E27FC236}">
                <a16:creationId xmlns:a16="http://schemas.microsoft.com/office/drawing/2014/main" id="{29929067-9467-4373-A77A-9144619B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415" y="4933950"/>
            <a:ext cx="962229" cy="9525"/>
          </a:xfrm>
          <a:custGeom xmlns:a="http://schemas.openxmlformats.org/drawingml/2006/main">
            <a:pathLst>
              <a:path w="962229" h="9525">
                <a:moveTo>
                  <a:pt x="0" y="0"/>
                </a:moveTo>
                <a:lnTo>
                  <a:pt x="962229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72B2"/>
            </a:solidFill>
            <a:prstDash val="solid"/>
          </a:ln>
        </p:spPr>
      </p:sp>
      <p:sp>
        <p:nvSpPr>
          <p:cNvPr id="51" name="任意多边形 50">
            <a:extLst xmlns:a="http://schemas.openxmlformats.org/drawingml/2006/main">
              <a:ext uri="{FF2B5EF4-FFF2-40B4-BE49-F238E27FC236}">
                <a16:creationId xmlns:a16="http://schemas.microsoft.com/office/drawing/2014/main" id="{96C3450F-CA40-4132-AF5F-0D50EC42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415" y="4867275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72B2"/>
            </a:solidFill>
            <a:prstDash val="solid"/>
          </a:ln>
        </p:spPr>
      </p:sp>
      <p:sp>
        <p:nvSpPr>
          <p:cNvPr id="52" name="任意多边形 51">
            <a:extLst xmlns:a="http://schemas.openxmlformats.org/drawingml/2006/main">
              <a:ext uri="{FF2B5EF4-FFF2-40B4-BE49-F238E27FC236}">
                <a16:creationId xmlns:a16="http://schemas.microsoft.com/office/drawing/2014/main" id="{BA529BB3-3056-46DC-885E-0623CDB0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645" y="4867275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72B2"/>
            </a:solidFill>
            <a:prstDash val="solid"/>
          </a:ln>
        </p:spPr>
      </p:sp>
      <p:sp>
        <p:nvSpPr>
          <p:cNvPr id="53" name="椭圆 52">
            <a:extLst xmlns:a="http://schemas.openxmlformats.org/drawingml/2006/main">
              <a:ext uri="{FF2B5EF4-FFF2-40B4-BE49-F238E27FC236}">
                <a16:creationId xmlns:a16="http://schemas.microsoft.com/office/drawing/2014/main" id="{CA8DFA55-36E8-44BB-B3D3-6E230E5E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564" y="4867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" name="+0.125  [+0.078, +0.171]">
            <a:extLst xmlns:a="http://schemas.openxmlformats.org/drawingml/2006/main">
              <a:ext uri="{FF2B5EF4-FFF2-40B4-BE49-F238E27FC236}">
                <a16:creationId xmlns:a16="http://schemas.microsoft.com/office/drawing/2014/main" id="{AC76C534-4985-407A-880E-D2AAC17D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625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+0.125  [+0.078, +0.171]</a:t>
            </a:r>
            <a:endParaRPr sz="15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MiniLM  k = 2">
            <a:extLst xmlns:a="http://schemas.openxmlformats.org/drawingml/2006/main">
              <a:ext uri="{FF2B5EF4-FFF2-40B4-BE49-F238E27FC236}">
                <a16:creationId xmlns:a16="http://schemas.microsoft.com/office/drawing/2014/main" id="{7AAAC4CB-59A0-4929-9A46-3B4C1FDF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387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9E73"/>
                </a:solidFill>
                <a:latin typeface="Arial"/>
                <a:ea typeface="Arial"/>
                <a:cs typeface="Arial"/>
              </a:rPr>
              <a:t>MiniLM  k = 2</a:t>
            </a:r>
            <a:endParaRPr sz="1575" b="0">
              <a:solidFill>
                <a:srgbClr val="009E7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任意多边形 55">
            <a:extLst xmlns:a="http://schemas.openxmlformats.org/drawingml/2006/main">
              <a:ext uri="{FF2B5EF4-FFF2-40B4-BE49-F238E27FC236}">
                <a16:creationId xmlns:a16="http://schemas.microsoft.com/office/drawing/2014/main" id="{B6DD4597-2C48-4D66-BACE-627A8717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494" y="5400675"/>
            <a:ext cx="987676" cy="9525"/>
          </a:xfrm>
          <a:custGeom xmlns:a="http://schemas.openxmlformats.org/drawingml/2006/main">
            <a:pathLst>
              <a:path w="987676" h="9525">
                <a:moveTo>
                  <a:pt x="0" y="0"/>
                </a:moveTo>
                <a:lnTo>
                  <a:pt x="987676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9E73"/>
            </a:solidFill>
            <a:prstDash val="solid"/>
          </a:ln>
        </p:spPr>
      </p:sp>
      <p:sp>
        <p:nvSpPr>
          <p:cNvPr id="57" name="任意多边形 56">
            <a:extLst xmlns:a="http://schemas.openxmlformats.org/drawingml/2006/main">
              <a:ext uri="{FF2B5EF4-FFF2-40B4-BE49-F238E27FC236}">
                <a16:creationId xmlns:a16="http://schemas.microsoft.com/office/drawing/2014/main" id="{70CE8614-F8AE-40FF-A46A-F3036C5E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494" y="5334000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9E73"/>
            </a:solidFill>
            <a:prstDash val="solid"/>
          </a:ln>
        </p:spPr>
      </p:sp>
      <p:sp>
        <p:nvSpPr>
          <p:cNvPr id="58" name="任意多边形 57">
            <a:extLst xmlns:a="http://schemas.openxmlformats.org/drawingml/2006/main">
              <a:ext uri="{FF2B5EF4-FFF2-40B4-BE49-F238E27FC236}">
                <a16:creationId xmlns:a16="http://schemas.microsoft.com/office/drawing/2014/main" id="{1F3FAEED-5462-469F-A7D5-34A2F47D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170" y="5334000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9E73"/>
            </a:solidFill>
            <a:prstDash val="solid"/>
          </a:ln>
        </p:spPr>
      </p:sp>
      <p:sp>
        <p:nvSpPr>
          <p:cNvPr id="59" name="菱形 58">
            <a:extLst xmlns:a="http://schemas.openxmlformats.org/drawingml/2006/main">
              <a:ext uri="{FF2B5EF4-FFF2-40B4-BE49-F238E27FC236}">
                <a16:creationId xmlns:a16="http://schemas.microsoft.com/office/drawing/2014/main" id="{E4799759-DF12-42A9-9943-6CC05BAA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197" y="53340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0" name="+0.020  [-0.028, +0.068]">
            <a:extLst xmlns:a="http://schemas.openxmlformats.org/drawingml/2006/main">
              <a:ext uri="{FF2B5EF4-FFF2-40B4-BE49-F238E27FC236}">
                <a16:creationId xmlns:a16="http://schemas.microsoft.com/office/drawing/2014/main" id="{64D6B5CA-B67D-492E-812B-93CFBE56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229225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+0.020  [-0.028, +0.068]</a:t>
            </a:r>
            <a:endParaRPr sz="15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MiniLM  k = 4">
            <a:extLst xmlns:a="http://schemas.openxmlformats.org/drawingml/2006/main">
              <a:ext uri="{FF2B5EF4-FFF2-40B4-BE49-F238E27FC236}">
                <a16:creationId xmlns:a16="http://schemas.microsoft.com/office/drawing/2014/main" id="{5E7F7774-5D2D-4ABB-9C06-8223BC97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70547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9E73"/>
                </a:solidFill>
                <a:latin typeface="Arial"/>
                <a:ea typeface="Arial"/>
                <a:cs typeface="Arial"/>
              </a:rPr>
              <a:t>MiniLM  k = 4</a:t>
            </a:r>
            <a:endParaRPr sz="1575" b="0">
              <a:solidFill>
                <a:srgbClr val="009E7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任意多边形 61">
            <a:extLst xmlns:a="http://schemas.openxmlformats.org/drawingml/2006/main">
              <a:ext uri="{FF2B5EF4-FFF2-40B4-BE49-F238E27FC236}">
                <a16:creationId xmlns:a16="http://schemas.microsoft.com/office/drawing/2014/main" id="{C843A91F-AE64-40BD-9F5E-1CD38692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910" y="5867400"/>
            <a:ext cx="1032896" cy="9525"/>
          </a:xfrm>
          <a:custGeom xmlns:a="http://schemas.openxmlformats.org/drawingml/2006/main">
            <a:pathLst>
              <a:path w="1032896" h="9525">
                <a:moveTo>
                  <a:pt x="0" y="0"/>
                </a:moveTo>
                <a:lnTo>
                  <a:pt x="1032896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9E73"/>
            </a:solidFill>
            <a:prstDash val="solid"/>
          </a:ln>
        </p:spPr>
      </p:sp>
      <p:sp>
        <p:nvSpPr>
          <p:cNvPr id="63" name="任意多边形 62">
            <a:extLst xmlns:a="http://schemas.openxmlformats.org/drawingml/2006/main">
              <a:ext uri="{FF2B5EF4-FFF2-40B4-BE49-F238E27FC236}">
                <a16:creationId xmlns:a16="http://schemas.microsoft.com/office/drawing/2014/main" id="{4655EDAF-5A5F-4C13-A53C-245AAB9B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910" y="5800725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9E73"/>
            </a:solidFill>
            <a:prstDash val="solid"/>
          </a:ln>
        </p:spPr>
      </p:sp>
      <p:sp>
        <p:nvSpPr>
          <p:cNvPr id="64" name="任意多边形 63">
            <a:extLst xmlns:a="http://schemas.openxmlformats.org/drawingml/2006/main">
              <a:ext uri="{FF2B5EF4-FFF2-40B4-BE49-F238E27FC236}">
                <a16:creationId xmlns:a16="http://schemas.microsoft.com/office/drawing/2014/main" id="{23EE7A86-98B0-452B-9A95-733D07A6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806" y="5800725"/>
            <a:ext cx="9525" cy="133350"/>
          </a:xfrm>
          <a:custGeom xmlns:a="http://schemas.openxmlformats.org/drawingml/2006/main">
            <a:pathLst>
              <a:path w="9525" h="133350">
                <a:moveTo>
                  <a:pt x="0" y="0"/>
                </a:moveTo>
                <a:lnTo>
                  <a:pt x="95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9E73"/>
            </a:solidFill>
            <a:prstDash val="solid"/>
          </a:ln>
        </p:spPr>
      </p:sp>
      <p:sp>
        <p:nvSpPr>
          <p:cNvPr id="65" name="菱形 64">
            <a:extLst xmlns:a="http://schemas.openxmlformats.org/drawingml/2006/main">
              <a:ext uri="{FF2B5EF4-FFF2-40B4-BE49-F238E27FC236}">
                <a16:creationId xmlns:a16="http://schemas.microsoft.com/office/drawing/2014/main" id="{447B42EF-0BC5-4151-B77D-48D2834A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358" y="580072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6" name="+0.062  [+0.011, +0.112]">
            <a:extLst xmlns:a="http://schemas.openxmlformats.org/drawingml/2006/main">
              <a:ext uri="{FF2B5EF4-FFF2-40B4-BE49-F238E27FC236}">
                <a16:creationId xmlns:a16="http://schemas.microsoft.com/office/drawing/2014/main" id="{EE394250-2355-4F92-AB33-645BD114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69595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+0.062  [+0.011, +0.112]</a:t>
            </a:r>
            <a:endParaRPr sz="15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任意多边形 66">
            <a:extLst xmlns:a="http://schemas.openxmlformats.org/drawingml/2006/main">
              <a:ext uri="{FF2B5EF4-FFF2-40B4-BE49-F238E27FC236}">
                <a16:creationId xmlns:a16="http://schemas.microsoft.com/office/drawing/2014/main" id="{BC5AA8CB-EF80-4804-822E-CFF727F1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171950"/>
            <a:ext cx="11325225" cy="9525"/>
          </a:xfrm>
          <a:custGeom xmlns:a="http://schemas.openxmlformats.org/drawingml/2006/main">
            <a:pathLst>
              <a:path w="11325225" h="9525">
                <a:moveTo>
                  <a:pt x="0" y="0"/>
                </a:moveTo>
                <a:lnTo>
                  <a:pt x="11325225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8" name="任意多边形 67">
            <a:extLst xmlns:a="http://schemas.openxmlformats.org/drawingml/2006/main">
              <a:ext uri="{FF2B5EF4-FFF2-40B4-BE49-F238E27FC236}">
                <a16:creationId xmlns:a16="http://schemas.microsoft.com/office/drawing/2014/main" id="{9430F570-FB90-4BBE-85CC-DC7CACBA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05650"/>
            <a:ext cx="11315700" cy="9525"/>
          </a:xfrm>
          <a:custGeom xmlns:a="http://schemas.openxmlformats.org/drawingml/2006/main">
            <a:pathLst>
              <a:path w="11315700" h="9525">
                <a:moveTo>
                  <a:pt x="0" y="0"/>
                </a:moveTo>
                <a:lnTo>
                  <a:pt x="113157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9" name="20,000 resamples; 75 paper clu">
            <a:extLst xmlns:a="http://schemas.openxmlformats.org/drawingml/2006/main">
              <a:ext uri="{FF2B5EF4-FFF2-40B4-BE49-F238E27FC236}">
                <a16:creationId xmlns:a16="http://schemas.microsoft.com/office/drawing/2014/main" id="{0D82B18F-BA8B-4D8D-8663-0BE6217A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62800"/>
            <a:ext cx="1131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20,000 resamples; 75 paper clusters for QASPER and 188 claim clusters for SciFact. Intervals are exploratory.</a:t>
            </a:r>
            <a:endParaRPr sz="1275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77207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omplete coverage and recovery">
            <a:extLst xmlns:a="http://schemas.openxmlformats.org/drawingml/2006/main">
              <a:ext uri="{FF2B5EF4-FFF2-40B4-BE49-F238E27FC236}">
                <a16:creationId xmlns:a16="http://schemas.microsoft.com/office/drawing/2014/main" id="{BEA6469E-318A-435B-ABD6-1C81CDD8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135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Complete coverage and recovery from a leading view</a:t>
            </a:r>
            <a:endParaRPr sz="247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SciFact development subset; ea">
            <a:extLst xmlns:a="http://schemas.openxmlformats.org/drawingml/2006/main">
              <a:ext uri="{FF2B5EF4-FFF2-40B4-BE49-F238E27FC236}">
                <a16:creationId xmlns:a16="http://schemas.microsoft.com/office/drawing/2014/main" id="{961FC124-5A09-4346-A680-073EBF9E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42950"/>
            <a:ext cx="1131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SciFact development subset; each observation is one annotated evidence set, n = 338</a:t>
            </a:r>
            <a:endParaRPr sz="140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95FB4F16-FE1F-4E23-B390-C3F0B7C5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0150"/>
            <a:ext cx="11315700" cy="9525"/>
          </a:xfrm>
          <a:custGeom xmlns:a="http://schemas.openxmlformats.org/drawingml/2006/main">
            <a:pathLst>
              <a:path w="11315700" h="9525">
                <a:moveTo>
                  <a:pt x="0" y="0"/>
                </a:moveTo>
                <a:lnTo>
                  <a:pt x="113157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B2733"/>
            </a:solidFill>
            <a:prstDash val="solid"/>
          </a:ln>
        </p:spPr>
      </p:sp>
      <p:sp>
        <p:nvSpPr>
          <p:cNvPr id="4" name="A  Complete coverage at equal ">
            <a:extLst xmlns:a="http://schemas.openxmlformats.org/drawingml/2006/main">
              <a:ext uri="{FF2B5EF4-FFF2-40B4-BE49-F238E27FC236}">
                <a16:creationId xmlns:a16="http://schemas.microsoft.com/office/drawing/2014/main" id="{92D4F256-26BD-423E-93EA-0CB2FA8C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A  Complete coverage at equal budgets</a:t>
            </a:r>
            <a:endParaRPr sz="18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361950" y="2047875"/>
          <a:ext xmlns:a="http://schemas.openxmlformats.org/drawingml/2006/main" cx="561975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cb9079b08a4e22"/>
          </a:graphicData>
        </a:graphic>
      </p:graphicFrame>
      <p:sp>
        <p:nvSpPr>
          <p:cNvPr id="6" name="B  Lead-2 → BGE top-4 transiti">
            <a:extLst xmlns:a="http://schemas.openxmlformats.org/drawingml/2006/main">
              <a:ext uri="{FF2B5EF4-FFF2-40B4-BE49-F238E27FC236}">
                <a16:creationId xmlns:a16="http://schemas.microsoft.com/office/drawing/2014/main" id="{5AE97147-8AC1-4146-B9BD-8D7A8ADF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668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B  Lead-2 → BGE top-4 transition</a:t>
            </a:r>
            <a:endParaRPr sz="172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Evidence-set counts">
            <a:extLst xmlns:a="http://schemas.openxmlformats.org/drawingml/2006/main">
              <a:ext uri="{FF2B5EF4-FFF2-40B4-BE49-F238E27FC236}">
                <a16:creationId xmlns:a16="http://schemas.microsoft.com/office/drawing/2014/main" id="{3E6BDD60-D5A9-4697-B045-30050C0C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Evidence</a:t>
            </a:r>
            <a:r>
              <a:rPr sz="135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-set counts</a:t>
            </a:r>
            <a:endParaRPr sz="135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4" name="表格 20"/>
          <p:cNvGraphicFramePr/>
          <p:nvPr/>
        </p:nvGraphicFramePr>
        <p:xfrm>
          <a:off xmlns:a="http://schemas.openxmlformats.org/drawingml/2006/main" x="6524625" y="2314575"/>
          <a:ext xmlns:a="http://schemas.openxmlformats.org/drawingml/2006/main" cx="5143500" cy="2305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71650"/>
                <a:gridCol w="1685925"/>
                <a:gridCol w="1685925"/>
              </a:tblGrid>
              <a:tr h="768350">
                <a:tc>
                  <a:txBody>
                    <a:bodyPr/>
                    <a:lstStyle/>
                    <a:p>
                      <a:endParaRPr sz="1500" b="1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BGE-4</a:t>
                      </a:r>
                      <a:endParaRPr sz="1500" b="1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complete</a:t>
                      </a:r>
                      <a:endParaRPr sz="1500" b="1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BGE-4</a:t>
                      </a:r>
                      <a:endParaRPr sz="1500" b="1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incomplete</a:t>
                      </a:r>
                      <a:endParaRPr sz="1500" b="1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solidFill>
                      <a:srgbClr val="F4F7F9"/>
                    </a:solidFill>
                  </a:tcPr>
                </a:tc>
              </a:tr>
              <a:tr h="768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Lead-2</a:t>
                      </a:r>
                      <a:endParaRPr sz="1500" b="1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complete</a:t>
                      </a:r>
                      <a:endParaRPr sz="1500" b="1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27</a:t>
                      </a:r>
                      <a:endParaRPr sz="2325" b="0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endParaRPr sz="2325" b="0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solidFill>
                      <a:srgbClr val="FFFFFF"/>
                    </a:solidFill>
                  </a:tcPr>
                </a:tc>
              </a:tr>
              <a:tr h="768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Lead-2</a:t>
                      </a:r>
                      <a:endParaRPr sz="1500" b="1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incomplete</a:t>
                      </a:r>
                      <a:endParaRPr sz="1500" b="1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234</a:t>
                      </a:r>
                      <a:endParaRPr sz="2325" b="0">
                        <a:solidFill>
                          <a:srgbClr val="0072B2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0">
                          <a:solidFill>
                            <a:srgbClr val="1B2733"/>
                          </a:solidFill>
                          <a:latin typeface="Arial"/>
                          <a:ea typeface="Arial"/>
                          <a:cs typeface="Arial"/>
                        </a:rPr>
                        <a:t>76</a:t>
                      </a:r>
                      <a:endParaRPr sz="2325" b="0">
                        <a:solidFill>
                          <a:srgbClr val="1B2733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6200" marR="762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234 / 310 = 75.5% recovered">
            <a:extLst xmlns:a="http://schemas.openxmlformats.org/drawingml/2006/main">
              <a:ext uri="{FF2B5EF4-FFF2-40B4-BE49-F238E27FC236}">
                <a16:creationId xmlns:a16="http://schemas.microsoft.com/office/drawing/2014/main" id="{DE1E8533-AB61-4FB0-9B66-31CB1D32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72050"/>
            <a:ext cx="501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234 / 310 = 75.5% recovered</a:t>
            </a:r>
            <a:endParaRPr sz="2025" b="1">
              <a:solidFill>
                <a:srgbClr val="0072B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1 / 28 Lead-2 successes lost">
            <a:extLst xmlns:a="http://schemas.openxmlformats.org/drawingml/2006/main">
              <a:ext uri="{FF2B5EF4-FFF2-40B4-BE49-F238E27FC236}">
                <a16:creationId xmlns:a16="http://schemas.microsoft.com/office/drawing/2014/main" id="{4CA3F6D5-A6CF-4230-80F8-1CC9F5D8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14975"/>
            <a:ext cx="501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1 / 28 Lead-2 successes lost</a:t>
            </a:r>
            <a:endParaRPr sz="1575" b="0">
              <a:solidFill>
                <a:srgbClr val="D55E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his transition changes both s">
            <a:extLst xmlns:a="http://schemas.openxmlformats.org/drawingml/2006/main">
              <a:ext uri="{FF2B5EF4-FFF2-40B4-BE49-F238E27FC236}">
                <a16:creationId xmlns:a16="http://schemas.microsoft.com/office/drawing/2014/main" id="{47FDC274-385D-4E3C-97D7-EC927784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115050"/>
            <a:ext cx="5010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6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This transition changes both selector and budget.</a:t>
            </a:r>
            <a:endParaRPr sz="160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207BC9E9-7F23-4087-B13C-CE338840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05650"/>
            <a:ext cx="11315700" cy="9525"/>
          </a:xfrm>
          <a:custGeom xmlns:a="http://schemas.openxmlformats.org/drawingml/2006/main">
            <a:pathLst>
              <a:path w="11315700" h="9525">
                <a:moveTo>
                  <a:pt x="0" y="0"/>
                </a:moveTo>
                <a:lnTo>
                  <a:pt x="113157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3" name="Equal-budget performance is sh">
            <a:extLst xmlns:a="http://schemas.openxmlformats.org/drawingml/2006/main">
              <a:ext uri="{FF2B5EF4-FFF2-40B4-BE49-F238E27FC236}">
                <a16:creationId xmlns:a16="http://schemas.microsoft.com/office/drawing/2014/main" id="{E527505D-CBED-4239-8F7A-452FD339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62800"/>
            <a:ext cx="1131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Equal-budget performance is shown in Panel A; Panel B describes an interface replacement.</a:t>
            </a:r>
            <a:endParaRPr sz="1275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2042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raceable source inspection ca">
            <a:extLst xmlns:a="http://schemas.openxmlformats.org/drawingml/2006/main">
              <a:ext uri="{FF2B5EF4-FFF2-40B4-BE49-F238E27FC236}">
                <a16:creationId xmlns:a16="http://schemas.microsoft.com/office/drawing/2014/main" id="{AA3774A1-9CD5-405D-B143-3DF79F4A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1135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Traceable source inspection cases</a:t>
            </a:r>
            <a:endParaRPr sz="247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A ranked short view can recove">
            <a:extLst xmlns:a="http://schemas.openxmlformats.org/drawingml/2006/main">
              <a:ext uri="{FF2B5EF4-FFF2-40B4-BE49-F238E27FC236}">
                <a16:creationId xmlns:a16="http://schemas.microsoft.com/office/drawing/2014/main" id="{769AF3BA-3DA0-4E24-AA8E-0D8DB671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42950"/>
            <a:ext cx="1131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A ranked short view can recover distant evidence, yet it cannot certify that all annotated evidence is visible.</a:t>
            </a:r>
            <a:endParaRPr sz="1425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698E7711-8C12-4701-96BE-F28CB3FD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0150"/>
            <a:ext cx="11315700" cy="9525"/>
          </a:xfrm>
          <a:custGeom xmlns:a="http://schemas.openxmlformats.org/drawingml/2006/main">
            <a:pathLst>
              <a:path w="11315700" h="9525">
                <a:moveTo>
                  <a:pt x="0" y="0"/>
                </a:moveTo>
                <a:lnTo>
                  <a:pt x="113157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B2733"/>
            </a:solidFill>
            <a:prstDash val="solid"/>
          </a:ln>
        </p:spPr>
      </p:sp>
      <p:sp>
        <p:nvSpPr>
          <p:cNvPr id="4" name="Recovery case panel">
            <a:extLst xmlns:a="http://schemas.openxmlformats.org/drawingml/2006/main">
              <a:ext uri="{FF2B5EF4-FFF2-40B4-BE49-F238E27FC236}">
                <a16:creationId xmlns:a16="http://schemas.microsoft.com/office/drawing/2014/main" id="{8AC0683C-B6F2-4CD7-8E8D-F572F99A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5429250" cy="4486275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EEF7FC"/>
          </a:solidFill>
          <a:ln xmlns:a="http://schemas.openxmlformats.org/drawingml/2006/main" w="11906">
            <a:solidFill>
              <a:srgbClr val="438DB8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Residual omission case panel">
            <a:extLst xmlns:a="http://schemas.openxmlformats.org/drawingml/2006/main">
              <a:ext uri="{FF2B5EF4-FFF2-40B4-BE49-F238E27FC236}">
                <a16:creationId xmlns:a16="http://schemas.microsoft.com/office/drawing/2014/main" id="{F8C12F07-2C7F-488C-93C2-5F8DC534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38275"/>
            <a:ext cx="5429250" cy="4486275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4EA"/>
          </a:solidFill>
          <a:ln xmlns:a="http://schemas.openxmlformats.org/drawingml/2006/main" w="11906">
            <a:solidFill>
              <a:srgbClr val="D89059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" name="A  RECOVERY">
            <a:extLst xmlns:a="http://schemas.openxmlformats.org/drawingml/2006/main">
              <a:ext uri="{FF2B5EF4-FFF2-40B4-BE49-F238E27FC236}">
                <a16:creationId xmlns:a16="http://schemas.microsoft.com/office/drawing/2014/main" id="{302B9953-011E-45D7-8020-DFAFA294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333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F9F9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 RECOVERY</a:t>
            </a:r>
            <a:endParaRPr sz="10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BGE finds evidence outside the">
            <a:extLst xmlns:a="http://schemas.openxmlformats.org/drawingml/2006/main">
              <a:ext uri="{FF2B5EF4-FFF2-40B4-BE49-F238E27FC236}">
                <a16:creationId xmlns:a16="http://schemas.microsoft.com/office/drawing/2014/main" id="{354EE69C-3305-4FEB-ACE9-FFB9BD91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BGE finds evidence outside the lead view</a:t>
            </a:r>
            <a:endParaRPr sz="16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QASPER paper 1709.05036">
            <a:extLst xmlns:a="http://schemas.openxmlformats.org/drawingml/2006/main">
              <a:ext uri="{FF2B5EF4-FFF2-40B4-BE49-F238E27FC236}">
                <a16:creationId xmlns:a16="http://schemas.microsoft.com/office/drawing/2014/main" id="{5343A270-C494-4B93-B713-F33FC6A0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QASPER paper 1709.05036</a:t>
            </a:r>
            <a:endParaRPr sz="100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Question: Was the model evalua">
            <a:extLst xmlns:a="http://schemas.openxmlformats.org/drawingml/2006/main">
              <a:ext uri="{FF2B5EF4-FFF2-40B4-BE49-F238E27FC236}">
                <a16:creationId xmlns:a16="http://schemas.microsoft.com/office/drawing/2014/main" id="{FCFDC22E-1EF7-4AF1-AA47-4D596B4D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0101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1DCE2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Question: Was the model evaluated beyond MovieQA?</a:t>
            </a:r>
            <a:endParaRPr sz="12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92A21342-BE0C-4780-A560-F738BE1B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2098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1DCE2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Leading short view">
            <a:extLst xmlns:a="http://schemas.openxmlformats.org/drawingml/2006/main">
              <a:ext uri="{FF2B5EF4-FFF2-40B4-BE49-F238E27FC236}">
                <a16:creationId xmlns:a16="http://schemas.microsoft.com/office/drawing/2014/main" id="{7FAF7E5C-7663-4718-81D3-30C7D520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B6872"/>
                </a:solidFill>
                <a:latin typeface="Arial"/>
                <a:ea typeface="Arial"/>
                <a:cs typeface="Arial"/>
              </a:rPr>
              <a:t>Leading short view</a:t>
            </a:r>
            <a:endParaRPr sz="1200" b="1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Lead-2: P1–P2&#10;Annotated eviden">
            <a:extLst xmlns:a="http://schemas.openxmlformats.org/drawingml/2006/main">
              <a:ext uri="{FF2B5EF4-FFF2-40B4-BE49-F238E27FC236}">
                <a16:creationId xmlns:a16="http://schemas.microsoft.com/office/drawing/2014/main" id="{2F6A308E-8357-4823-9507-68D7EC9A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7187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Lead-2: P1–P2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97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Annotated evidence at P27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97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remains outside this view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overy rerank arrow">
            <a:extLst xmlns:a="http://schemas.openxmlformats.org/drawingml/2006/main">
              <a:ext uri="{FF2B5EF4-FFF2-40B4-BE49-F238E27FC236}">
                <a16:creationId xmlns:a16="http://schemas.microsoft.com/office/drawing/2014/main" id="{1A56FC7B-BA3F-420A-A587-2D44AB5D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67100"/>
            <a:ext cx="5143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9F9A"/>
          </a:solidFill>
          <a:ln xmlns:a="http://schemas.openxmlformats.org/drawingml/2006/main" w="0">
            <a:solidFill>
              <a:srgbClr val="0F9F9A"/>
            </a:solidFill>
          </a:ln>
        </p:spPr>
      </p:sp>
      <p:sp>
        <p:nvSpPr>
          <p:cNvPr id="14" name="rerank">
            <a:extLst xmlns:a="http://schemas.openxmlformats.org/drawingml/2006/main">
              <a:ext uri="{FF2B5EF4-FFF2-40B4-BE49-F238E27FC236}">
                <a16:creationId xmlns:a16="http://schemas.microsoft.com/office/drawing/2014/main" id="{1FA22697-D887-4625-9FC4-9664F6A8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857625"/>
            <a:ext cx="552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087B78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87B78"/>
                </a:solidFill>
                <a:latin typeface="Arial"/>
                <a:ea typeface="Arial"/>
                <a:cs typeface="Arial"/>
              </a:rPr>
              <a:t>rerank</a:t>
            </a:r>
            <a:endParaRPr sz="1000" b="1">
              <a:solidFill>
                <a:srgbClr val="087B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EBFAF018-7542-4277-97D4-B6EEF79B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81350"/>
            <a:ext cx="20383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0F5F2"/>
          </a:solidFill>
          <a:ln xmlns:a="http://schemas.openxmlformats.org/drawingml/2006/main" w="11906">
            <a:solidFill>
              <a:srgbClr val="0F9F9A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" name="BGE top-2">
            <a:extLst xmlns:a="http://schemas.openxmlformats.org/drawingml/2006/main">
              <a:ext uri="{FF2B5EF4-FFF2-40B4-BE49-F238E27FC236}">
                <a16:creationId xmlns:a16="http://schemas.microsoft.com/office/drawing/2014/main" id="{91EF048C-440B-4E02-87B7-A5AFDCE6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956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87B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B78"/>
                </a:solidFill>
                <a:latin typeface="Arial"/>
                <a:ea typeface="Arial"/>
                <a:cs typeface="Arial"/>
              </a:rPr>
              <a:t>BGE top-2</a:t>
            </a:r>
            <a:endParaRPr sz="1200" b="1">
              <a:solidFill>
                <a:srgbClr val="087B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P27  ·  names MCTest">
            <a:extLst xmlns:a="http://schemas.openxmlformats.org/drawingml/2006/main">
              <a:ext uri="{FF2B5EF4-FFF2-40B4-BE49-F238E27FC236}">
                <a16:creationId xmlns:a16="http://schemas.microsoft.com/office/drawing/2014/main" id="{BBCCA091-C51D-44B2-95DD-CCF76E7A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81400"/>
            <a:ext cx="1676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0F9F9A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40" b="1">
                <a:solidFill>
                  <a:srgbClr val="087B78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087B78"/>
                </a:solidFill>
                <a:latin typeface="Arial"/>
                <a:ea typeface="Arial"/>
                <a:cs typeface="Arial"/>
              </a:rPr>
              <a:t>P27  ·  names MCTest</a:t>
            </a:r>
            <a:endParaRPr sz="1000" b="1">
              <a:solidFill>
                <a:srgbClr val="087B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P36 also selected">
            <a:extLst xmlns:a="http://schemas.openxmlformats.org/drawingml/2006/main">
              <a:ext uri="{FF2B5EF4-FFF2-40B4-BE49-F238E27FC236}">
                <a16:creationId xmlns:a16="http://schemas.microsoft.com/office/drawing/2014/main" id="{87C7428E-E5C7-403D-A35D-96E8548D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6240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P36 also selected</a:t>
            </a:r>
            <a:endParaRPr sz="100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4F6FE8FD-F065-4B88-B365-E003E952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5010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1DCE2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0" name="Observed result: BGE top-2 sco">
            <a:extLst xmlns:a="http://schemas.openxmlformats.org/drawingml/2006/main">
              <a:ext uri="{FF2B5EF4-FFF2-40B4-BE49-F238E27FC236}">
                <a16:creationId xmlns:a16="http://schemas.microsoft.com/office/drawing/2014/main" id="{F4E1E7D8-7B66-430E-853C-FD67D5B1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4714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Observed result: BGE top-2 score 1.000   |   lexical 0.150   |   BM25 0.262</a:t>
            </a:r>
            <a:endParaRPr sz="10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ource-inspection cue: show po">
            <a:extLst xmlns:a="http://schemas.openxmlformats.org/drawingml/2006/main">
              <a:ext uri="{FF2B5EF4-FFF2-40B4-BE49-F238E27FC236}">
                <a16:creationId xmlns:a16="http://schemas.microsoft.com/office/drawing/2014/main" id="{B0B385CE-D86C-4873-BF34-EF550658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5010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0F5F2"/>
          </a:solidFill>
          <a:ln xmlns:a="http://schemas.openxmlformats.org/drawingml/2006/main" w="11906">
            <a:solidFill>
              <a:srgbClr val="0F9F9A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87B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B78"/>
                </a:solidFill>
                <a:latin typeface="Arial"/>
                <a:ea typeface="Arial"/>
                <a:cs typeface="Arial"/>
              </a:rPr>
              <a:t>Source-context descriptor: show position P27 and open the original paper.</a:t>
            </a:r>
            <a:endParaRPr sz="1200" b="1">
              <a:solidFill>
                <a:srgbClr val="087B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B  RESIDUAL OMISSION">
            <a:extLst xmlns:a="http://schemas.openxmlformats.org/drawingml/2006/main">
              <a:ext uri="{FF2B5EF4-FFF2-40B4-BE49-F238E27FC236}">
                <a16:creationId xmlns:a16="http://schemas.microsoft.com/office/drawing/2014/main" id="{77E51DAF-5574-4D70-A11A-D30B6EDE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  RESIDUAL OMISSION</a:t>
            </a:r>
            <a:endParaRPr sz="10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A strong ranked view can still">
            <a:extLst xmlns:a="http://schemas.openxmlformats.org/drawingml/2006/main">
              <a:ext uri="{FF2B5EF4-FFF2-40B4-BE49-F238E27FC236}">
                <a16:creationId xmlns:a16="http://schemas.microsoft.com/office/drawing/2014/main" id="{F4F59629-1F36-4592-96DF-E7583612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716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A strong ranked view can still omit evidence</a:t>
            </a:r>
            <a:endParaRPr sz="1425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ciFact dev claim 3  ·  docume">
            <a:extLst xmlns:a="http://schemas.openxmlformats.org/drawingml/2006/main">
              <a:ext uri="{FF2B5EF4-FFF2-40B4-BE49-F238E27FC236}">
                <a16:creationId xmlns:a16="http://schemas.microsoft.com/office/drawing/2014/main" id="{D1627730-EE63-4366-97A1-D2D39F04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SciFact dev claim 3  ·  document 14717500  ·  8 abstract sentences</a:t>
            </a:r>
            <a:endParaRPr sz="1000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Claim: rare variants can have ">
            <a:extLst xmlns:a="http://schemas.openxmlformats.org/drawingml/2006/main">
              <a:ext uri="{FF2B5EF4-FFF2-40B4-BE49-F238E27FC236}">
                <a16:creationId xmlns:a16="http://schemas.microsoft.com/office/drawing/2014/main" id="{22A62E4B-6B99-47C3-AC4C-35B0BC8B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50101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1DCE2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1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Claim: rare variants can have larger penetrance effects than common variants.</a:t>
            </a:r>
            <a:endParaRPr sz="12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C900F325-CB73-4F6B-9D92-BE4A58A2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81350"/>
            <a:ext cx="21717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1DCE2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7" name="Offline audit only">
            <a:extLst xmlns:a="http://schemas.openxmlformats.org/drawingml/2006/main">
              <a:ext uri="{FF2B5EF4-FFF2-40B4-BE49-F238E27FC236}">
                <a16:creationId xmlns:a16="http://schemas.microsoft.com/office/drawing/2014/main" id="{DD727971-808D-4793-A55D-C141F280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9565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84F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4F52"/>
                </a:solidFill>
                <a:latin typeface="Arial"/>
                <a:ea typeface="Arial"/>
                <a:cs typeface="Arial"/>
              </a:rPr>
              <a:t>Offline audit only</a:t>
            </a:r>
            <a:endParaRPr sz="1200" b="1">
              <a:solidFill>
                <a:srgbClr val="D84F5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Gold evidence: S3 + S6&#10;BGE top">
            <a:extLst xmlns:a="http://schemas.openxmlformats.org/drawingml/2006/main">
              <a:ext uri="{FF2B5EF4-FFF2-40B4-BE49-F238E27FC236}">
                <a16:creationId xmlns:a16="http://schemas.microsoft.com/office/drawing/2014/main" id="{2CE205A8-1A37-4E5E-A32D-E32DDA96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71875"/>
            <a:ext cx="1885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Gold evidence: S3 + S6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97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BGE top-4: S8, S3, S1, S7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97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S3 is visible; S6 is absent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Residual omission arrow">
            <a:extLst xmlns:a="http://schemas.openxmlformats.org/drawingml/2006/main">
              <a:ext uri="{FF2B5EF4-FFF2-40B4-BE49-F238E27FC236}">
                <a16:creationId xmlns:a16="http://schemas.microsoft.com/office/drawing/2014/main" id="{B8C66A29-C225-480C-890D-57716E24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524250"/>
            <a:ext cx="4953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4F52"/>
          </a:solidFill>
          <a:ln xmlns:a="http://schemas.openxmlformats.org/drawingml/2006/main" w="0">
            <a:solidFill>
              <a:srgbClr val="D84F52"/>
            </a:solidFill>
          </a:ln>
        </p:spPr>
      </p:sp>
      <p:sp>
        <p:nvSpPr>
          <p:cNvPr id="30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693C8F88-A183-455C-8B7A-0EE2BC21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181350"/>
            <a:ext cx="208597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11906">
            <a:solidFill>
              <a:srgbClr val="D84F52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1" name="Residual omission">
            <a:extLst xmlns:a="http://schemas.openxmlformats.org/drawingml/2006/main">
              <a:ext uri="{FF2B5EF4-FFF2-40B4-BE49-F238E27FC236}">
                <a16:creationId xmlns:a16="http://schemas.microsoft.com/office/drawing/2014/main" id="{12730FB5-9731-40DA-8FC9-F116AF01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2956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84F5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4F52"/>
                </a:solidFill>
                <a:latin typeface="Arial"/>
                <a:ea typeface="Arial"/>
                <a:cs typeface="Arial"/>
              </a:rPr>
              <a:t>Residual omission</a:t>
            </a:r>
            <a:endParaRPr sz="1200" b="1">
              <a:solidFill>
                <a:srgbClr val="D84F5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Evidence recall: 1/2&#10;Complete ">
            <a:extLst xmlns:a="http://schemas.openxmlformats.org/drawingml/2006/main">
              <a:ext uri="{FF2B5EF4-FFF2-40B4-BE49-F238E27FC236}">
                <a16:creationId xmlns:a16="http://schemas.microsoft.com/office/drawing/2014/main" id="{0A11AA99-57A8-4A3A-B1FF-7F1C4897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571875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Evidence recall: 1/2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97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Complete coverage: no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97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Gold labels never enter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buNone/>
              <a:defRPr sz="975" b="0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B2733"/>
                </a:solidFill>
                <a:latin typeface="Arial"/>
                <a:ea typeface="Arial"/>
                <a:cs typeface="Arial"/>
              </a:rPr>
              <a:t>the online interface</a:t>
            </a:r>
            <a:endParaRPr sz="1000" b="0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Aggregate result: 77 / 338 Sci">
            <a:extLst xmlns:a="http://schemas.openxmlformats.org/drawingml/2006/main">
              <a:ext uri="{FF2B5EF4-FFF2-40B4-BE49-F238E27FC236}">
                <a16:creationId xmlns:a16="http://schemas.microsoft.com/office/drawing/2014/main" id="{BDFC4F66-9871-44E6-8688-2CD33A56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29150"/>
            <a:ext cx="50101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1DCE2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B2733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1B2733"/>
                </a:solidFill>
                <a:latin typeface="Arial"/>
                <a:ea typeface="Arial"/>
                <a:cs typeface="Arial"/>
              </a:rPr>
              <a:t>Aggregate result: 77 / 338 SciFact evidence sets are incomplete at BGE top-4.</a:t>
            </a:r>
            <a:endParaRPr sz="1000" b="1">
              <a:solidFill>
                <a:srgbClr val="1B27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Potential-incompleteness cue: ">
            <a:extLst xmlns:a="http://schemas.openxmlformats.org/drawingml/2006/main">
              <a:ext uri="{FF2B5EF4-FFF2-40B4-BE49-F238E27FC236}">
                <a16:creationId xmlns:a16="http://schemas.microsoft.com/office/drawing/2014/main" id="{949FB1AB-403F-4452-8F98-7856660C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38750"/>
            <a:ext cx="5010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11906">
            <a:solidFill>
              <a:srgbClr val="E97824"/>
            </a:solidFill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A84D1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84D10"/>
                </a:solidFill>
                <a:latin typeface="Arial"/>
                <a:ea typeface="Arial"/>
                <a:cs typeface="Arial"/>
              </a:rPr>
              <a:t>Source-context descriptor: open the source before relying on this fixed short view.</a:t>
            </a:r>
            <a:endParaRPr sz="1200" b="1">
              <a:solidFill>
                <a:srgbClr val="A84D1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AC2A574A-ED59-4099-AD59-5A7F98EE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4415"/>
            <a:ext cx="11315700" cy="9525"/>
          </a:xfrm>
          <a:custGeom xmlns:a="http://schemas.openxmlformats.org/drawingml/2006/main">
            <a:pathLst>
              <a:path w="11315700" h="9525">
                <a:moveTo>
                  <a:pt x="0" y="0"/>
                </a:moveTo>
                <a:lnTo>
                  <a:pt x="1131570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36" name="Gold annotations support offli">
            <a:extLst xmlns:a="http://schemas.openxmlformats.org/drawingml/2006/main">
              <a:ext uri="{FF2B5EF4-FFF2-40B4-BE49-F238E27FC236}">
                <a16:creationId xmlns:a16="http://schemas.microsoft.com/office/drawing/2014/main" id="{864779C2-C8EB-4947-8F44-D62115FF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" y="6219825"/>
            <a:ext cx="1131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872"/>
                </a:solidFill>
                <a:latin typeface="Arial"/>
                <a:ea typeface="Arial"/>
                <a:cs typeface="Arial"/>
              </a:rPr>
              <a:t>Gold annotations support offline measurement only. Source-context descriptors do not assess truth, quality, or clinical validity.</a:t>
            </a:r>
            <a:endParaRPr sz="1275" b="0">
              <a:solidFill>
                <a:srgbClr val="5B6872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6392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2026-09-15T06:26:59.0540000Z</dcterms:created>
  <dcterms:modified xsi:type="dcterms:W3CDTF">2026-09-15T06:26:59.0540000Z</dcterms:modified>
</coreProperties>
</file>